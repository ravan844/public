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66" r:id="rId35"/>
  </p:sldIdLst>
  <p:sldSz cx="14630400" cy="8229600"/>
  <p:notesSz cx="8229600" cy="14630400"/>
  <p:embeddedFontLst>
    <p:embeddedFont>
      <p:font typeface="Calibri" panose="020F0502020204030204" pitchFamily="34" charset="0"/>
      <p:regular r:id="rId37"/>
      <p:bold r:id="rId38"/>
      <p:italic r:id="rId39"/>
      <p:boldItalic r:id="rId40"/>
    </p:embeddedFont>
    <p:embeddedFont>
      <p:font typeface="Gelasio" panose="020B0604020202020204" charset="0"/>
      <p:regular r:id="rId41"/>
    </p:embeddedFont>
    <p:embeddedFont>
      <p:font typeface="Lato" panose="020F0502020204030203" pitchFamily="34" charset="0"/>
      <p:regular r:id="rId42"/>
      <p:bold r:id="rId43"/>
    </p:embeddedFont>
  </p:embeddedFontLst>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DF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6" d="100"/>
          <a:sy n="76" d="100"/>
        </p:scale>
        <p:origin x="331"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6.fntdata"/><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7.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2.fntdata"/><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353515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21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lide 22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lide 23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lide 24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lide 25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Slide 26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Slide 27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Slide 28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Slide 29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Slide 30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Slide 31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Slide 32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Slide 33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Slide 34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20.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21.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2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23.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25.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26.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27.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28.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7.xml"/><Relationship Id="rId1" Type="http://schemas.openxmlformats.org/officeDocument/2006/relationships/slideLayout" Target="../slideLayouts/slideLayout29.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8.xml"/><Relationship Id="rId1" Type="http://schemas.openxmlformats.org/officeDocument/2006/relationships/slideLayout" Target="../slideLayouts/slideLayout30.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9.xml"/><Relationship Id="rId1" Type="http://schemas.openxmlformats.org/officeDocument/2006/relationships/slideLayout" Target="../slideLayouts/slideLayout31.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0.xml"/><Relationship Id="rId1" Type="http://schemas.openxmlformats.org/officeDocument/2006/relationships/slideLayout" Target="../slideLayouts/slideLayout32.xml"/></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1.xml"/><Relationship Id="rId1" Type="http://schemas.openxmlformats.org/officeDocument/2006/relationships/slideLayout" Target="../slideLayouts/slideLayout33.xml"/></Relationships>
</file>

<file path=ppt/slides/_rels/slide3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2.xml"/><Relationship Id="rId1" Type="http://schemas.openxmlformats.org/officeDocument/2006/relationships/slideLayout" Target="../slideLayouts/slideLayout34.xml"/></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3.xml"/><Relationship Id="rId1" Type="http://schemas.openxmlformats.org/officeDocument/2006/relationships/slideLayout" Target="../slideLayouts/slideLayout35.xml"/></Relationships>
</file>

<file path=ppt/slides/_rels/slide3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1001792"/>
            <a:ext cx="13042821" cy="310277"/>
          </a:xfrm>
          <a:prstGeom prst="rect">
            <a:avLst/>
          </a:prstGeom>
          <a:noFill/>
          <a:ln/>
        </p:spPr>
        <p:txBody>
          <a:bodyPr wrap="none" lIns="0" tIns="0" rIns="0" bIns="0" rtlCol="0" anchor="t"/>
          <a:lstStyle/>
          <a:p>
            <a:pPr marL="0" indent="0" algn="l">
              <a:lnSpc>
                <a:spcPts val="2400"/>
              </a:lnSpc>
              <a:buNone/>
            </a:pPr>
            <a:r>
              <a:rPr lang="en-US" sz="1600" dirty="0">
                <a:solidFill>
                  <a:srgbClr val="272525"/>
                </a:solidFill>
                <a:latin typeface="Lato" pitchFamily="34" charset="0"/>
                <a:ea typeface="Lato" pitchFamily="34" charset="-122"/>
                <a:cs typeface="Lato" pitchFamily="34" charset="-120"/>
              </a:rPr>
              <a:t>IRONHACK — DEVOPS &amp; CLOUD</a:t>
            </a:r>
            <a:endParaRPr lang="en-US" sz="1600" dirty="0"/>
          </a:p>
        </p:txBody>
      </p:sp>
      <p:sp>
        <p:nvSpPr>
          <p:cNvPr id="3" name="Text 1"/>
          <p:cNvSpPr/>
          <p:nvPr/>
        </p:nvSpPr>
        <p:spPr>
          <a:xfrm>
            <a:off x="793790" y="1518761"/>
            <a:ext cx="13042821" cy="310277"/>
          </a:xfrm>
          <a:prstGeom prst="rect">
            <a:avLst/>
          </a:prstGeom>
          <a:noFill/>
          <a:ln/>
        </p:spPr>
        <p:txBody>
          <a:bodyPr wrap="none" lIns="0" tIns="0" rIns="0" bIns="0" rtlCol="0" anchor="t"/>
          <a:lstStyle/>
          <a:p>
            <a:pPr marL="0" indent="0" algn="l">
              <a:lnSpc>
                <a:spcPts val="2400"/>
              </a:lnSpc>
              <a:buNone/>
            </a:pPr>
            <a:r>
              <a:rPr lang="en-US" sz="1600" dirty="0">
                <a:solidFill>
                  <a:srgbClr val="272525"/>
                </a:solidFill>
                <a:latin typeface="Lato" pitchFamily="34" charset="0"/>
                <a:ea typeface="Lato" pitchFamily="34" charset="-122"/>
                <a:cs typeface="Lato" pitchFamily="34" charset="-120"/>
              </a:rPr>
              <a:t>PROJECT 1</a:t>
            </a:r>
            <a:endParaRPr lang="en-US" sz="1600" dirty="0"/>
          </a:p>
        </p:txBody>
      </p:sp>
      <p:sp>
        <p:nvSpPr>
          <p:cNvPr id="4" name="Text 2"/>
          <p:cNvSpPr/>
          <p:nvPr/>
        </p:nvSpPr>
        <p:spPr>
          <a:xfrm>
            <a:off x="793790" y="2104549"/>
            <a:ext cx="8337352" cy="637937"/>
          </a:xfrm>
          <a:prstGeom prst="rect">
            <a:avLst/>
          </a:prstGeom>
          <a:noFill/>
          <a:ln/>
        </p:spPr>
        <p:txBody>
          <a:bodyPr wrap="none" lIns="0" tIns="0" rIns="0" bIns="0" rtlCol="0" anchor="t"/>
          <a:lstStyle/>
          <a:p>
            <a:pPr marL="0" indent="0" algn="l">
              <a:lnSpc>
                <a:spcPts val="5000"/>
              </a:lnSpc>
              <a:buNone/>
            </a:pPr>
            <a:r>
              <a:rPr lang="en-US" sz="4000" dirty="0">
                <a:solidFill>
                  <a:srgbClr val="312F2B"/>
                </a:solidFill>
                <a:latin typeface="Gelasio" pitchFamily="34" charset="0"/>
                <a:ea typeface="Gelasio" pitchFamily="34" charset="-122"/>
                <a:cs typeface="Gelasio" pitchFamily="34" charset="-120"/>
              </a:rPr>
              <a:t>Secure, Scalable 3-Tier App on Azure</a:t>
            </a:r>
            <a:endParaRPr lang="en-US" sz="4000" dirty="0"/>
          </a:p>
        </p:txBody>
      </p:sp>
      <p:sp>
        <p:nvSpPr>
          <p:cNvPr id="5" name="Text 3"/>
          <p:cNvSpPr/>
          <p:nvPr/>
        </p:nvSpPr>
        <p:spPr>
          <a:xfrm>
            <a:off x="793790" y="2815947"/>
            <a:ext cx="13042821" cy="765572"/>
          </a:xfrm>
          <a:prstGeom prst="rect">
            <a:avLst/>
          </a:prstGeom>
          <a:noFill/>
          <a:ln/>
        </p:spPr>
        <p:txBody>
          <a:bodyPr wrap="square" lIns="0" tIns="0" rIns="0" bIns="0" rtlCol="0" anchor="t"/>
          <a:lstStyle/>
          <a:p>
            <a:pPr marL="0" indent="0" algn="l">
              <a:lnSpc>
                <a:spcPts val="3000"/>
              </a:lnSpc>
              <a:buNone/>
            </a:pPr>
            <a:r>
              <a:rPr lang="en-US" sz="2400" dirty="0">
                <a:solidFill>
                  <a:srgbClr val="312F2B"/>
                </a:solidFill>
                <a:latin typeface="Gelasio" pitchFamily="34" charset="0"/>
                <a:ea typeface="Gelasio" pitchFamily="34" charset="-122"/>
                <a:cs typeface="Gelasio" pitchFamily="34" charset="-120"/>
              </a:rPr>
              <a:t>Migrating a legacy monolith to a production-grade Azure architecture with WAF, private networking, and monitoring.</a:t>
            </a:r>
            <a:endParaRPr lang="en-US" sz="2400" dirty="0"/>
          </a:p>
        </p:txBody>
      </p:sp>
      <p:sp>
        <p:nvSpPr>
          <p:cNvPr id="6" name="Text 4"/>
          <p:cNvSpPr/>
          <p:nvPr/>
        </p:nvSpPr>
        <p:spPr>
          <a:xfrm>
            <a:off x="793790" y="3857030"/>
            <a:ext cx="13042821" cy="310277"/>
          </a:xfrm>
          <a:prstGeom prst="rect">
            <a:avLst/>
          </a:prstGeom>
          <a:noFill/>
          <a:ln/>
        </p:spPr>
        <p:txBody>
          <a:bodyPr wrap="none" lIns="0" tIns="0" rIns="0" bIns="0" rtlCol="0" anchor="t"/>
          <a:lstStyle/>
          <a:p>
            <a:pPr marL="0" indent="0" algn="l">
              <a:lnSpc>
                <a:spcPts val="2400"/>
              </a:lnSpc>
              <a:buNone/>
            </a:pPr>
            <a:r>
              <a:rPr lang="en-US" sz="1600" dirty="0">
                <a:solidFill>
                  <a:srgbClr val="272525"/>
                </a:solidFill>
                <a:latin typeface="Lato" pitchFamily="34" charset="0"/>
                <a:ea typeface="Lato" pitchFamily="34" charset="-122"/>
                <a:cs typeface="Lato" pitchFamily="34" charset="-120"/>
              </a:rPr>
              <a:t>GROUP 2 • WEEK 6 • 2026</a:t>
            </a:r>
            <a:endParaRPr lang="en-US" sz="1600" dirty="0"/>
          </a:p>
        </p:txBody>
      </p:sp>
      <p:sp>
        <p:nvSpPr>
          <p:cNvPr id="7" name="Text 5"/>
          <p:cNvSpPr/>
          <p:nvPr/>
        </p:nvSpPr>
        <p:spPr>
          <a:xfrm>
            <a:off x="1114068" y="4476036"/>
            <a:ext cx="5765959" cy="673656"/>
          </a:xfrm>
          <a:prstGeom prst="rect">
            <a:avLst/>
          </a:prstGeom>
          <a:noFill/>
          <a:ln/>
        </p:spPr>
        <p:txBody>
          <a:bodyPr wrap="none" lIns="0" tIns="0" rIns="0" bIns="0" rtlCol="0" anchor="t"/>
          <a:lstStyle/>
          <a:p>
            <a:pPr marL="0" indent="0" algn="ctr">
              <a:lnSpc>
                <a:spcPts val="5300"/>
              </a:lnSpc>
              <a:buNone/>
            </a:pPr>
            <a:r>
              <a:rPr lang="en-US" sz="5300" dirty="0">
                <a:solidFill>
                  <a:srgbClr val="272525"/>
                </a:solidFill>
                <a:latin typeface="Gelasio" pitchFamily="34" charset="0"/>
                <a:ea typeface="Gelasio" pitchFamily="34" charset="-122"/>
                <a:cs typeface="Gelasio" pitchFamily="34" charset="-120"/>
              </a:rPr>
              <a:t>3</a:t>
            </a:r>
            <a:endParaRPr lang="en-US" sz="5300" dirty="0"/>
          </a:p>
        </p:txBody>
      </p:sp>
      <p:sp>
        <p:nvSpPr>
          <p:cNvPr id="8" name="Text 6"/>
          <p:cNvSpPr/>
          <p:nvPr/>
        </p:nvSpPr>
        <p:spPr>
          <a:xfrm>
            <a:off x="793790" y="5389483"/>
            <a:ext cx="6406634" cy="310277"/>
          </a:xfrm>
          <a:prstGeom prst="rect">
            <a:avLst/>
          </a:prstGeom>
          <a:noFill/>
          <a:ln/>
        </p:spPr>
        <p:txBody>
          <a:bodyPr wrap="none" lIns="0" tIns="0" rIns="0" bIns="0" rtlCol="0" anchor="t"/>
          <a:lstStyle/>
          <a:p>
            <a:pPr marL="0" indent="0" algn="ctr">
              <a:lnSpc>
                <a:spcPts val="2400"/>
              </a:lnSpc>
              <a:buNone/>
            </a:pPr>
            <a:r>
              <a:rPr lang="en-US" sz="1600" dirty="0">
                <a:solidFill>
                  <a:srgbClr val="272525"/>
                </a:solidFill>
                <a:latin typeface="Lato" pitchFamily="34" charset="0"/>
                <a:ea typeface="Lato" pitchFamily="34" charset="-122"/>
                <a:cs typeface="Lato" pitchFamily="34" charset="-120"/>
              </a:rPr>
              <a:t>TIERS</a:t>
            </a:r>
            <a:endParaRPr lang="en-US" sz="1600" dirty="0"/>
          </a:p>
        </p:txBody>
      </p:sp>
      <p:sp>
        <p:nvSpPr>
          <p:cNvPr id="9" name="Text 7"/>
          <p:cNvSpPr/>
          <p:nvPr/>
        </p:nvSpPr>
        <p:spPr>
          <a:xfrm>
            <a:off x="7750254" y="4476036"/>
            <a:ext cx="5765959" cy="673656"/>
          </a:xfrm>
          <a:prstGeom prst="rect">
            <a:avLst/>
          </a:prstGeom>
          <a:noFill/>
          <a:ln/>
        </p:spPr>
        <p:txBody>
          <a:bodyPr wrap="none" lIns="0" tIns="0" rIns="0" bIns="0" rtlCol="0" anchor="t"/>
          <a:lstStyle/>
          <a:p>
            <a:pPr marL="0" indent="0" algn="ctr">
              <a:lnSpc>
                <a:spcPts val="5300"/>
              </a:lnSpc>
              <a:buNone/>
            </a:pPr>
            <a:r>
              <a:rPr lang="en-US" sz="5300" dirty="0">
                <a:solidFill>
                  <a:srgbClr val="272525"/>
                </a:solidFill>
                <a:latin typeface="Gelasio" pitchFamily="34" charset="0"/>
                <a:ea typeface="Gelasio" pitchFamily="34" charset="-122"/>
                <a:cs typeface="Gelasio" pitchFamily="34" charset="-120"/>
              </a:rPr>
              <a:t>1</a:t>
            </a:r>
            <a:endParaRPr lang="en-US" sz="5300" dirty="0"/>
          </a:p>
        </p:txBody>
      </p:sp>
      <p:sp>
        <p:nvSpPr>
          <p:cNvPr id="10" name="Text 8"/>
          <p:cNvSpPr/>
          <p:nvPr/>
        </p:nvSpPr>
        <p:spPr>
          <a:xfrm>
            <a:off x="7429976" y="5389483"/>
            <a:ext cx="6406634" cy="310277"/>
          </a:xfrm>
          <a:prstGeom prst="rect">
            <a:avLst/>
          </a:prstGeom>
          <a:noFill/>
          <a:ln/>
        </p:spPr>
        <p:txBody>
          <a:bodyPr wrap="none" lIns="0" tIns="0" rIns="0" bIns="0" rtlCol="0" anchor="t"/>
          <a:lstStyle/>
          <a:p>
            <a:pPr marL="0" indent="0" algn="ctr">
              <a:lnSpc>
                <a:spcPts val="2400"/>
              </a:lnSpc>
              <a:buNone/>
            </a:pPr>
            <a:r>
              <a:rPr lang="en-US" sz="1600" dirty="0">
                <a:solidFill>
                  <a:srgbClr val="272525"/>
                </a:solidFill>
                <a:latin typeface="Lato" pitchFamily="34" charset="0"/>
                <a:ea typeface="Lato" pitchFamily="34" charset="-122"/>
                <a:cs typeface="Lato" pitchFamily="34" charset="-120"/>
              </a:rPr>
              <a:t>PUBLIC IP</a:t>
            </a:r>
            <a:endParaRPr lang="en-US" sz="1600" dirty="0"/>
          </a:p>
        </p:txBody>
      </p:sp>
      <p:sp>
        <p:nvSpPr>
          <p:cNvPr id="11" name="Text 9"/>
          <p:cNvSpPr/>
          <p:nvPr/>
        </p:nvSpPr>
        <p:spPr>
          <a:xfrm>
            <a:off x="1114068" y="6169223"/>
            <a:ext cx="5765959" cy="673656"/>
          </a:xfrm>
          <a:prstGeom prst="rect">
            <a:avLst/>
          </a:prstGeom>
          <a:noFill/>
          <a:ln/>
        </p:spPr>
        <p:txBody>
          <a:bodyPr wrap="none" lIns="0" tIns="0" rIns="0" bIns="0" rtlCol="0" anchor="t"/>
          <a:lstStyle/>
          <a:p>
            <a:pPr marL="0" indent="0" algn="ctr">
              <a:lnSpc>
                <a:spcPts val="5300"/>
              </a:lnSpc>
              <a:buNone/>
            </a:pPr>
            <a:r>
              <a:rPr lang="en-US" sz="5300" dirty="0">
                <a:solidFill>
                  <a:srgbClr val="272525"/>
                </a:solidFill>
                <a:latin typeface="Gelasio" pitchFamily="34" charset="0"/>
                <a:ea typeface="Gelasio" pitchFamily="34" charset="-122"/>
                <a:cs typeface="Gelasio" pitchFamily="34" charset="-120"/>
              </a:rPr>
              <a:t>0</a:t>
            </a:r>
            <a:endParaRPr lang="en-US" sz="5300" dirty="0"/>
          </a:p>
        </p:txBody>
      </p:sp>
      <p:sp>
        <p:nvSpPr>
          <p:cNvPr id="12" name="Text 10"/>
          <p:cNvSpPr/>
          <p:nvPr/>
        </p:nvSpPr>
        <p:spPr>
          <a:xfrm>
            <a:off x="793790" y="7082671"/>
            <a:ext cx="6406634" cy="310277"/>
          </a:xfrm>
          <a:prstGeom prst="rect">
            <a:avLst/>
          </a:prstGeom>
          <a:noFill/>
          <a:ln/>
        </p:spPr>
        <p:txBody>
          <a:bodyPr wrap="none" lIns="0" tIns="0" rIns="0" bIns="0" rtlCol="0" anchor="t"/>
          <a:lstStyle/>
          <a:p>
            <a:pPr marL="0" indent="0" algn="ctr">
              <a:lnSpc>
                <a:spcPts val="2400"/>
              </a:lnSpc>
              <a:buNone/>
            </a:pPr>
            <a:r>
              <a:rPr lang="en-US" sz="1600" dirty="0">
                <a:solidFill>
                  <a:srgbClr val="272525"/>
                </a:solidFill>
                <a:latin typeface="Lato" pitchFamily="34" charset="0"/>
                <a:ea typeface="Lato" pitchFamily="34" charset="-122"/>
                <a:cs typeface="Lato" pitchFamily="34" charset="-120"/>
              </a:rPr>
              <a:t>PUBLIC VMS</a:t>
            </a:r>
            <a:endParaRPr lang="en-US" sz="1600" dirty="0"/>
          </a:p>
        </p:txBody>
      </p:sp>
      <p:sp>
        <p:nvSpPr>
          <p:cNvPr id="13" name="Text 11"/>
          <p:cNvSpPr/>
          <p:nvPr/>
        </p:nvSpPr>
        <p:spPr>
          <a:xfrm>
            <a:off x="7750254" y="6169223"/>
            <a:ext cx="5765959" cy="673656"/>
          </a:xfrm>
          <a:prstGeom prst="rect">
            <a:avLst/>
          </a:prstGeom>
          <a:noFill/>
          <a:ln/>
        </p:spPr>
        <p:txBody>
          <a:bodyPr wrap="none" lIns="0" tIns="0" rIns="0" bIns="0" rtlCol="0" anchor="t"/>
          <a:lstStyle/>
          <a:p>
            <a:pPr marL="0" indent="0" algn="ctr">
              <a:lnSpc>
                <a:spcPts val="5300"/>
              </a:lnSpc>
              <a:buNone/>
            </a:pPr>
            <a:r>
              <a:rPr lang="en-US" sz="5300" dirty="0">
                <a:solidFill>
                  <a:srgbClr val="272525"/>
                </a:solidFill>
                <a:latin typeface="Gelasio" pitchFamily="34" charset="0"/>
                <a:ea typeface="Gelasio" pitchFamily="34" charset="-122"/>
                <a:cs typeface="Gelasio" pitchFamily="34" charset="-120"/>
              </a:rPr>
              <a:t>3</a:t>
            </a:r>
            <a:endParaRPr lang="en-US" sz="5300" dirty="0"/>
          </a:p>
        </p:txBody>
      </p:sp>
      <p:sp>
        <p:nvSpPr>
          <p:cNvPr id="14" name="Text 12"/>
          <p:cNvSpPr/>
          <p:nvPr/>
        </p:nvSpPr>
        <p:spPr>
          <a:xfrm>
            <a:off x="7429976" y="7082671"/>
            <a:ext cx="6406634" cy="310277"/>
          </a:xfrm>
          <a:prstGeom prst="rect">
            <a:avLst/>
          </a:prstGeom>
          <a:noFill/>
          <a:ln/>
        </p:spPr>
        <p:txBody>
          <a:bodyPr wrap="none" lIns="0" tIns="0" rIns="0" bIns="0" rtlCol="0" anchor="t"/>
          <a:lstStyle/>
          <a:p>
            <a:pPr marL="0" indent="0" algn="ctr">
              <a:lnSpc>
                <a:spcPts val="2400"/>
              </a:lnSpc>
              <a:buNone/>
            </a:pPr>
            <a:r>
              <a:rPr lang="en-US" sz="1600" dirty="0">
                <a:solidFill>
                  <a:srgbClr val="272525"/>
                </a:solidFill>
                <a:latin typeface="Lato" pitchFamily="34" charset="0"/>
                <a:ea typeface="Lato" pitchFamily="34" charset="-122"/>
                <a:cs typeface="Lato" pitchFamily="34" charset="-120"/>
              </a:rPr>
              <a:t>ALERTS</a:t>
            </a:r>
            <a:endParaRPr lang="en-US" sz="1600" dirty="0"/>
          </a:p>
        </p:txBody>
      </p:sp>
      <p:sp>
        <p:nvSpPr>
          <p:cNvPr id="15" name="Rectangle 14">
            <a:extLst>
              <a:ext uri="{FF2B5EF4-FFF2-40B4-BE49-F238E27FC236}">
                <a16:creationId xmlns:a16="http://schemas.microsoft.com/office/drawing/2014/main" id="{74E2D6AD-C184-43E0-82D4-836299BB5DCC}"/>
              </a:ext>
            </a:extLst>
          </p:cNvPr>
          <p:cNvSpPr/>
          <p:nvPr/>
        </p:nvSpPr>
        <p:spPr>
          <a:xfrm>
            <a:off x="12841793" y="7757327"/>
            <a:ext cx="1788607" cy="472273"/>
          </a:xfrm>
          <a:prstGeom prst="rect">
            <a:avLst/>
          </a:prstGeom>
          <a:solidFill>
            <a:srgbClr val="FDFD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2053709"/>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Lato" pitchFamily="34" charset="0"/>
                <a:ea typeface="Lato" pitchFamily="34" charset="-122"/>
                <a:cs typeface="Lato" pitchFamily="34" charset="-120"/>
              </a:rPr>
              <a:t>IRONHACK — DEVOPS &amp; CLOUD</a:t>
            </a:r>
            <a:endParaRPr lang="en-US" sz="1750" dirty="0"/>
          </a:p>
        </p:txBody>
      </p:sp>
      <p:sp>
        <p:nvSpPr>
          <p:cNvPr id="3" name="Text 1"/>
          <p:cNvSpPr/>
          <p:nvPr/>
        </p:nvSpPr>
        <p:spPr>
          <a:xfrm>
            <a:off x="793790" y="2671763"/>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Lato" pitchFamily="34" charset="0"/>
                <a:ea typeface="Lato" pitchFamily="34" charset="-122"/>
                <a:cs typeface="Lato" pitchFamily="34" charset="-120"/>
              </a:rPr>
              <a:t>IMPLEMENTATION</a:t>
            </a:r>
            <a:endParaRPr lang="en-US" sz="1750" dirty="0"/>
          </a:p>
        </p:txBody>
      </p:sp>
      <p:sp>
        <p:nvSpPr>
          <p:cNvPr id="4" name="Text 2"/>
          <p:cNvSpPr/>
          <p:nvPr/>
        </p:nvSpPr>
        <p:spPr>
          <a:xfrm>
            <a:off x="793790" y="3374827"/>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312F2B"/>
                </a:solidFill>
                <a:latin typeface="Gelasio" pitchFamily="34" charset="0"/>
                <a:ea typeface="Gelasio" pitchFamily="34" charset="-122"/>
                <a:cs typeface="Gelasio" pitchFamily="34" charset="-120"/>
              </a:rPr>
              <a:t>Team members</a:t>
            </a:r>
            <a:endParaRPr lang="en-US" sz="4450" dirty="0"/>
          </a:p>
        </p:txBody>
      </p:sp>
      <p:sp>
        <p:nvSpPr>
          <p:cNvPr id="5" name="Text 3"/>
          <p:cNvSpPr/>
          <p:nvPr/>
        </p:nvSpPr>
        <p:spPr>
          <a:xfrm>
            <a:off x="793790" y="4627840"/>
            <a:ext cx="6244709"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Lato" pitchFamily="34" charset="0"/>
                <a:ea typeface="Lato" pitchFamily="34" charset="-122"/>
                <a:cs typeface="Lato" pitchFamily="34" charset="-120"/>
              </a:rPr>
              <a:t>Yunis Q.</a:t>
            </a:r>
            <a:endParaRPr lang="en-US" sz="1750" dirty="0"/>
          </a:p>
        </p:txBody>
      </p:sp>
      <p:sp>
        <p:nvSpPr>
          <p:cNvPr id="6" name="Text 4"/>
          <p:cNvSpPr/>
          <p:nvPr/>
        </p:nvSpPr>
        <p:spPr>
          <a:xfrm>
            <a:off x="793790" y="5194816"/>
            <a:ext cx="6244709"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Lato" pitchFamily="34" charset="0"/>
                <a:ea typeface="Lato" pitchFamily="34" charset="-122"/>
                <a:cs typeface="Lato" pitchFamily="34" charset="-120"/>
              </a:rPr>
              <a:t>Miralakpar J.</a:t>
            </a:r>
            <a:endParaRPr lang="en-US" sz="1750" dirty="0"/>
          </a:p>
        </p:txBody>
      </p:sp>
      <p:sp>
        <p:nvSpPr>
          <p:cNvPr id="7" name="Text 5"/>
          <p:cNvSpPr/>
          <p:nvPr/>
        </p:nvSpPr>
        <p:spPr>
          <a:xfrm>
            <a:off x="7599521" y="4627840"/>
            <a:ext cx="6244709"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Lato" pitchFamily="34" charset="0"/>
                <a:ea typeface="Lato" pitchFamily="34" charset="-122"/>
                <a:cs typeface="Lato" pitchFamily="34" charset="-120"/>
              </a:rPr>
              <a:t>Mahammad S.</a:t>
            </a:r>
            <a:endParaRPr lang="en-US" sz="1750" dirty="0"/>
          </a:p>
        </p:txBody>
      </p:sp>
      <p:sp>
        <p:nvSpPr>
          <p:cNvPr id="8" name="Text 6"/>
          <p:cNvSpPr/>
          <p:nvPr/>
        </p:nvSpPr>
        <p:spPr>
          <a:xfrm>
            <a:off x="7599521" y="5194816"/>
            <a:ext cx="6244709" cy="362903"/>
          </a:xfrm>
          <a:prstGeom prst="rect">
            <a:avLst/>
          </a:prstGeom>
          <a:noFill/>
          <a:ln/>
        </p:spPr>
        <p:txBody>
          <a:bodyPr wrap="none" lIns="0" tIns="0" rIns="0" bIns="0" rtlCol="0" anchor="t"/>
          <a:lstStyle/>
          <a:p>
            <a:pPr marL="0" indent="0" algn="l">
              <a:lnSpc>
                <a:spcPts val="2850"/>
              </a:lnSpc>
              <a:buNone/>
            </a:pPr>
            <a:r>
              <a:rPr lang="en-US" sz="1750" dirty="0" err="1">
                <a:solidFill>
                  <a:srgbClr val="272525"/>
                </a:solidFill>
                <a:latin typeface="Lato" pitchFamily="34" charset="0"/>
                <a:ea typeface="Lato" pitchFamily="34" charset="-122"/>
                <a:cs typeface="Lato" pitchFamily="34" charset="-120"/>
              </a:rPr>
              <a:t>Ravan</a:t>
            </a:r>
            <a:r>
              <a:rPr lang="en-US" sz="1750" dirty="0">
                <a:solidFill>
                  <a:srgbClr val="272525"/>
                </a:solidFill>
                <a:latin typeface="Lato" pitchFamily="34" charset="0"/>
                <a:ea typeface="Lato" pitchFamily="34" charset="-122"/>
                <a:cs typeface="Lato" pitchFamily="34" charset="-120"/>
              </a:rPr>
              <a:t> G.</a:t>
            </a:r>
            <a:endParaRPr lang="en-US" sz="1750" dirty="0"/>
          </a:p>
        </p:txBody>
      </p:sp>
      <p:sp>
        <p:nvSpPr>
          <p:cNvPr id="9" name="Text 7"/>
          <p:cNvSpPr/>
          <p:nvPr/>
        </p:nvSpPr>
        <p:spPr>
          <a:xfrm>
            <a:off x="793790" y="6016943"/>
            <a:ext cx="13042821" cy="362903"/>
          </a:xfrm>
          <a:prstGeom prst="rect">
            <a:avLst/>
          </a:prstGeom>
          <a:noFill/>
          <a:ln/>
        </p:spPr>
        <p:txBody>
          <a:bodyPr wrap="none" lIns="0" tIns="0" rIns="0" bIns="0" rtlCol="0" anchor="t"/>
          <a:lstStyle/>
          <a:p>
            <a:pPr marL="0" indent="0" algn="l">
              <a:lnSpc>
                <a:spcPts val="2850"/>
              </a:lnSpc>
              <a:buNone/>
            </a:pPr>
            <a:endParaRPr lang="en-US" sz="1750" dirty="0"/>
          </a:p>
        </p:txBody>
      </p:sp>
      <p:sp>
        <p:nvSpPr>
          <p:cNvPr id="10" name="Rectangle 9">
            <a:extLst>
              <a:ext uri="{FF2B5EF4-FFF2-40B4-BE49-F238E27FC236}">
                <a16:creationId xmlns:a16="http://schemas.microsoft.com/office/drawing/2014/main" id="{FB8C5210-D02E-45CA-A8E0-F6B237142324}"/>
              </a:ext>
            </a:extLst>
          </p:cNvPr>
          <p:cNvSpPr/>
          <p:nvPr/>
        </p:nvSpPr>
        <p:spPr>
          <a:xfrm>
            <a:off x="12841793" y="7757327"/>
            <a:ext cx="1788607" cy="472273"/>
          </a:xfrm>
          <a:prstGeom prst="rect">
            <a:avLst/>
          </a:prstGeom>
          <a:solidFill>
            <a:srgbClr val="FDFD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793790" y="639127"/>
            <a:ext cx="1842373" cy="370642"/>
          </a:xfrm>
          <a:prstGeom prst="roundRect">
            <a:avLst>
              <a:gd name="adj" fmla="val 18506"/>
            </a:avLst>
          </a:prstGeom>
          <a:solidFill>
            <a:srgbClr val="E8E8E3"/>
          </a:solidFill>
          <a:ln/>
        </p:spPr>
      </p:sp>
      <p:sp>
        <p:nvSpPr>
          <p:cNvPr id="3" name="Text 1"/>
          <p:cNvSpPr/>
          <p:nvPr/>
        </p:nvSpPr>
        <p:spPr>
          <a:xfrm>
            <a:off x="916186" y="700326"/>
            <a:ext cx="1597581" cy="248245"/>
          </a:xfrm>
          <a:prstGeom prst="rect">
            <a:avLst/>
          </a:prstGeom>
          <a:noFill/>
          <a:ln/>
        </p:spPr>
        <p:txBody>
          <a:bodyPr wrap="none" lIns="0" tIns="0" rIns="0" bIns="0" rtlCol="0" anchor="t"/>
          <a:lstStyle/>
          <a:p>
            <a:pPr marL="0" indent="0" algn="l">
              <a:lnSpc>
                <a:spcPts val="1950"/>
              </a:lnSpc>
              <a:buNone/>
            </a:pPr>
            <a:r>
              <a:rPr lang="en-US" sz="1250" dirty="0">
                <a:solidFill>
                  <a:srgbClr val="272525"/>
                </a:solidFill>
                <a:latin typeface="Lato" pitchFamily="34" charset="0"/>
                <a:ea typeface="Lato" pitchFamily="34" charset="-122"/>
                <a:cs typeface="Lato" pitchFamily="34" charset="-120"/>
              </a:rPr>
              <a:t>PROJECT OVERVIEW</a:t>
            </a:r>
            <a:endParaRPr lang="en-US" sz="1250" dirty="0"/>
          </a:p>
        </p:txBody>
      </p:sp>
      <p:sp>
        <p:nvSpPr>
          <p:cNvPr id="4" name="Text 2"/>
          <p:cNvSpPr/>
          <p:nvPr/>
        </p:nvSpPr>
        <p:spPr>
          <a:xfrm>
            <a:off x="793790" y="1083231"/>
            <a:ext cx="5103614" cy="637937"/>
          </a:xfrm>
          <a:prstGeom prst="rect">
            <a:avLst/>
          </a:prstGeom>
          <a:noFill/>
          <a:ln/>
        </p:spPr>
        <p:txBody>
          <a:bodyPr wrap="none" lIns="0" tIns="0" rIns="0" bIns="0" rtlCol="0" anchor="t"/>
          <a:lstStyle/>
          <a:p>
            <a:pPr marL="0" indent="0" algn="l">
              <a:lnSpc>
                <a:spcPts val="5000"/>
              </a:lnSpc>
              <a:buNone/>
            </a:pPr>
            <a:r>
              <a:rPr lang="en-US" sz="4000" dirty="0">
                <a:solidFill>
                  <a:srgbClr val="312F2B"/>
                </a:solidFill>
                <a:latin typeface="Gelasio" pitchFamily="34" charset="0"/>
                <a:ea typeface="Gelasio" pitchFamily="34" charset="-122"/>
                <a:cs typeface="Gelasio" pitchFamily="34" charset="-120"/>
              </a:rPr>
              <a:t>What we built</a:t>
            </a:r>
            <a:endParaRPr lang="en-US" sz="4000" dirty="0"/>
          </a:p>
        </p:txBody>
      </p:sp>
      <p:sp>
        <p:nvSpPr>
          <p:cNvPr id="5" name="Text 3"/>
          <p:cNvSpPr/>
          <p:nvPr/>
        </p:nvSpPr>
        <p:spPr>
          <a:xfrm>
            <a:off x="793790" y="1996678"/>
            <a:ext cx="13042821" cy="620554"/>
          </a:xfrm>
          <a:prstGeom prst="rect">
            <a:avLst/>
          </a:prstGeom>
          <a:noFill/>
          <a:ln/>
        </p:spPr>
        <p:txBody>
          <a:bodyPr wrap="square" lIns="0" tIns="0" rIns="0" bIns="0" rtlCol="0" anchor="t"/>
          <a:lstStyle/>
          <a:p>
            <a:pPr marL="0" indent="0" algn="l">
              <a:lnSpc>
                <a:spcPts val="2400"/>
              </a:lnSpc>
              <a:buNone/>
            </a:pPr>
            <a:r>
              <a:rPr lang="en-US" sz="1600" dirty="0">
                <a:solidFill>
                  <a:srgbClr val="272525"/>
                </a:solidFill>
                <a:latin typeface="Lato" pitchFamily="34" charset="0"/>
                <a:ea typeface="Lato" pitchFamily="34" charset="-122"/>
                <a:cs typeface="Lato" pitchFamily="34" charset="-120"/>
              </a:rPr>
              <a:t>A fully private, scalable 3-tier ecommerce application on Microsoft Azure — migrated from a single on-prem VM to a cloud-native architecture with zero direct public exposure of application or database services.</a:t>
            </a:r>
            <a:endParaRPr lang="en-US" sz="1600" dirty="0"/>
          </a:p>
        </p:txBody>
      </p:sp>
      <p:sp>
        <p:nvSpPr>
          <p:cNvPr id="6" name="Text 4"/>
          <p:cNvSpPr/>
          <p:nvPr/>
        </p:nvSpPr>
        <p:spPr>
          <a:xfrm>
            <a:off x="793790" y="2892743"/>
            <a:ext cx="3525560" cy="318849"/>
          </a:xfrm>
          <a:prstGeom prst="rect">
            <a:avLst/>
          </a:prstGeom>
          <a:noFill/>
          <a:ln/>
        </p:spPr>
        <p:txBody>
          <a:bodyPr wrap="none" lIns="0" tIns="0" rIns="0" bIns="0" rtlCol="0" anchor="t"/>
          <a:lstStyle/>
          <a:p>
            <a:pPr marL="0" indent="0" algn="l">
              <a:lnSpc>
                <a:spcPts val="2500"/>
              </a:lnSpc>
              <a:buNone/>
            </a:pPr>
            <a:r>
              <a:rPr lang="en-US" sz="2000" dirty="0">
                <a:solidFill>
                  <a:srgbClr val="312F2B"/>
                </a:solidFill>
                <a:latin typeface="Gelasio" pitchFamily="34" charset="0"/>
                <a:ea typeface="Gelasio" pitchFamily="34" charset="-122"/>
                <a:cs typeface="Gelasio" pitchFamily="34" charset="-120"/>
              </a:rPr>
              <a:t>KEY LEARNING OBJECTIVES</a:t>
            </a:r>
            <a:endParaRPr lang="en-US" sz="2000" dirty="0"/>
          </a:p>
        </p:txBody>
      </p:sp>
      <p:sp>
        <p:nvSpPr>
          <p:cNvPr id="7" name="Text 5"/>
          <p:cNvSpPr/>
          <p:nvPr/>
        </p:nvSpPr>
        <p:spPr>
          <a:xfrm>
            <a:off x="793790" y="3487103"/>
            <a:ext cx="204073" cy="255151"/>
          </a:xfrm>
          <a:prstGeom prst="rect">
            <a:avLst/>
          </a:prstGeom>
          <a:noFill/>
          <a:ln/>
        </p:spPr>
        <p:txBody>
          <a:bodyPr wrap="none" lIns="0" tIns="0" rIns="0" bIns="0" rtlCol="0" anchor="t"/>
          <a:lstStyle/>
          <a:p>
            <a:pPr marL="0" indent="0" algn="l">
              <a:lnSpc>
                <a:spcPts val="2400"/>
              </a:lnSpc>
              <a:buNone/>
            </a:pPr>
            <a:r>
              <a:rPr lang="en-US" sz="1600" dirty="0">
                <a:solidFill>
                  <a:srgbClr val="272525"/>
                </a:solidFill>
                <a:latin typeface="Gelasio Light" pitchFamily="34" charset="0"/>
                <a:ea typeface="Gelasio Light" pitchFamily="34" charset="-122"/>
                <a:cs typeface="Gelasio Light" pitchFamily="34" charset="-120"/>
              </a:rPr>
              <a:t>01</a:t>
            </a:r>
            <a:endParaRPr lang="en-US" sz="1600" dirty="0"/>
          </a:p>
        </p:txBody>
      </p:sp>
      <p:sp>
        <p:nvSpPr>
          <p:cNvPr id="8" name="Shape 6"/>
          <p:cNvSpPr/>
          <p:nvPr/>
        </p:nvSpPr>
        <p:spPr>
          <a:xfrm>
            <a:off x="793790" y="3811072"/>
            <a:ext cx="6429494" cy="22860"/>
          </a:xfrm>
          <a:prstGeom prst="rect">
            <a:avLst/>
          </a:prstGeom>
          <a:solidFill>
            <a:srgbClr val="E5E5E0"/>
          </a:solidFill>
          <a:ln/>
        </p:spPr>
      </p:sp>
      <p:sp>
        <p:nvSpPr>
          <p:cNvPr id="9" name="Text 7"/>
          <p:cNvSpPr/>
          <p:nvPr/>
        </p:nvSpPr>
        <p:spPr>
          <a:xfrm>
            <a:off x="793790" y="3958828"/>
            <a:ext cx="6429494" cy="620554"/>
          </a:xfrm>
          <a:prstGeom prst="rect">
            <a:avLst/>
          </a:prstGeom>
          <a:noFill/>
          <a:ln/>
        </p:spPr>
        <p:txBody>
          <a:bodyPr wrap="square" lIns="0" tIns="0" rIns="0" bIns="0" rtlCol="0" anchor="t"/>
          <a:lstStyle/>
          <a:p>
            <a:pPr marL="0" indent="0" algn="l">
              <a:lnSpc>
                <a:spcPts val="2400"/>
              </a:lnSpc>
              <a:buNone/>
            </a:pPr>
            <a:r>
              <a:rPr lang="en-US" sz="1600" dirty="0">
                <a:solidFill>
                  <a:srgbClr val="272525"/>
                </a:solidFill>
                <a:latin typeface="Lato" pitchFamily="34" charset="0"/>
                <a:ea typeface="Lato" pitchFamily="34" charset="-122"/>
                <a:cs typeface="Lato" pitchFamily="34" charset="-120"/>
              </a:rPr>
              <a:t>Design a production-like 3-tier Azure reference architecture with private networking</a:t>
            </a:r>
            <a:endParaRPr lang="en-US" sz="1600" dirty="0"/>
          </a:p>
        </p:txBody>
      </p:sp>
      <p:sp>
        <p:nvSpPr>
          <p:cNvPr id="10" name="Text 8"/>
          <p:cNvSpPr/>
          <p:nvPr/>
        </p:nvSpPr>
        <p:spPr>
          <a:xfrm>
            <a:off x="7406997" y="3487103"/>
            <a:ext cx="204073" cy="255151"/>
          </a:xfrm>
          <a:prstGeom prst="rect">
            <a:avLst/>
          </a:prstGeom>
          <a:noFill/>
          <a:ln/>
        </p:spPr>
        <p:txBody>
          <a:bodyPr wrap="none" lIns="0" tIns="0" rIns="0" bIns="0" rtlCol="0" anchor="t"/>
          <a:lstStyle/>
          <a:p>
            <a:pPr marL="0" indent="0" algn="l">
              <a:lnSpc>
                <a:spcPts val="2400"/>
              </a:lnSpc>
              <a:buNone/>
            </a:pPr>
            <a:r>
              <a:rPr lang="en-US" sz="1600" dirty="0">
                <a:solidFill>
                  <a:srgbClr val="272525"/>
                </a:solidFill>
                <a:latin typeface="Gelasio Light" pitchFamily="34" charset="0"/>
                <a:ea typeface="Gelasio Light" pitchFamily="34" charset="-122"/>
                <a:cs typeface="Gelasio Light" pitchFamily="34" charset="-120"/>
              </a:rPr>
              <a:t>02</a:t>
            </a:r>
            <a:endParaRPr lang="en-US" sz="1600" dirty="0"/>
          </a:p>
        </p:txBody>
      </p:sp>
      <p:sp>
        <p:nvSpPr>
          <p:cNvPr id="11" name="Shape 9"/>
          <p:cNvSpPr/>
          <p:nvPr/>
        </p:nvSpPr>
        <p:spPr>
          <a:xfrm>
            <a:off x="7406997" y="3811072"/>
            <a:ext cx="6429613" cy="22860"/>
          </a:xfrm>
          <a:prstGeom prst="rect">
            <a:avLst/>
          </a:prstGeom>
          <a:solidFill>
            <a:srgbClr val="E5E5E0"/>
          </a:solidFill>
          <a:ln/>
        </p:spPr>
      </p:sp>
      <p:sp>
        <p:nvSpPr>
          <p:cNvPr id="12" name="Text 10"/>
          <p:cNvSpPr/>
          <p:nvPr/>
        </p:nvSpPr>
        <p:spPr>
          <a:xfrm>
            <a:off x="7406997" y="3958828"/>
            <a:ext cx="6429613" cy="620554"/>
          </a:xfrm>
          <a:prstGeom prst="rect">
            <a:avLst/>
          </a:prstGeom>
          <a:noFill/>
          <a:ln/>
        </p:spPr>
        <p:txBody>
          <a:bodyPr wrap="square" lIns="0" tIns="0" rIns="0" bIns="0" rtlCol="0" anchor="t"/>
          <a:lstStyle/>
          <a:p>
            <a:pPr marL="0" indent="0" algn="l">
              <a:lnSpc>
                <a:spcPts val="2400"/>
              </a:lnSpc>
              <a:buNone/>
            </a:pPr>
            <a:r>
              <a:rPr lang="en-US" sz="1600" dirty="0">
                <a:solidFill>
                  <a:srgbClr val="272525"/>
                </a:solidFill>
                <a:latin typeface="Lato" pitchFamily="34" charset="0"/>
                <a:ea typeface="Lato" pitchFamily="34" charset="-122"/>
                <a:cs typeface="Lato" pitchFamily="34" charset="-120"/>
              </a:rPr>
              <a:t>Provision Azure SQL Database secured with Private Endpoint (public access disabled)</a:t>
            </a:r>
            <a:endParaRPr lang="en-US" sz="1600" dirty="0"/>
          </a:p>
        </p:txBody>
      </p:sp>
      <p:sp>
        <p:nvSpPr>
          <p:cNvPr id="13" name="Text 11"/>
          <p:cNvSpPr/>
          <p:nvPr/>
        </p:nvSpPr>
        <p:spPr>
          <a:xfrm>
            <a:off x="793790" y="4916091"/>
            <a:ext cx="204073" cy="255151"/>
          </a:xfrm>
          <a:prstGeom prst="rect">
            <a:avLst/>
          </a:prstGeom>
          <a:noFill/>
          <a:ln/>
        </p:spPr>
        <p:txBody>
          <a:bodyPr wrap="none" lIns="0" tIns="0" rIns="0" bIns="0" rtlCol="0" anchor="t"/>
          <a:lstStyle/>
          <a:p>
            <a:pPr marL="0" indent="0" algn="l">
              <a:lnSpc>
                <a:spcPts val="2400"/>
              </a:lnSpc>
              <a:buNone/>
            </a:pPr>
            <a:r>
              <a:rPr lang="en-US" sz="1600" dirty="0">
                <a:solidFill>
                  <a:srgbClr val="272525"/>
                </a:solidFill>
                <a:latin typeface="Gelasio Light" pitchFamily="34" charset="0"/>
                <a:ea typeface="Gelasio Light" pitchFamily="34" charset="-122"/>
                <a:cs typeface="Gelasio Light" pitchFamily="34" charset="-120"/>
              </a:rPr>
              <a:t>03</a:t>
            </a:r>
            <a:endParaRPr lang="en-US" sz="1600" dirty="0"/>
          </a:p>
        </p:txBody>
      </p:sp>
      <p:sp>
        <p:nvSpPr>
          <p:cNvPr id="14" name="Shape 12"/>
          <p:cNvSpPr/>
          <p:nvPr/>
        </p:nvSpPr>
        <p:spPr>
          <a:xfrm>
            <a:off x="793790" y="5240060"/>
            <a:ext cx="6429494" cy="22860"/>
          </a:xfrm>
          <a:prstGeom prst="rect">
            <a:avLst/>
          </a:prstGeom>
          <a:solidFill>
            <a:srgbClr val="E5E5E0"/>
          </a:solidFill>
          <a:ln/>
        </p:spPr>
      </p:sp>
      <p:sp>
        <p:nvSpPr>
          <p:cNvPr id="15" name="Text 13"/>
          <p:cNvSpPr/>
          <p:nvPr/>
        </p:nvSpPr>
        <p:spPr>
          <a:xfrm>
            <a:off x="793790" y="5387816"/>
            <a:ext cx="6429494" cy="620554"/>
          </a:xfrm>
          <a:prstGeom prst="rect">
            <a:avLst/>
          </a:prstGeom>
          <a:noFill/>
          <a:ln/>
        </p:spPr>
        <p:txBody>
          <a:bodyPr wrap="square" lIns="0" tIns="0" rIns="0" bIns="0" rtlCol="0" anchor="t"/>
          <a:lstStyle/>
          <a:p>
            <a:pPr marL="0" indent="0" algn="l">
              <a:lnSpc>
                <a:spcPts val="2400"/>
              </a:lnSpc>
              <a:buNone/>
            </a:pPr>
            <a:r>
              <a:rPr lang="en-US" sz="1600" dirty="0">
                <a:solidFill>
                  <a:srgbClr val="272525"/>
                </a:solidFill>
                <a:latin typeface="Lato" pitchFamily="34" charset="0"/>
                <a:ea typeface="Lato" pitchFamily="34" charset="-122"/>
                <a:cs typeface="Lato" pitchFamily="34" charset="-120"/>
              </a:rPr>
              <a:t>Deploy React frontend and Express/Node.js backend as separate App Services</a:t>
            </a:r>
            <a:endParaRPr lang="en-US" sz="1600" dirty="0"/>
          </a:p>
        </p:txBody>
      </p:sp>
      <p:sp>
        <p:nvSpPr>
          <p:cNvPr id="16" name="Text 14"/>
          <p:cNvSpPr/>
          <p:nvPr/>
        </p:nvSpPr>
        <p:spPr>
          <a:xfrm>
            <a:off x="7406997" y="4916091"/>
            <a:ext cx="204073" cy="255151"/>
          </a:xfrm>
          <a:prstGeom prst="rect">
            <a:avLst/>
          </a:prstGeom>
          <a:noFill/>
          <a:ln/>
        </p:spPr>
        <p:txBody>
          <a:bodyPr wrap="none" lIns="0" tIns="0" rIns="0" bIns="0" rtlCol="0" anchor="t"/>
          <a:lstStyle/>
          <a:p>
            <a:pPr marL="0" indent="0" algn="l">
              <a:lnSpc>
                <a:spcPts val="2400"/>
              </a:lnSpc>
              <a:buNone/>
            </a:pPr>
            <a:r>
              <a:rPr lang="en-US" sz="1600" dirty="0">
                <a:solidFill>
                  <a:srgbClr val="272525"/>
                </a:solidFill>
                <a:latin typeface="Gelasio Light" pitchFamily="34" charset="0"/>
                <a:ea typeface="Gelasio Light" pitchFamily="34" charset="-122"/>
                <a:cs typeface="Gelasio Light" pitchFamily="34" charset="-120"/>
              </a:rPr>
              <a:t>04</a:t>
            </a:r>
            <a:endParaRPr lang="en-US" sz="1600" dirty="0"/>
          </a:p>
        </p:txBody>
      </p:sp>
      <p:sp>
        <p:nvSpPr>
          <p:cNvPr id="17" name="Shape 15"/>
          <p:cNvSpPr/>
          <p:nvPr/>
        </p:nvSpPr>
        <p:spPr>
          <a:xfrm>
            <a:off x="7406997" y="5240060"/>
            <a:ext cx="6429613" cy="22860"/>
          </a:xfrm>
          <a:prstGeom prst="rect">
            <a:avLst/>
          </a:prstGeom>
          <a:solidFill>
            <a:srgbClr val="E5E5E0"/>
          </a:solidFill>
          <a:ln/>
        </p:spPr>
      </p:sp>
      <p:sp>
        <p:nvSpPr>
          <p:cNvPr id="18" name="Text 16"/>
          <p:cNvSpPr/>
          <p:nvPr/>
        </p:nvSpPr>
        <p:spPr>
          <a:xfrm>
            <a:off x="7406997" y="5387816"/>
            <a:ext cx="6429613" cy="310277"/>
          </a:xfrm>
          <a:prstGeom prst="rect">
            <a:avLst/>
          </a:prstGeom>
          <a:noFill/>
          <a:ln/>
        </p:spPr>
        <p:txBody>
          <a:bodyPr wrap="none" lIns="0" tIns="0" rIns="0" bIns="0" rtlCol="0" anchor="t"/>
          <a:lstStyle/>
          <a:p>
            <a:pPr marL="0" indent="0" algn="l">
              <a:lnSpc>
                <a:spcPts val="2400"/>
              </a:lnSpc>
              <a:buNone/>
            </a:pPr>
            <a:r>
              <a:rPr lang="en-US" sz="1600" dirty="0">
                <a:solidFill>
                  <a:srgbClr val="272525"/>
                </a:solidFill>
                <a:latin typeface="Lato" pitchFamily="34" charset="0"/>
                <a:ea typeface="Lato" pitchFamily="34" charset="-122"/>
                <a:cs typeface="Lato" pitchFamily="34" charset="-120"/>
              </a:rPr>
              <a:t>Secure all tiers using VNet, subnets, NSGs, and Private DNS Zones</a:t>
            </a:r>
            <a:endParaRPr lang="en-US" sz="1600" dirty="0"/>
          </a:p>
        </p:txBody>
      </p:sp>
      <p:sp>
        <p:nvSpPr>
          <p:cNvPr id="19" name="Text 17"/>
          <p:cNvSpPr/>
          <p:nvPr/>
        </p:nvSpPr>
        <p:spPr>
          <a:xfrm>
            <a:off x="793790" y="6345079"/>
            <a:ext cx="204073" cy="255151"/>
          </a:xfrm>
          <a:prstGeom prst="rect">
            <a:avLst/>
          </a:prstGeom>
          <a:noFill/>
          <a:ln/>
        </p:spPr>
        <p:txBody>
          <a:bodyPr wrap="none" lIns="0" tIns="0" rIns="0" bIns="0" rtlCol="0" anchor="t"/>
          <a:lstStyle/>
          <a:p>
            <a:pPr marL="0" indent="0" algn="l">
              <a:lnSpc>
                <a:spcPts val="2400"/>
              </a:lnSpc>
              <a:buNone/>
            </a:pPr>
            <a:r>
              <a:rPr lang="en-US" sz="1600" dirty="0">
                <a:solidFill>
                  <a:srgbClr val="272525"/>
                </a:solidFill>
                <a:latin typeface="Gelasio Light" pitchFamily="34" charset="0"/>
                <a:ea typeface="Gelasio Light" pitchFamily="34" charset="-122"/>
                <a:cs typeface="Gelasio Light" pitchFamily="34" charset="-120"/>
              </a:rPr>
              <a:t>05</a:t>
            </a:r>
            <a:endParaRPr lang="en-US" sz="1600" dirty="0"/>
          </a:p>
        </p:txBody>
      </p:sp>
      <p:sp>
        <p:nvSpPr>
          <p:cNvPr id="20" name="Shape 18"/>
          <p:cNvSpPr/>
          <p:nvPr/>
        </p:nvSpPr>
        <p:spPr>
          <a:xfrm>
            <a:off x="793790" y="6669048"/>
            <a:ext cx="6429494" cy="22860"/>
          </a:xfrm>
          <a:prstGeom prst="rect">
            <a:avLst/>
          </a:prstGeom>
          <a:solidFill>
            <a:srgbClr val="E5E5E0"/>
          </a:solidFill>
          <a:ln/>
        </p:spPr>
      </p:sp>
      <p:sp>
        <p:nvSpPr>
          <p:cNvPr id="21" name="Text 19"/>
          <p:cNvSpPr/>
          <p:nvPr/>
        </p:nvSpPr>
        <p:spPr>
          <a:xfrm>
            <a:off x="793790" y="6816804"/>
            <a:ext cx="6429494" cy="620554"/>
          </a:xfrm>
          <a:prstGeom prst="rect">
            <a:avLst/>
          </a:prstGeom>
          <a:noFill/>
          <a:ln/>
        </p:spPr>
        <p:txBody>
          <a:bodyPr wrap="square" lIns="0" tIns="0" rIns="0" bIns="0" rtlCol="0" anchor="t"/>
          <a:lstStyle/>
          <a:p>
            <a:pPr marL="0" indent="0" algn="l">
              <a:lnSpc>
                <a:spcPts val="2400"/>
              </a:lnSpc>
              <a:buNone/>
            </a:pPr>
            <a:r>
              <a:rPr lang="en-US" sz="1600" dirty="0">
                <a:solidFill>
                  <a:srgbClr val="272525"/>
                </a:solidFill>
                <a:latin typeface="Lato" pitchFamily="34" charset="0"/>
                <a:ea typeface="Lato" pitchFamily="34" charset="-122"/>
                <a:cs typeface="Lato" pitchFamily="34" charset="-120"/>
              </a:rPr>
              <a:t>Expose only the gateway via Application Gateway WAF v2 with path-based routing</a:t>
            </a:r>
            <a:endParaRPr lang="en-US" sz="1600" dirty="0"/>
          </a:p>
        </p:txBody>
      </p:sp>
      <p:sp>
        <p:nvSpPr>
          <p:cNvPr id="22" name="Text 20"/>
          <p:cNvSpPr/>
          <p:nvPr/>
        </p:nvSpPr>
        <p:spPr>
          <a:xfrm>
            <a:off x="7406997" y="6345079"/>
            <a:ext cx="204073" cy="255151"/>
          </a:xfrm>
          <a:prstGeom prst="rect">
            <a:avLst/>
          </a:prstGeom>
          <a:noFill/>
          <a:ln/>
        </p:spPr>
        <p:txBody>
          <a:bodyPr wrap="none" lIns="0" tIns="0" rIns="0" bIns="0" rtlCol="0" anchor="t"/>
          <a:lstStyle/>
          <a:p>
            <a:pPr marL="0" indent="0" algn="l">
              <a:lnSpc>
                <a:spcPts val="2400"/>
              </a:lnSpc>
              <a:buNone/>
            </a:pPr>
            <a:r>
              <a:rPr lang="en-US" sz="1600" dirty="0">
                <a:solidFill>
                  <a:srgbClr val="272525"/>
                </a:solidFill>
                <a:latin typeface="Gelasio Light" pitchFamily="34" charset="0"/>
                <a:ea typeface="Gelasio Light" pitchFamily="34" charset="-122"/>
                <a:cs typeface="Gelasio Light" pitchFamily="34" charset="-120"/>
              </a:rPr>
              <a:t>06</a:t>
            </a:r>
            <a:endParaRPr lang="en-US" sz="1600" dirty="0"/>
          </a:p>
        </p:txBody>
      </p:sp>
      <p:sp>
        <p:nvSpPr>
          <p:cNvPr id="23" name="Shape 21"/>
          <p:cNvSpPr/>
          <p:nvPr/>
        </p:nvSpPr>
        <p:spPr>
          <a:xfrm>
            <a:off x="7406997" y="6669048"/>
            <a:ext cx="6429613" cy="22860"/>
          </a:xfrm>
          <a:prstGeom prst="rect">
            <a:avLst/>
          </a:prstGeom>
          <a:solidFill>
            <a:srgbClr val="E5E5E0"/>
          </a:solidFill>
          <a:ln/>
        </p:spPr>
      </p:sp>
      <p:sp>
        <p:nvSpPr>
          <p:cNvPr id="24" name="Text 22"/>
          <p:cNvSpPr/>
          <p:nvPr/>
        </p:nvSpPr>
        <p:spPr>
          <a:xfrm>
            <a:off x="7406997" y="6816804"/>
            <a:ext cx="6429613" cy="310277"/>
          </a:xfrm>
          <a:prstGeom prst="rect">
            <a:avLst/>
          </a:prstGeom>
          <a:noFill/>
          <a:ln/>
        </p:spPr>
        <p:txBody>
          <a:bodyPr wrap="none" lIns="0" tIns="0" rIns="0" bIns="0" rtlCol="0" anchor="t"/>
          <a:lstStyle/>
          <a:p>
            <a:pPr marL="0" indent="0" algn="l">
              <a:lnSpc>
                <a:spcPts val="2400"/>
              </a:lnSpc>
              <a:buNone/>
            </a:pPr>
            <a:r>
              <a:rPr lang="en-US" sz="1600" dirty="0">
                <a:solidFill>
                  <a:srgbClr val="272525"/>
                </a:solidFill>
                <a:latin typeface="Lato" pitchFamily="34" charset="0"/>
                <a:ea typeface="Lato" pitchFamily="34" charset="-122"/>
                <a:cs typeface="Lato" pitchFamily="34" charset="-120"/>
              </a:rPr>
              <a:t>Validate &amp; monitor health, logs, metrics and alerts across the full stack</a:t>
            </a:r>
            <a:endParaRPr lang="en-US" sz="1600" dirty="0"/>
          </a:p>
        </p:txBody>
      </p:sp>
      <p:sp>
        <p:nvSpPr>
          <p:cNvPr id="25" name="Rectangle 24">
            <a:extLst>
              <a:ext uri="{FF2B5EF4-FFF2-40B4-BE49-F238E27FC236}">
                <a16:creationId xmlns:a16="http://schemas.microsoft.com/office/drawing/2014/main" id="{C14EEC4C-B1D8-441A-A42F-C320A63CF234}"/>
              </a:ext>
            </a:extLst>
          </p:cNvPr>
          <p:cNvSpPr/>
          <p:nvPr/>
        </p:nvSpPr>
        <p:spPr>
          <a:xfrm>
            <a:off x="12841793" y="7757327"/>
            <a:ext cx="1788607" cy="472273"/>
          </a:xfrm>
          <a:prstGeom prst="rect">
            <a:avLst/>
          </a:prstGeom>
          <a:solidFill>
            <a:srgbClr val="FDFD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922853"/>
            <a:ext cx="6563916" cy="637937"/>
          </a:xfrm>
          <a:prstGeom prst="rect">
            <a:avLst/>
          </a:prstGeom>
          <a:noFill/>
          <a:ln/>
        </p:spPr>
        <p:txBody>
          <a:bodyPr wrap="none" lIns="0" tIns="0" rIns="0" bIns="0" rtlCol="0" anchor="t"/>
          <a:lstStyle/>
          <a:p>
            <a:pPr marL="0" indent="0" algn="l">
              <a:lnSpc>
                <a:spcPts val="5000"/>
              </a:lnSpc>
              <a:buNone/>
            </a:pPr>
            <a:r>
              <a:rPr lang="en-US" sz="4000" dirty="0">
                <a:solidFill>
                  <a:srgbClr val="312F2B"/>
                </a:solidFill>
                <a:latin typeface="Gelasio" pitchFamily="34" charset="0"/>
                <a:ea typeface="Gelasio" pitchFamily="34" charset="-122"/>
                <a:cs typeface="Gelasio" pitchFamily="34" charset="-120"/>
              </a:rPr>
              <a:t>3-Tier Architecture Overview</a:t>
            </a:r>
            <a:endParaRPr lang="en-US" sz="4000" dirty="0"/>
          </a:p>
        </p:txBody>
      </p:sp>
      <p:sp>
        <p:nvSpPr>
          <p:cNvPr id="3" name="Shape 1"/>
          <p:cNvSpPr/>
          <p:nvPr/>
        </p:nvSpPr>
        <p:spPr>
          <a:xfrm>
            <a:off x="793790" y="2042993"/>
            <a:ext cx="4015145" cy="2646521"/>
          </a:xfrm>
          <a:prstGeom prst="roundRect">
            <a:avLst>
              <a:gd name="adj" fmla="val 3240"/>
            </a:avLst>
          </a:prstGeom>
          <a:solidFill>
            <a:srgbClr val="DCDCD5"/>
          </a:solidFill>
          <a:ln/>
        </p:spPr>
      </p:sp>
      <p:pic>
        <p:nvPicPr>
          <p:cNvPr id="4" name="Image 0" descr="preencoded.png"/>
          <p:cNvPicPr>
            <a:picLocks noChangeAspect="1"/>
          </p:cNvPicPr>
          <p:nvPr/>
        </p:nvPicPr>
        <p:blipFill>
          <a:blip r:embed="rId3"/>
          <a:stretch>
            <a:fillRect/>
          </a:stretch>
        </p:blipFill>
        <p:spPr>
          <a:xfrm>
            <a:off x="997863" y="2282904"/>
            <a:ext cx="318968" cy="255151"/>
          </a:xfrm>
          <a:prstGeom prst="rect">
            <a:avLst/>
          </a:prstGeom>
        </p:spPr>
      </p:pic>
      <p:sp>
        <p:nvSpPr>
          <p:cNvPr id="5" name="Text 2"/>
          <p:cNvSpPr/>
          <p:nvPr/>
        </p:nvSpPr>
        <p:spPr>
          <a:xfrm>
            <a:off x="1520904" y="2277666"/>
            <a:ext cx="2551748" cy="318849"/>
          </a:xfrm>
          <a:prstGeom prst="rect">
            <a:avLst/>
          </a:prstGeom>
          <a:noFill/>
          <a:ln/>
        </p:spPr>
        <p:txBody>
          <a:bodyPr wrap="none" lIns="0" tIns="0" rIns="0" bIns="0" rtlCol="0" anchor="t"/>
          <a:lstStyle/>
          <a:p>
            <a:pPr marL="0" indent="0" algn="l">
              <a:lnSpc>
                <a:spcPts val="2500"/>
              </a:lnSpc>
              <a:buNone/>
            </a:pPr>
            <a:r>
              <a:rPr lang="en-US" sz="2000" dirty="0">
                <a:solidFill>
                  <a:srgbClr val="000000"/>
                </a:solidFill>
                <a:latin typeface="Gelasio" pitchFamily="34" charset="0"/>
                <a:ea typeface="Gelasio" pitchFamily="34" charset="-122"/>
                <a:cs typeface="Gelasio" pitchFamily="34" charset="-120"/>
              </a:rPr>
              <a:t>TIER 1 — GATEWAY</a:t>
            </a:r>
            <a:endParaRPr lang="en-US" sz="2000" dirty="0"/>
          </a:p>
        </p:txBody>
      </p:sp>
      <p:sp>
        <p:nvSpPr>
          <p:cNvPr id="6" name="Text 3"/>
          <p:cNvSpPr/>
          <p:nvPr/>
        </p:nvSpPr>
        <p:spPr>
          <a:xfrm>
            <a:off x="1520904" y="2669977"/>
            <a:ext cx="3083957" cy="637699"/>
          </a:xfrm>
          <a:prstGeom prst="rect">
            <a:avLst/>
          </a:prstGeom>
          <a:noFill/>
          <a:ln/>
        </p:spPr>
        <p:txBody>
          <a:bodyPr wrap="square" lIns="0" tIns="0" rIns="0" bIns="0" rtlCol="0" anchor="t"/>
          <a:lstStyle/>
          <a:p>
            <a:pPr marL="0" indent="0" algn="l">
              <a:lnSpc>
                <a:spcPts val="2500"/>
              </a:lnSpc>
              <a:buNone/>
            </a:pPr>
            <a:r>
              <a:rPr lang="en-US" sz="2000" dirty="0">
                <a:solidFill>
                  <a:srgbClr val="000000"/>
                </a:solidFill>
                <a:latin typeface="Gelasio" pitchFamily="34" charset="0"/>
                <a:ea typeface="Gelasio" pitchFamily="34" charset="-122"/>
                <a:cs typeface="Gelasio" pitchFamily="34" charset="-120"/>
              </a:rPr>
              <a:t>Application Gateway WAF v2</a:t>
            </a:r>
            <a:endParaRPr lang="en-US" sz="2000" dirty="0"/>
          </a:p>
        </p:txBody>
      </p:sp>
      <p:sp>
        <p:nvSpPr>
          <p:cNvPr id="7" name="Text 4"/>
          <p:cNvSpPr/>
          <p:nvPr/>
        </p:nvSpPr>
        <p:spPr>
          <a:xfrm>
            <a:off x="1520904" y="3491389"/>
            <a:ext cx="3083957" cy="930831"/>
          </a:xfrm>
          <a:prstGeom prst="rect">
            <a:avLst/>
          </a:prstGeom>
          <a:noFill/>
          <a:ln/>
        </p:spPr>
        <p:txBody>
          <a:bodyPr wrap="square" lIns="0" tIns="0" rIns="0" bIns="0" rtlCol="0" anchor="t"/>
          <a:lstStyle/>
          <a:p>
            <a:pPr marL="0" indent="0" algn="l">
              <a:lnSpc>
                <a:spcPts val="2400"/>
              </a:lnSpc>
              <a:buNone/>
            </a:pPr>
            <a:r>
              <a:rPr lang="en-US" sz="1600" dirty="0">
                <a:solidFill>
                  <a:srgbClr val="000000"/>
                </a:solidFill>
                <a:latin typeface="Lato" pitchFamily="34" charset="0"/>
                <a:ea typeface="Lato" pitchFamily="34" charset="-122"/>
                <a:cs typeface="Lato" pitchFamily="34" charset="-120"/>
              </a:rPr>
              <a:t>Only public entry point. OWASP 3.2 Prevention mode. Routes / → Frontend, /api/* → Backend.</a:t>
            </a:r>
            <a:endParaRPr lang="en-US" sz="1600" dirty="0"/>
          </a:p>
        </p:txBody>
      </p:sp>
      <p:sp>
        <p:nvSpPr>
          <p:cNvPr id="8" name="Shape 5"/>
          <p:cNvSpPr/>
          <p:nvPr/>
        </p:nvSpPr>
        <p:spPr>
          <a:xfrm>
            <a:off x="5314474" y="2042993"/>
            <a:ext cx="4015145" cy="2646521"/>
          </a:xfrm>
          <a:prstGeom prst="roundRect">
            <a:avLst>
              <a:gd name="adj" fmla="val 3240"/>
            </a:avLst>
          </a:prstGeom>
          <a:solidFill>
            <a:srgbClr val="DCDCD5"/>
          </a:solidFill>
          <a:ln/>
        </p:spPr>
      </p:sp>
      <p:pic>
        <p:nvPicPr>
          <p:cNvPr id="9" name="Image 1" descr="preencoded.png"/>
          <p:cNvPicPr>
            <a:picLocks noChangeAspect="1"/>
          </p:cNvPicPr>
          <p:nvPr/>
        </p:nvPicPr>
        <p:blipFill>
          <a:blip r:embed="rId3"/>
          <a:stretch>
            <a:fillRect/>
          </a:stretch>
        </p:blipFill>
        <p:spPr>
          <a:xfrm>
            <a:off x="5518547" y="2282904"/>
            <a:ext cx="318968" cy="255151"/>
          </a:xfrm>
          <a:prstGeom prst="rect">
            <a:avLst/>
          </a:prstGeom>
        </p:spPr>
      </p:pic>
      <p:sp>
        <p:nvSpPr>
          <p:cNvPr id="10" name="Text 6"/>
          <p:cNvSpPr/>
          <p:nvPr/>
        </p:nvSpPr>
        <p:spPr>
          <a:xfrm>
            <a:off x="6041588" y="2277666"/>
            <a:ext cx="2861191" cy="318849"/>
          </a:xfrm>
          <a:prstGeom prst="rect">
            <a:avLst/>
          </a:prstGeom>
          <a:noFill/>
          <a:ln/>
        </p:spPr>
        <p:txBody>
          <a:bodyPr wrap="none" lIns="0" tIns="0" rIns="0" bIns="0" rtlCol="0" anchor="t"/>
          <a:lstStyle/>
          <a:p>
            <a:pPr marL="0" indent="0" algn="l">
              <a:lnSpc>
                <a:spcPts val="2500"/>
              </a:lnSpc>
              <a:buNone/>
            </a:pPr>
            <a:r>
              <a:rPr lang="en-US" sz="2000" dirty="0">
                <a:solidFill>
                  <a:srgbClr val="000000"/>
                </a:solidFill>
                <a:latin typeface="Gelasio" pitchFamily="34" charset="0"/>
                <a:ea typeface="Gelasio" pitchFamily="34" charset="-122"/>
                <a:cs typeface="Gelasio" pitchFamily="34" charset="-120"/>
              </a:rPr>
              <a:t>TIER 2 — APPLICATION</a:t>
            </a:r>
            <a:endParaRPr lang="en-US" sz="2000" dirty="0"/>
          </a:p>
        </p:txBody>
      </p:sp>
      <p:sp>
        <p:nvSpPr>
          <p:cNvPr id="11" name="Text 7"/>
          <p:cNvSpPr/>
          <p:nvPr/>
        </p:nvSpPr>
        <p:spPr>
          <a:xfrm>
            <a:off x="6041588" y="2669977"/>
            <a:ext cx="3083957" cy="637699"/>
          </a:xfrm>
          <a:prstGeom prst="rect">
            <a:avLst/>
          </a:prstGeom>
          <a:noFill/>
          <a:ln/>
        </p:spPr>
        <p:txBody>
          <a:bodyPr wrap="square" lIns="0" tIns="0" rIns="0" bIns="0" rtlCol="0" anchor="t"/>
          <a:lstStyle/>
          <a:p>
            <a:pPr marL="0" indent="0" algn="l">
              <a:lnSpc>
                <a:spcPts val="2500"/>
              </a:lnSpc>
              <a:buNone/>
            </a:pPr>
            <a:r>
              <a:rPr lang="en-US" sz="2000" dirty="0">
                <a:solidFill>
                  <a:srgbClr val="000000"/>
                </a:solidFill>
                <a:latin typeface="Gelasio" pitchFamily="34" charset="0"/>
                <a:ea typeface="Gelasio" pitchFamily="34" charset="-122"/>
                <a:cs typeface="Gelasio" pitchFamily="34" charset="-120"/>
              </a:rPr>
              <a:t>React + Express App Services</a:t>
            </a:r>
            <a:endParaRPr lang="en-US" sz="2000" dirty="0"/>
          </a:p>
        </p:txBody>
      </p:sp>
      <p:sp>
        <p:nvSpPr>
          <p:cNvPr id="12" name="Text 8"/>
          <p:cNvSpPr/>
          <p:nvPr/>
        </p:nvSpPr>
        <p:spPr>
          <a:xfrm>
            <a:off x="6041588" y="3491389"/>
            <a:ext cx="3083957" cy="930831"/>
          </a:xfrm>
          <a:prstGeom prst="rect">
            <a:avLst/>
          </a:prstGeom>
          <a:noFill/>
          <a:ln/>
        </p:spPr>
        <p:txBody>
          <a:bodyPr wrap="square" lIns="0" tIns="0" rIns="0" bIns="0" rtlCol="0" anchor="t"/>
          <a:lstStyle/>
          <a:p>
            <a:pPr marL="0" indent="0" algn="l">
              <a:lnSpc>
                <a:spcPts val="2400"/>
              </a:lnSpc>
              <a:buNone/>
            </a:pPr>
            <a:r>
              <a:rPr lang="en-US" sz="1600" dirty="0">
                <a:solidFill>
                  <a:srgbClr val="000000"/>
                </a:solidFill>
                <a:latin typeface="Lato" pitchFamily="34" charset="0"/>
                <a:ea typeface="Lato" pitchFamily="34" charset="-122"/>
                <a:cs typeface="Lato" pitchFamily="34" charset="-120"/>
              </a:rPr>
              <a:t>Two separate App Services. Public access disabled. VNet integrated. Autoscaling enabled.</a:t>
            </a:r>
            <a:endParaRPr lang="en-US" sz="1600" dirty="0"/>
          </a:p>
        </p:txBody>
      </p:sp>
      <p:sp>
        <p:nvSpPr>
          <p:cNvPr id="13" name="Shape 9"/>
          <p:cNvSpPr/>
          <p:nvPr/>
        </p:nvSpPr>
        <p:spPr>
          <a:xfrm>
            <a:off x="9835158" y="2042993"/>
            <a:ext cx="4015145" cy="2646521"/>
          </a:xfrm>
          <a:prstGeom prst="roundRect">
            <a:avLst>
              <a:gd name="adj" fmla="val 3240"/>
            </a:avLst>
          </a:prstGeom>
          <a:solidFill>
            <a:srgbClr val="DCDCD5"/>
          </a:solidFill>
          <a:ln/>
        </p:spPr>
      </p:sp>
      <p:pic>
        <p:nvPicPr>
          <p:cNvPr id="14" name="Image 2" descr="preencoded.png"/>
          <p:cNvPicPr>
            <a:picLocks noChangeAspect="1"/>
          </p:cNvPicPr>
          <p:nvPr/>
        </p:nvPicPr>
        <p:blipFill>
          <a:blip r:embed="rId3"/>
          <a:stretch>
            <a:fillRect/>
          </a:stretch>
        </p:blipFill>
        <p:spPr>
          <a:xfrm>
            <a:off x="10039231" y="2282904"/>
            <a:ext cx="318968" cy="255151"/>
          </a:xfrm>
          <a:prstGeom prst="rect">
            <a:avLst/>
          </a:prstGeom>
        </p:spPr>
      </p:pic>
      <p:sp>
        <p:nvSpPr>
          <p:cNvPr id="15" name="Text 10"/>
          <p:cNvSpPr/>
          <p:nvPr/>
        </p:nvSpPr>
        <p:spPr>
          <a:xfrm>
            <a:off x="10562273" y="2277666"/>
            <a:ext cx="2551748" cy="318849"/>
          </a:xfrm>
          <a:prstGeom prst="rect">
            <a:avLst/>
          </a:prstGeom>
          <a:noFill/>
          <a:ln/>
        </p:spPr>
        <p:txBody>
          <a:bodyPr wrap="none" lIns="0" tIns="0" rIns="0" bIns="0" rtlCol="0" anchor="t"/>
          <a:lstStyle/>
          <a:p>
            <a:pPr marL="0" indent="0" algn="l">
              <a:lnSpc>
                <a:spcPts val="2500"/>
              </a:lnSpc>
              <a:buNone/>
            </a:pPr>
            <a:r>
              <a:rPr lang="en-US" sz="2000" dirty="0">
                <a:solidFill>
                  <a:srgbClr val="000000"/>
                </a:solidFill>
                <a:latin typeface="Gelasio" pitchFamily="34" charset="0"/>
                <a:ea typeface="Gelasio" pitchFamily="34" charset="-122"/>
                <a:cs typeface="Gelasio" pitchFamily="34" charset="-120"/>
              </a:rPr>
              <a:t>TIER 3 — DATA</a:t>
            </a:r>
            <a:endParaRPr lang="en-US" sz="2000" dirty="0"/>
          </a:p>
        </p:txBody>
      </p:sp>
      <p:sp>
        <p:nvSpPr>
          <p:cNvPr id="16" name="Text 11"/>
          <p:cNvSpPr/>
          <p:nvPr/>
        </p:nvSpPr>
        <p:spPr>
          <a:xfrm>
            <a:off x="10562273" y="2669977"/>
            <a:ext cx="3083957" cy="637699"/>
          </a:xfrm>
          <a:prstGeom prst="rect">
            <a:avLst/>
          </a:prstGeom>
          <a:noFill/>
          <a:ln/>
        </p:spPr>
        <p:txBody>
          <a:bodyPr wrap="square" lIns="0" tIns="0" rIns="0" bIns="0" rtlCol="0" anchor="t"/>
          <a:lstStyle/>
          <a:p>
            <a:pPr marL="0" indent="0" algn="l">
              <a:lnSpc>
                <a:spcPts val="2500"/>
              </a:lnSpc>
              <a:buNone/>
            </a:pPr>
            <a:r>
              <a:rPr lang="en-US" sz="2000" dirty="0">
                <a:solidFill>
                  <a:srgbClr val="000000"/>
                </a:solidFill>
                <a:latin typeface="Gelasio" pitchFamily="34" charset="0"/>
                <a:ea typeface="Gelasio" pitchFamily="34" charset="-122"/>
                <a:cs typeface="Gelasio" pitchFamily="34" charset="-120"/>
              </a:rPr>
              <a:t>Azure SQL + Private Endpoint</a:t>
            </a:r>
            <a:endParaRPr lang="en-US" sz="2000" dirty="0"/>
          </a:p>
        </p:txBody>
      </p:sp>
      <p:sp>
        <p:nvSpPr>
          <p:cNvPr id="17" name="Text 12"/>
          <p:cNvSpPr/>
          <p:nvPr/>
        </p:nvSpPr>
        <p:spPr>
          <a:xfrm>
            <a:off x="10562273" y="3491389"/>
            <a:ext cx="3083957" cy="930831"/>
          </a:xfrm>
          <a:prstGeom prst="rect">
            <a:avLst/>
          </a:prstGeom>
          <a:noFill/>
          <a:ln/>
        </p:spPr>
        <p:txBody>
          <a:bodyPr wrap="square" lIns="0" tIns="0" rIns="0" bIns="0" rtlCol="0" anchor="t"/>
          <a:lstStyle/>
          <a:p>
            <a:pPr marL="0" indent="0" algn="l">
              <a:lnSpc>
                <a:spcPts val="2400"/>
              </a:lnSpc>
              <a:buNone/>
            </a:pPr>
            <a:r>
              <a:rPr lang="en-US" sz="1600" dirty="0">
                <a:solidFill>
                  <a:srgbClr val="000000"/>
                </a:solidFill>
                <a:latin typeface="Lato" pitchFamily="34" charset="0"/>
                <a:ea typeface="Lato" pitchFamily="34" charset="-122"/>
                <a:cs typeface="Lato" pitchFamily="34" charset="-120"/>
              </a:rPr>
              <a:t>Zero public access. Private IP only via Private Endpoint. Private DNS Zone resolves internally.</a:t>
            </a:r>
            <a:endParaRPr lang="en-US" sz="1600" dirty="0"/>
          </a:p>
        </p:txBody>
      </p:sp>
      <p:sp>
        <p:nvSpPr>
          <p:cNvPr id="18" name="Shape 13"/>
          <p:cNvSpPr/>
          <p:nvPr/>
        </p:nvSpPr>
        <p:spPr>
          <a:xfrm>
            <a:off x="793790" y="5309592"/>
            <a:ext cx="6272451" cy="1790343"/>
          </a:xfrm>
          <a:prstGeom prst="roundRect">
            <a:avLst>
              <a:gd name="adj" fmla="val 4789"/>
            </a:avLst>
          </a:prstGeom>
          <a:solidFill>
            <a:srgbClr val="DCDCD5"/>
          </a:solidFill>
          <a:ln/>
        </p:spPr>
      </p:sp>
      <p:pic>
        <p:nvPicPr>
          <p:cNvPr id="19" name="Image 3" descr="preencoded.png"/>
          <p:cNvPicPr>
            <a:picLocks noChangeAspect="1"/>
          </p:cNvPicPr>
          <p:nvPr/>
        </p:nvPicPr>
        <p:blipFill>
          <a:blip r:embed="rId3"/>
          <a:stretch>
            <a:fillRect/>
          </a:stretch>
        </p:blipFill>
        <p:spPr>
          <a:xfrm>
            <a:off x="997863" y="5549503"/>
            <a:ext cx="318968" cy="255151"/>
          </a:xfrm>
          <a:prstGeom prst="rect">
            <a:avLst/>
          </a:prstGeom>
        </p:spPr>
      </p:pic>
      <p:sp>
        <p:nvSpPr>
          <p:cNvPr id="20" name="Text 14"/>
          <p:cNvSpPr/>
          <p:nvPr/>
        </p:nvSpPr>
        <p:spPr>
          <a:xfrm>
            <a:off x="1520904" y="5544264"/>
            <a:ext cx="3358158" cy="318849"/>
          </a:xfrm>
          <a:prstGeom prst="rect">
            <a:avLst/>
          </a:prstGeom>
          <a:noFill/>
          <a:ln/>
        </p:spPr>
        <p:txBody>
          <a:bodyPr wrap="none" lIns="0" tIns="0" rIns="0" bIns="0" rtlCol="0" anchor="t"/>
          <a:lstStyle/>
          <a:p>
            <a:pPr marL="0" indent="0" algn="l">
              <a:lnSpc>
                <a:spcPts val="2500"/>
              </a:lnSpc>
              <a:buNone/>
            </a:pPr>
            <a:r>
              <a:rPr lang="en-US" sz="2000" dirty="0">
                <a:solidFill>
                  <a:srgbClr val="000000"/>
                </a:solidFill>
                <a:latin typeface="Gelasio" pitchFamily="34" charset="0"/>
                <a:ea typeface="Gelasio" pitchFamily="34" charset="-122"/>
                <a:cs typeface="Gelasio" pitchFamily="34" charset="-120"/>
              </a:rPr>
              <a:t>NETWORKING &amp; SECURITY</a:t>
            </a:r>
            <a:endParaRPr lang="en-US" sz="2000" dirty="0"/>
          </a:p>
        </p:txBody>
      </p:sp>
      <p:sp>
        <p:nvSpPr>
          <p:cNvPr id="21" name="Text 15"/>
          <p:cNvSpPr/>
          <p:nvPr/>
        </p:nvSpPr>
        <p:spPr>
          <a:xfrm>
            <a:off x="1520904" y="6046827"/>
            <a:ext cx="5341263" cy="310277"/>
          </a:xfrm>
          <a:prstGeom prst="rect">
            <a:avLst/>
          </a:prstGeom>
          <a:noFill/>
          <a:ln/>
        </p:spPr>
        <p:txBody>
          <a:bodyPr wrap="none" lIns="0" tIns="0" rIns="0" bIns="0" rtlCol="0" anchor="t"/>
          <a:lstStyle/>
          <a:p>
            <a:pPr marL="0" indent="0" algn="l">
              <a:lnSpc>
                <a:spcPts val="2400"/>
              </a:lnSpc>
              <a:buNone/>
            </a:pPr>
            <a:r>
              <a:rPr lang="en-US" sz="1600" dirty="0">
                <a:solidFill>
                  <a:srgbClr val="000000"/>
                </a:solidFill>
                <a:latin typeface="Lato" pitchFamily="34" charset="0"/>
                <a:ea typeface="Lato" pitchFamily="34" charset="-122"/>
                <a:cs typeface="Lato" pitchFamily="34" charset="-120"/>
              </a:rPr>
              <a:t>VNet 10.0.0.0/16 • 3 Subnets • 3 NSGs</a:t>
            </a:r>
            <a:endParaRPr lang="en-US" sz="1600" dirty="0"/>
          </a:p>
        </p:txBody>
      </p:sp>
      <p:sp>
        <p:nvSpPr>
          <p:cNvPr id="22" name="Text 16"/>
          <p:cNvSpPr/>
          <p:nvPr/>
        </p:nvSpPr>
        <p:spPr>
          <a:xfrm>
            <a:off x="1520904" y="6522363"/>
            <a:ext cx="5341263" cy="310277"/>
          </a:xfrm>
          <a:prstGeom prst="rect">
            <a:avLst/>
          </a:prstGeom>
          <a:noFill/>
          <a:ln/>
        </p:spPr>
        <p:txBody>
          <a:bodyPr wrap="none" lIns="0" tIns="0" rIns="0" bIns="0" rtlCol="0" anchor="t"/>
          <a:lstStyle/>
          <a:p>
            <a:pPr marL="0" indent="0" algn="l">
              <a:lnSpc>
                <a:spcPts val="2400"/>
              </a:lnSpc>
              <a:buNone/>
            </a:pPr>
            <a:r>
              <a:rPr lang="en-US" sz="1600" dirty="0">
                <a:solidFill>
                  <a:srgbClr val="000000"/>
                </a:solidFill>
                <a:latin typeface="Lato" pitchFamily="34" charset="0"/>
                <a:ea typeface="Lato" pitchFamily="34" charset="-122"/>
                <a:cs typeface="Lato" pitchFamily="34" charset="-120"/>
              </a:rPr>
              <a:t>Private DNS Zone • Defense in depth</a:t>
            </a:r>
            <a:endParaRPr lang="en-US" sz="1600" dirty="0"/>
          </a:p>
        </p:txBody>
      </p:sp>
      <p:sp>
        <p:nvSpPr>
          <p:cNvPr id="23" name="Shape 17"/>
          <p:cNvSpPr/>
          <p:nvPr/>
        </p:nvSpPr>
        <p:spPr>
          <a:xfrm>
            <a:off x="7571780" y="5309592"/>
            <a:ext cx="6272451" cy="1790343"/>
          </a:xfrm>
          <a:prstGeom prst="roundRect">
            <a:avLst>
              <a:gd name="adj" fmla="val 4789"/>
            </a:avLst>
          </a:prstGeom>
          <a:solidFill>
            <a:srgbClr val="DCDCD5"/>
          </a:solidFill>
          <a:ln/>
        </p:spPr>
      </p:sp>
      <p:pic>
        <p:nvPicPr>
          <p:cNvPr id="24" name="Image 4" descr="preencoded.png"/>
          <p:cNvPicPr>
            <a:picLocks noChangeAspect="1"/>
          </p:cNvPicPr>
          <p:nvPr/>
        </p:nvPicPr>
        <p:blipFill>
          <a:blip r:embed="rId3"/>
          <a:stretch>
            <a:fillRect/>
          </a:stretch>
        </p:blipFill>
        <p:spPr>
          <a:xfrm>
            <a:off x="7775853" y="5549503"/>
            <a:ext cx="318968" cy="255151"/>
          </a:xfrm>
          <a:prstGeom prst="rect">
            <a:avLst/>
          </a:prstGeom>
        </p:spPr>
      </p:pic>
      <p:sp>
        <p:nvSpPr>
          <p:cNvPr id="25" name="Text 18"/>
          <p:cNvSpPr/>
          <p:nvPr/>
        </p:nvSpPr>
        <p:spPr>
          <a:xfrm>
            <a:off x="8298894" y="5544264"/>
            <a:ext cx="2551748" cy="318849"/>
          </a:xfrm>
          <a:prstGeom prst="rect">
            <a:avLst/>
          </a:prstGeom>
          <a:noFill/>
          <a:ln/>
        </p:spPr>
        <p:txBody>
          <a:bodyPr wrap="none" lIns="0" tIns="0" rIns="0" bIns="0" rtlCol="0" anchor="t"/>
          <a:lstStyle/>
          <a:p>
            <a:pPr marL="0" indent="0" algn="l">
              <a:lnSpc>
                <a:spcPts val="2500"/>
              </a:lnSpc>
              <a:buNone/>
            </a:pPr>
            <a:r>
              <a:rPr lang="en-US" sz="2000" dirty="0">
                <a:solidFill>
                  <a:srgbClr val="000000"/>
                </a:solidFill>
                <a:latin typeface="Gelasio" pitchFamily="34" charset="0"/>
                <a:ea typeface="Gelasio" pitchFamily="34" charset="-122"/>
                <a:cs typeface="Gelasio" pitchFamily="34" charset="-120"/>
              </a:rPr>
              <a:t>OBSERVABILITY</a:t>
            </a:r>
            <a:endParaRPr lang="en-US" sz="2000" dirty="0"/>
          </a:p>
        </p:txBody>
      </p:sp>
      <p:sp>
        <p:nvSpPr>
          <p:cNvPr id="26" name="Text 19"/>
          <p:cNvSpPr/>
          <p:nvPr/>
        </p:nvSpPr>
        <p:spPr>
          <a:xfrm>
            <a:off x="8298894" y="6046827"/>
            <a:ext cx="5341263" cy="310277"/>
          </a:xfrm>
          <a:prstGeom prst="rect">
            <a:avLst/>
          </a:prstGeom>
          <a:noFill/>
          <a:ln/>
        </p:spPr>
        <p:txBody>
          <a:bodyPr wrap="none" lIns="0" tIns="0" rIns="0" bIns="0" rtlCol="0" anchor="t"/>
          <a:lstStyle/>
          <a:p>
            <a:pPr marL="0" indent="0" algn="l">
              <a:lnSpc>
                <a:spcPts val="2400"/>
              </a:lnSpc>
              <a:buNone/>
            </a:pPr>
            <a:r>
              <a:rPr lang="en-US" sz="1600" dirty="0">
                <a:solidFill>
                  <a:srgbClr val="000000"/>
                </a:solidFill>
                <a:latin typeface="Lato" pitchFamily="34" charset="0"/>
                <a:ea typeface="Lato" pitchFamily="34" charset="-122"/>
                <a:cs typeface="Lato" pitchFamily="34" charset="-120"/>
              </a:rPr>
              <a:t>Log Analytics Workspace • App Insights x2</a:t>
            </a:r>
            <a:endParaRPr lang="en-US" sz="1600" dirty="0"/>
          </a:p>
        </p:txBody>
      </p:sp>
      <p:sp>
        <p:nvSpPr>
          <p:cNvPr id="27" name="Text 20"/>
          <p:cNvSpPr/>
          <p:nvPr/>
        </p:nvSpPr>
        <p:spPr>
          <a:xfrm>
            <a:off x="8298894" y="6522363"/>
            <a:ext cx="5341263" cy="310277"/>
          </a:xfrm>
          <a:prstGeom prst="rect">
            <a:avLst/>
          </a:prstGeom>
          <a:noFill/>
          <a:ln/>
        </p:spPr>
        <p:txBody>
          <a:bodyPr wrap="none" lIns="0" tIns="0" rIns="0" bIns="0" rtlCol="0" anchor="t"/>
          <a:lstStyle/>
          <a:p>
            <a:pPr marL="0" indent="0" algn="l">
              <a:lnSpc>
                <a:spcPts val="2400"/>
              </a:lnSpc>
              <a:buNone/>
            </a:pPr>
            <a:r>
              <a:rPr lang="en-US" sz="1600" dirty="0">
                <a:solidFill>
                  <a:srgbClr val="000000"/>
                </a:solidFill>
                <a:latin typeface="Lato" pitchFamily="34" charset="0"/>
                <a:ea typeface="Lato" pitchFamily="34" charset="-122"/>
                <a:cs typeface="Lato" pitchFamily="34" charset="-120"/>
              </a:rPr>
              <a:t>3 Alert Rules • Email Action Group</a:t>
            </a:r>
            <a:endParaRPr lang="en-US" sz="1600" dirty="0"/>
          </a:p>
        </p:txBody>
      </p:sp>
      <p:sp>
        <p:nvSpPr>
          <p:cNvPr id="28" name="Rectangle 27">
            <a:extLst>
              <a:ext uri="{FF2B5EF4-FFF2-40B4-BE49-F238E27FC236}">
                <a16:creationId xmlns:a16="http://schemas.microsoft.com/office/drawing/2014/main" id="{588464C6-2876-4D83-9D13-EEB1CA019567}"/>
              </a:ext>
            </a:extLst>
          </p:cNvPr>
          <p:cNvSpPr/>
          <p:nvPr/>
        </p:nvSpPr>
        <p:spPr>
          <a:xfrm>
            <a:off x="12841793" y="7757327"/>
            <a:ext cx="1788607" cy="472273"/>
          </a:xfrm>
          <a:prstGeom prst="rect">
            <a:avLst/>
          </a:prstGeom>
          <a:solidFill>
            <a:srgbClr val="FDFD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710565"/>
            <a:ext cx="7734538" cy="708779"/>
          </a:xfrm>
          <a:prstGeom prst="rect">
            <a:avLst/>
          </a:prstGeom>
          <a:noFill/>
          <a:ln/>
        </p:spPr>
        <p:txBody>
          <a:bodyPr wrap="none" lIns="0" tIns="0" rIns="0" bIns="0" rtlCol="0" anchor="t"/>
          <a:lstStyle/>
          <a:p>
            <a:pPr marL="0" indent="0" algn="l">
              <a:lnSpc>
                <a:spcPts val="5550"/>
              </a:lnSpc>
              <a:buNone/>
            </a:pPr>
            <a:r>
              <a:rPr lang="en-US" sz="4450" dirty="0">
                <a:solidFill>
                  <a:srgbClr val="312F2B"/>
                </a:solidFill>
                <a:latin typeface="Gelasio" pitchFamily="34" charset="0"/>
                <a:ea typeface="Gelasio" pitchFamily="34" charset="-122"/>
                <a:cs typeface="Gelasio" pitchFamily="34" charset="-120"/>
              </a:rPr>
              <a:t>Traffic Flow &amp; Network Design</a:t>
            </a:r>
            <a:endParaRPr lang="en-US" sz="4450" dirty="0"/>
          </a:p>
        </p:txBody>
      </p:sp>
      <p:sp>
        <p:nvSpPr>
          <p:cNvPr id="3" name="Shape 1"/>
          <p:cNvSpPr/>
          <p:nvPr/>
        </p:nvSpPr>
        <p:spPr>
          <a:xfrm>
            <a:off x="793790" y="1872972"/>
            <a:ext cx="6407944" cy="1730812"/>
          </a:xfrm>
          <a:prstGeom prst="roundRect">
            <a:avLst>
              <a:gd name="adj" fmla="val 8453"/>
            </a:avLst>
          </a:prstGeom>
          <a:solidFill>
            <a:srgbClr val="FFFFFF">
              <a:alpha val="95000"/>
            </a:srgbClr>
          </a:solidFill>
          <a:ln w="30480">
            <a:solidFill>
              <a:srgbClr val="CECEC9"/>
            </a:solidFill>
            <a:prstDash val="solid"/>
          </a:ln>
        </p:spPr>
      </p:sp>
      <p:sp>
        <p:nvSpPr>
          <p:cNvPr id="4" name="Shape 2"/>
          <p:cNvSpPr/>
          <p:nvPr/>
        </p:nvSpPr>
        <p:spPr>
          <a:xfrm>
            <a:off x="763310" y="1872972"/>
            <a:ext cx="121920" cy="1730812"/>
          </a:xfrm>
          <a:prstGeom prst="roundRect">
            <a:avLst>
              <a:gd name="adj" fmla="val 78139"/>
            </a:avLst>
          </a:prstGeom>
          <a:solidFill>
            <a:srgbClr val="E5E5E0"/>
          </a:solidFill>
          <a:ln/>
        </p:spPr>
      </p:sp>
      <p:sp>
        <p:nvSpPr>
          <p:cNvPr id="5" name="Text 3"/>
          <p:cNvSpPr/>
          <p:nvPr/>
        </p:nvSpPr>
        <p:spPr>
          <a:xfrm>
            <a:off x="1142524" y="2130266"/>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Gelasio" pitchFamily="34" charset="0"/>
                <a:ea typeface="Gelasio" pitchFamily="34" charset="-122"/>
                <a:cs typeface="Gelasio" pitchFamily="34" charset="-120"/>
              </a:rPr>
              <a:t>INTERNET</a:t>
            </a:r>
            <a:endParaRPr lang="en-US" sz="2200" dirty="0"/>
          </a:p>
        </p:txBody>
      </p:sp>
      <p:sp>
        <p:nvSpPr>
          <p:cNvPr id="6" name="Text 4"/>
          <p:cNvSpPr/>
          <p:nvPr/>
        </p:nvSpPr>
        <p:spPr>
          <a:xfrm>
            <a:off x="1142524" y="2620685"/>
            <a:ext cx="5801916"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Lato" pitchFamily="34" charset="0"/>
                <a:ea typeface="Lato" pitchFamily="34" charset="-122"/>
                <a:cs typeface="Lato" pitchFamily="34" charset="-120"/>
              </a:rPr>
              <a:t>User hits http://20.42.155.71 — the only public IP in the entire infrastructure</a:t>
            </a:r>
            <a:endParaRPr lang="en-US" sz="1750" dirty="0"/>
          </a:p>
        </p:txBody>
      </p:sp>
      <p:sp>
        <p:nvSpPr>
          <p:cNvPr id="7" name="Shape 5"/>
          <p:cNvSpPr/>
          <p:nvPr/>
        </p:nvSpPr>
        <p:spPr>
          <a:xfrm>
            <a:off x="7428548" y="1872972"/>
            <a:ext cx="6408063" cy="1730812"/>
          </a:xfrm>
          <a:prstGeom prst="roundRect">
            <a:avLst>
              <a:gd name="adj" fmla="val 8453"/>
            </a:avLst>
          </a:prstGeom>
          <a:solidFill>
            <a:srgbClr val="FFFFFF">
              <a:alpha val="95000"/>
            </a:srgbClr>
          </a:solidFill>
          <a:ln w="30480">
            <a:solidFill>
              <a:srgbClr val="CECEC9"/>
            </a:solidFill>
            <a:prstDash val="solid"/>
          </a:ln>
        </p:spPr>
      </p:sp>
      <p:sp>
        <p:nvSpPr>
          <p:cNvPr id="8" name="Shape 6"/>
          <p:cNvSpPr/>
          <p:nvPr/>
        </p:nvSpPr>
        <p:spPr>
          <a:xfrm>
            <a:off x="7398067" y="1872972"/>
            <a:ext cx="121920" cy="1730812"/>
          </a:xfrm>
          <a:prstGeom prst="roundRect">
            <a:avLst>
              <a:gd name="adj" fmla="val 78139"/>
            </a:avLst>
          </a:prstGeom>
          <a:solidFill>
            <a:srgbClr val="E5E5E0"/>
          </a:solidFill>
          <a:ln/>
        </p:spPr>
      </p:sp>
      <p:sp>
        <p:nvSpPr>
          <p:cNvPr id="9" name="Text 7"/>
          <p:cNvSpPr/>
          <p:nvPr/>
        </p:nvSpPr>
        <p:spPr>
          <a:xfrm>
            <a:off x="7777282" y="2130266"/>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Gelasio" pitchFamily="34" charset="0"/>
                <a:ea typeface="Gelasio" pitchFamily="34" charset="-122"/>
                <a:cs typeface="Gelasio" pitchFamily="34" charset="-120"/>
              </a:rPr>
              <a:t>WAF</a:t>
            </a:r>
            <a:endParaRPr lang="en-US" sz="2200" dirty="0"/>
          </a:p>
        </p:txBody>
      </p:sp>
      <p:sp>
        <p:nvSpPr>
          <p:cNvPr id="10" name="Text 8"/>
          <p:cNvSpPr/>
          <p:nvPr/>
        </p:nvSpPr>
        <p:spPr>
          <a:xfrm>
            <a:off x="7777282" y="2620685"/>
            <a:ext cx="5802035"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Lato" pitchFamily="34" charset="0"/>
                <a:ea typeface="Lato" pitchFamily="34" charset="-122"/>
                <a:cs typeface="Lato" pitchFamily="34" charset="-120"/>
              </a:rPr>
              <a:t>App Gateway inspects every request — OWASP 3.2 Prevention blocks SQLi, XSS, path traversal</a:t>
            </a:r>
            <a:endParaRPr lang="en-US" sz="1750" dirty="0"/>
          </a:p>
        </p:txBody>
      </p:sp>
      <p:sp>
        <p:nvSpPr>
          <p:cNvPr id="11" name="Shape 9"/>
          <p:cNvSpPr/>
          <p:nvPr/>
        </p:nvSpPr>
        <p:spPr>
          <a:xfrm>
            <a:off x="793790" y="3830598"/>
            <a:ext cx="6407944" cy="1730812"/>
          </a:xfrm>
          <a:prstGeom prst="roundRect">
            <a:avLst>
              <a:gd name="adj" fmla="val 8453"/>
            </a:avLst>
          </a:prstGeom>
          <a:solidFill>
            <a:srgbClr val="FFFFFF">
              <a:alpha val="95000"/>
            </a:srgbClr>
          </a:solidFill>
          <a:ln w="30480">
            <a:solidFill>
              <a:srgbClr val="CECEC9"/>
            </a:solidFill>
            <a:prstDash val="solid"/>
          </a:ln>
        </p:spPr>
      </p:sp>
      <p:sp>
        <p:nvSpPr>
          <p:cNvPr id="12" name="Shape 10"/>
          <p:cNvSpPr/>
          <p:nvPr/>
        </p:nvSpPr>
        <p:spPr>
          <a:xfrm>
            <a:off x="763310" y="3830598"/>
            <a:ext cx="121920" cy="1730812"/>
          </a:xfrm>
          <a:prstGeom prst="roundRect">
            <a:avLst>
              <a:gd name="adj" fmla="val 78139"/>
            </a:avLst>
          </a:prstGeom>
          <a:solidFill>
            <a:srgbClr val="E5E5E0"/>
          </a:solidFill>
          <a:ln/>
        </p:spPr>
      </p:sp>
      <p:sp>
        <p:nvSpPr>
          <p:cNvPr id="13" name="Text 11"/>
          <p:cNvSpPr/>
          <p:nvPr/>
        </p:nvSpPr>
        <p:spPr>
          <a:xfrm>
            <a:off x="1142524" y="4087892"/>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Gelasio" pitchFamily="34" charset="0"/>
                <a:ea typeface="Gelasio" pitchFamily="34" charset="-122"/>
                <a:cs typeface="Gelasio" pitchFamily="34" charset="-120"/>
              </a:rPr>
              <a:t>ROUTING</a:t>
            </a:r>
            <a:endParaRPr lang="en-US" sz="2200" dirty="0"/>
          </a:p>
        </p:txBody>
      </p:sp>
      <p:sp>
        <p:nvSpPr>
          <p:cNvPr id="14" name="Text 12"/>
          <p:cNvSpPr/>
          <p:nvPr/>
        </p:nvSpPr>
        <p:spPr>
          <a:xfrm>
            <a:off x="1142524" y="4578310"/>
            <a:ext cx="5801916"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Lato" pitchFamily="34" charset="0"/>
                <a:ea typeface="Lato" pitchFamily="34" charset="-122"/>
                <a:cs typeface="Lato" pitchFamily="34" charset="-120"/>
              </a:rPr>
              <a:t>Path rule: / → pool-frontend (React) /api/* → pool-backend (Express)</a:t>
            </a:r>
            <a:endParaRPr lang="en-US" sz="1750" dirty="0"/>
          </a:p>
        </p:txBody>
      </p:sp>
      <p:sp>
        <p:nvSpPr>
          <p:cNvPr id="15" name="Shape 13"/>
          <p:cNvSpPr/>
          <p:nvPr/>
        </p:nvSpPr>
        <p:spPr>
          <a:xfrm>
            <a:off x="7428548" y="3830598"/>
            <a:ext cx="6408063" cy="1730812"/>
          </a:xfrm>
          <a:prstGeom prst="roundRect">
            <a:avLst>
              <a:gd name="adj" fmla="val 8453"/>
            </a:avLst>
          </a:prstGeom>
          <a:solidFill>
            <a:srgbClr val="FFFFFF">
              <a:alpha val="95000"/>
            </a:srgbClr>
          </a:solidFill>
          <a:ln w="30480">
            <a:solidFill>
              <a:srgbClr val="CECEC9"/>
            </a:solidFill>
            <a:prstDash val="solid"/>
          </a:ln>
        </p:spPr>
      </p:sp>
      <p:sp>
        <p:nvSpPr>
          <p:cNvPr id="16" name="Shape 14"/>
          <p:cNvSpPr/>
          <p:nvPr/>
        </p:nvSpPr>
        <p:spPr>
          <a:xfrm>
            <a:off x="7398067" y="3830598"/>
            <a:ext cx="121920" cy="1730812"/>
          </a:xfrm>
          <a:prstGeom prst="roundRect">
            <a:avLst>
              <a:gd name="adj" fmla="val 78139"/>
            </a:avLst>
          </a:prstGeom>
          <a:solidFill>
            <a:srgbClr val="E5E5E0"/>
          </a:solidFill>
          <a:ln/>
        </p:spPr>
      </p:sp>
      <p:sp>
        <p:nvSpPr>
          <p:cNvPr id="17" name="Text 15"/>
          <p:cNvSpPr/>
          <p:nvPr/>
        </p:nvSpPr>
        <p:spPr>
          <a:xfrm>
            <a:off x="7777282" y="4087892"/>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Gelasio" pitchFamily="34" charset="0"/>
                <a:ea typeface="Gelasio" pitchFamily="34" charset="-122"/>
                <a:cs typeface="Gelasio" pitchFamily="34" charset="-120"/>
              </a:rPr>
              <a:t>APP TIER</a:t>
            </a:r>
            <a:endParaRPr lang="en-US" sz="2200" dirty="0"/>
          </a:p>
        </p:txBody>
      </p:sp>
      <p:sp>
        <p:nvSpPr>
          <p:cNvPr id="18" name="Text 16"/>
          <p:cNvSpPr/>
          <p:nvPr/>
        </p:nvSpPr>
        <p:spPr>
          <a:xfrm>
            <a:off x="7777282" y="4578310"/>
            <a:ext cx="5802035"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Lato" pitchFamily="34" charset="0"/>
                <a:ea typeface="Lato" pitchFamily="34" charset="-122"/>
                <a:cs typeface="Lato" pitchFamily="34" charset="-120"/>
              </a:rPr>
              <a:t>App Services in snet-appservice — public access disabled, VNet integrated, autoscale on</a:t>
            </a:r>
            <a:endParaRPr lang="en-US" sz="1750" dirty="0"/>
          </a:p>
        </p:txBody>
      </p:sp>
      <p:sp>
        <p:nvSpPr>
          <p:cNvPr id="19" name="Shape 17"/>
          <p:cNvSpPr/>
          <p:nvPr/>
        </p:nvSpPr>
        <p:spPr>
          <a:xfrm>
            <a:off x="793790" y="5788223"/>
            <a:ext cx="6407944" cy="1730812"/>
          </a:xfrm>
          <a:prstGeom prst="roundRect">
            <a:avLst>
              <a:gd name="adj" fmla="val 8453"/>
            </a:avLst>
          </a:prstGeom>
          <a:solidFill>
            <a:srgbClr val="FFFFFF">
              <a:alpha val="95000"/>
            </a:srgbClr>
          </a:solidFill>
          <a:ln w="30480">
            <a:solidFill>
              <a:srgbClr val="CECEC9"/>
            </a:solidFill>
            <a:prstDash val="solid"/>
          </a:ln>
        </p:spPr>
      </p:sp>
      <p:sp>
        <p:nvSpPr>
          <p:cNvPr id="20" name="Shape 18"/>
          <p:cNvSpPr/>
          <p:nvPr/>
        </p:nvSpPr>
        <p:spPr>
          <a:xfrm>
            <a:off x="763310" y="5788223"/>
            <a:ext cx="121920" cy="1730812"/>
          </a:xfrm>
          <a:prstGeom prst="roundRect">
            <a:avLst>
              <a:gd name="adj" fmla="val 78139"/>
            </a:avLst>
          </a:prstGeom>
          <a:solidFill>
            <a:srgbClr val="E5E5E0"/>
          </a:solidFill>
          <a:ln/>
        </p:spPr>
      </p:sp>
      <p:sp>
        <p:nvSpPr>
          <p:cNvPr id="21" name="Text 19"/>
          <p:cNvSpPr/>
          <p:nvPr/>
        </p:nvSpPr>
        <p:spPr>
          <a:xfrm>
            <a:off x="1142524" y="604551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Gelasio" pitchFamily="34" charset="0"/>
                <a:ea typeface="Gelasio" pitchFamily="34" charset="-122"/>
                <a:cs typeface="Gelasio" pitchFamily="34" charset="-120"/>
              </a:rPr>
              <a:t>DATABASE</a:t>
            </a:r>
            <a:endParaRPr lang="en-US" sz="2200" dirty="0"/>
          </a:p>
        </p:txBody>
      </p:sp>
      <p:sp>
        <p:nvSpPr>
          <p:cNvPr id="22" name="Text 20"/>
          <p:cNvSpPr/>
          <p:nvPr/>
        </p:nvSpPr>
        <p:spPr>
          <a:xfrm>
            <a:off x="1142524" y="6535936"/>
            <a:ext cx="5801916"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Lato" pitchFamily="34" charset="0"/>
                <a:ea typeface="Lato" pitchFamily="34" charset="-122"/>
                <a:cs typeface="Lato" pitchFamily="34" charset="-120"/>
              </a:rPr>
              <a:t>Azure SQL via Private Endpoint — private IP 10.0.2.x, public access permanently disabled</a:t>
            </a:r>
            <a:endParaRPr lang="en-US" sz="1750" dirty="0"/>
          </a:p>
        </p:txBody>
      </p:sp>
      <p:sp>
        <p:nvSpPr>
          <p:cNvPr id="23" name="Shape 21"/>
          <p:cNvSpPr/>
          <p:nvPr/>
        </p:nvSpPr>
        <p:spPr>
          <a:xfrm>
            <a:off x="7428548" y="5788223"/>
            <a:ext cx="6408063" cy="1730812"/>
          </a:xfrm>
          <a:prstGeom prst="roundRect">
            <a:avLst>
              <a:gd name="adj" fmla="val 8453"/>
            </a:avLst>
          </a:prstGeom>
          <a:solidFill>
            <a:srgbClr val="FFFFFF">
              <a:alpha val="95000"/>
            </a:srgbClr>
          </a:solidFill>
          <a:ln w="30480">
            <a:solidFill>
              <a:srgbClr val="CECEC9"/>
            </a:solidFill>
            <a:prstDash val="solid"/>
          </a:ln>
        </p:spPr>
      </p:sp>
      <p:sp>
        <p:nvSpPr>
          <p:cNvPr id="24" name="Shape 22"/>
          <p:cNvSpPr/>
          <p:nvPr/>
        </p:nvSpPr>
        <p:spPr>
          <a:xfrm>
            <a:off x="7398067" y="5788223"/>
            <a:ext cx="121920" cy="1730812"/>
          </a:xfrm>
          <a:prstGeom prst="roundRect">
            <a:avLst>
              <a:gd name="adj" fmla="val 78139"/>
            </a:avLst>
          </a:prstGeom>
          <a:solidFill>
            <a:srgbClr val="E5E5E0"/>
          </a:solidFill>
          <a:ln/>
        </p:spPr>
      </p:sp>
      <p:sp>
        <p:nvSpPr>
          <p:cNvPr id="25" name="Text 23"/>
          <p:cNvSpPr/>
          <p:nvPr/>
        </p:nvSpPr>
        <p:spPr>
          <a:xfrm>
            <a:off x="7777282" y="604551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Gelasio" pitchFamily="34" charset="0"/>
                <a:ea typeface="Gelasio" pitchFamily="34" charset="-122"/>
                <a:cs typeface="Gelasio" pitchFamily="34" charset="-120"/>
              </a:rPr>
              <a:t>DNS</a:t>
            </a:r>
            <a:endParaRPr lang="en-US" sz="2200" dirty="0"/>
          </a:p>
        </p:txBody>
      </p:sp>
      <p:sp>
        <p:nvSpPr>
          <p:cNvPr id="26" name="Text 24"/>
          <p:cNvSpPr/>
          <p:nvPr/>
        </p:nvSpPr>
        <p:spPr>
          <a:xfrm>
            <a:off x="7777282" y="6535936"/>
            <a:ext cx="5802035"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Lato" pitchFamily="34" charset="0"/>
                <a:ea typeface="Lato" pitchFamily="34" charset="-122"/>
                <a:cs typeface="Lato" pitchFamily="34" charset="-120"/>
              </a:rPr>
              <a:t>Private DNS Zone: sql-server.database.windows.net → 10.0.2.x — no public DNS leakage</a:t>
            </a:r>
            <a:endParaRPr lang="en-US" sz="1750" dirty="0"/>
          </a:p>
        </p:txBody>
      </p:sp>
      <p:sp>
        <p:nvSpPr>
          <p:cNvPr id="27" name="Rectangle 26">
            <a:extLst>
              <a:ext uri="{FF2B5EF4-FFF2-40B4-BE49-F238E27FC236}">
                <a16:creationId xmlns:a16="http://schemas.microsoft.com/office/drawing/2014/main" id="{638121DF-3DCE-4F16-8175-6A9E1E884DEB}"/>
              </a:ext>
            </a:extLst>
          </p:cNvPr>
          <p:cNvSpPr/>
          <p:nvPr/>
        </p:nvSpPr>
        <p:spPr>
          <a:xfrm>
            <a:off x="12841793" y="7757327"/>
            <a:ext cx="1788607" cy="472273"/>
          </a:xfrm>
          <a:prstGeom prst="rect">
            <a:avLst/>
          </a:prstGeom>
          <a:solidFill>
            <a:srgbClr val="FDFD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793790" y="740569"/>
            <a:ext cx="1864162" cy="426244"/>
          </a:xfrm>
          <a:prstGeom prst="roundRect">
            <a:avLst>
              <a:gd name="adj" fmla="val 17880"/>
            </a:avLst>
          </a:prstGeom>
          <a:solidFill>
            <a:srgbClr val="E8E8E3"/>
          </a:solidFill>
          <a:ln/>
        </p:spPr>
      </p:sp>
      <p:sp>
        <p:nvSpPr>
          <p:cNvPr id="3" name="Text 1"/>
          <p:cNvSpPr/>
          <p:nvPr/>
        </p:nvSpPr>
        <p:spPr>
          <a:xfrm>
            <a:off x="929878" y="808553"/>
            <a:ext cx="1591985" cy="290274"/>
          </a:xfrm>
          <a:prstGeom prst="rect">
            <a:avLst/>
          </a:prstGeom>
          <a:noFill/>
          <a:ln/>
        </p:spPr>
        <p:txBody>
          <a:bodyPr wrap="none" lIns="0" tIns="0" rIns="0" bIns="0" rtlCol="0" anchor="t"/>
          <a:lstStyle/>
          <a:p>
            <a:pPr marL="0" indent="0" algn="l">
              <a:lnSpc>
                <a:spcPts val="2250"/>
              </a:lnSpc>
              <a:buNone/>
            </a:pPr>
            <a:r>
              <a:rPr lang="en-US" sz="1400" dirty="0">
                <a:solidFill>
                  <a:srgbClr val="272525"/>
                </a:solidFill>
                <a:latin typeface="Lato" pitchFamily="34" charset="0"/>
                <a:ea typeface="Lato" pitchFamily="34" charset="-122"/>
                <a:cs typeface="Lato" pitchFamily="34" charset="-120"/>
              </a:rPr>
              <a:t>IMPLEMENTATION</a:t>
            </a:r>
            <a:endParaRPr lang="en-US" sz="1400" dirty="0"/>
          </a:p>
        </p:txBody>
      </p:sp>
      <p:sp>
        <p:nvSpPr>
          <p:cNvPr id="4" name="Text 2"/>
          <p:cNvSpPr/>
          <p:nvPr/>
        </p:nvSpPr>
        <p:spPr>
          <a:xfrm>
            <a:off x="793790" y="1257538"/>
            <a:ext cx="8117681" cy="708779"/>
          </a:xfrm>
          <a:prstGeom prst="rect">
            <a:avLst/>
          </a:prstGeom>
          <a:noFill/>
          <a:ln/>
        </p:spPr>
        <p:txBody>
          <a:bodyPr wrap="none" lIns="0" tIns="0" rIns="0" bIns="0" rtlCol="0" anchor="t"/>
          <a:lstStyle/>
          <a:p>
            <a:pPr marL="0" indent="0" algn="l">
              <a:lnSpc>
                <a:spcPts val="5550"/>
              </a:lnSpc>
              <a:buNone/>
            </a:pPr>
            <a:r>
              <a:rPr lang="en-US" sz="4450" dirty="0">
                <a:solidFill>
                  <a:srgbClr val="312F2B"/>
                </a:solidFill>
                <a:latin typeface="Gelasio" pitchFamily="34" charset="0"/>
                <a:ea typeface="Gelasio" pitchFamily="34" charset="-122"/>
                <a:cs typeface="Gelasio" pitchFamily="34" charset="-120"/>
              </a:rPr>
              <a:t>Key Techniques &amp; Best Practices</a:t>
            </a:r>
            <a:endParaRPr lang="en-US" sz="4450" dirty="0"/>
          </a:p>
        </p:txBody>
      </p:sp>
      <p:sp>
        <p:nvSpPr>
          <p:cNvPr id="5" name="Text 3"/>
          <p:cNvSpPr/>
          <p:nvPr/>
        </p:nvSpPr>
        <p:spPr>
          <a:xfrm>
            <a:off x="793790" y="2533293"/>
            <a:ext cx="4002881" cy="354330"/>
          </a:xfrm>
          <a:prstGeom prst="rect">
            <a:avLst/>
          </a:prstGeom>
          <a:noFill/>
          <a:ln/>
        </p:spPr>
        <p:txBody>
          <a:bodyPr wrap="none" lIns="0" tIns="0" rIns="0" bIns="0" rtlCol="0" anchor="t"/>
          <a:lstStyle/>
          <a:p>
            <a:pPr marL="0" indent="0" algn="l">
              <a:lnSpc>
                <a:spcPts val="2750"/>
              </a:lnSpc>
              <a:buNone/>
            </a:pPr>
            <a:r>
              <a:rPr lang="en-US" sz="2200" dirty="0">
                <a:solidFill>
                  <a:srgbClr val="312F2B"/>
                </a:solidFill>
                <a:latin typeface="Gelasio" pitchFamily="34" charset="0"/>
                <a:ea typeface="Gelasio" pitchFamily="34" charset="-122"/>
                <a:cs typeface="Gelasio" pitchFamily="34" charset="-120"/>
              </a:rPr>
              <a:t>Private Endpoint + Private DNS</a:t>
            </a:r>
            <a:endParaRPr lang="en-US" sz="2200" dirty="0"/>
          </a:p>
        </p:txBody>
      </p:sp>
      <p:sp>
        <p:nvSpPr>
          <p:cNvPr id="6" name="Text 4"/>
          <p:cNvSpPr/>
          <p:nvPr/>
        </p:nvSpPr>
        <p:spPr>
          <a:xfrm>
            <a:off x="793790" y="3114437"/>
            <a:ext cx="6244709" cy="1451610"/>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Lato" pitchFamily="34" charset="0"/>
                <a:ea typeface="Lato" pitchFamily="34" charset="-122"/>
                <a:cs typeface="Lato" pitchFamily="34" charset="-120"/>
              </a:rPr>
              <a:t>SQL has no public endpoint. A NIC in snet-data holds the private IP. Private DNS resolves the hostname internally — backend connects using the same connection string as any SQL client, unaware of the private routing.</a:t>
            </a:r>
            <a:endParaRPr lang="en-US" sz="1750" dirty="0"/>
          </a:p>
        </p:txBody>
      </p:sp>
      <p:sp>
        <p:nvSpPr>
          <p:cNvPr id="7" name="Text 5"/>
          <p:cNvSpPr/>
          <p:nvPr/>
        </p:nvSpPr>
        <p:spPr>
          <a:xfrm>
            <a:off x="7599521" y="253329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12F2B"/>
                </a:solidFill>
                <a:latin typeface="Gelasio" pitchFamily="34" charset="0"/>
                <a:ea typeface="Gelasio" pitchFamily="34" charset="-122"/>
                <a:cs typeface="Gelasio" pitchFamily="34" charset="-120"/>
              </a:rPr>
              <a:t>Subnet Delegation</a:t>
            </a:r>
            <a:endParaRPr lang="en-US" sz="2200" dirty="0"/>
          </a:p>
        </p:txBody>
      </p:sp>
      <p:sp>
        <p:nvSpPr>
          <p:cNvPr id="8" name="Text 6"/>
          <p:cNvSpPr/>
          <p:nvPr/>
        </p:nvSpPr>
        <p:spPr>
          <a:xfrm>
            <a:off x="7599521" y="3114437"/>
            <a:ext cx="6244709" cy="1451610"/>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Lato" pitchFamily="34" charset="0"/>
                <a:ea typeface="Lato" pitchFamily="34" charset="-122"/>
                <a:cs typeface="Lato" pitchFamily="34" charset="-120"/>
              </a:rPr>
              <a:t>snet-appservice is delegated to Microsoft.Web/serverFarms — Azure's mechanism to reserve a subnet exclusively for App Service VNet Integration. This enables outbound private traffic from App Services into the VNet.</a:t>
            </a:r>
            <a:endParaRPr lang="en-US" sz="1750" dirty="0"/>
          </a:p>
        </p:txBody>
      </p:sp>
      <p:sp>
        <p:nvSpPr>
          <p:cNvPr id="9" name="Text 7"/>
          <p:cNvSpPr/>
          <p:nvPr/>
        </p:nvSpPr>
        <p:spPr>
          <a:xfrm>
            <a:off x="793790" y="525208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12F2B"/>
                </a:solidFill>
                <a:latin typeface="Gelasio" pitchFamily="34" charset="0"/>
                <a:ea typeface="Gelasio" pitchFamily="34" charset="-122"/>
                <a:cs typeface="Gelasio" pitchFamily="34" charset="-120"/>
              </a:rPr>
              <a:t>Custom Health Probes</a:t>
            </a:r>
            <a:endParaRPr lang="en-US" sz="2200" dirty="0"/>
          </a:p>
        </p:txBody>
      </p:sp>
      <p:sp>
        <p:nvSpPr>
          <p:cNvPr id="10" name="Text 8"/>
          <p:cNvSpPr/>
          <p:nvPr/>
        </p:nvSpPr>
        <p:spPr>
          <a:xfrm>
            <a:off x="793790" y="5833229"/>
            <a:ext cx="6244709" cy="1451610"/>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Lato" pitchFamily="34" charset="0"/>
                <a:ea typeface="Lato" pitchFamily="34" charset="-122"/>
                <a:cs typeface="Lato" pitchFamily="34" charset="-120"/>
              </a:rPr>
              <a:t>App Gateway health probes point to /health on the backend. Default probes hit / which returns 404 — marking the pool unhealthy. Custom probes ensure App Gateway only routes to genuinely healthy instances.</a:t>
            </a:r>
            <a:endParaRPr lang="en-US" sz="1750" dirty="0"/>
          </a:p>
        </p:txBody>
      </p:sp>
      <p:sp>
        <p:nvSpPr>
          <p:cNvPr id="11" name="Text 9"/>
          <p:cNvSpPr/>
          <p:nvPr/>
        </p:nvSpPr>
        <p:spPr>
          <a:xfrm>
            <a:off x="7599521" y="5252085"/>
            <a:ext cx="3179088" cy="354330"/>
          </a:xfrm>
          <a:prstGeom prst="rect">
            <a:avLst/>
          </a:prstGeom>
          <a:noFill/>
          <a:ln/>
        </p:spPr>
        <p:txBody>
          <a:bodyPr wrap="none" lIns="0" tIns="0" rIns="0" bIns="0" rtlCol="0" anchor="t"/>
          <a:lstStyle/>
          <a:p>
            <a:pPr marL="0" indent="0" algn="l">
              <a:lnSpc>
                <a:spcPts val="2750"/>
              </a:lnSpc>
              <a:buNone/>
            </a:pPr>
            <a:r>
              <a:rPr lang="en-US" sz="2200" dirty="0">
                <a:solidFill>
                  <a:srgbClr val="312F2B"/>
                </a:solidFill>
                <a:latin typeface="Gelasio" pitchFamily="34" charset="0"/>
                <a:ea typeface="Gelasio" pitchFamily="34" charset="-122"/>
                <a:cs typeface="Gelasio" pitchFamily="34" charset="-120"/>
              </a:rPr>
              <a:t>WAF in Prevention Mode</a:t>
            </a:r>
            <a:endParaRPr lang="en-US" sz="2200" dirty="0"/>
          </a:p>
        </p:txBody>
      </p:sp>
      <p:sp>
        <p:nvSpPr>
          <p:cNvPr id="12" name="Text 10"/>
          <p:cNvSpPr/>
          <p:nvPr/>
        </p:nvSpPr>
        <p:spPr>
          <a:xfrm>
            <a:off x="7599521" y="5833229"/>
            <a:ext cx="6244709" cy="1451610"/>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Lato" pitchFamily="34" charset="0"/>
                <a:ea typeface="Lato" pitchFamily="34" charset="-122"/>
                <a:cs typeface="Lato" pitchFamily="34" charset="-120"/>
              </a:rPr>
              <a:t>WAF policy set to Prevention, not Detection. Detection only logs attacks — Prevention actively blocks them. OWASP 3.2 ruleset applied globally before any request reaches application code.</a:t>
            </a:r>
            <a:endParaRPr lang="en-US" sz="1750" dirty="0"/>
          </a:p>
        </p:txBody>
      </p:sp>
      <p:sp>
        <p:nvSpPr>
          <p:cNvPr id="13" name="Rectangle 12">
            <a:extLst>
              <a:ext uri="{FF2B5EF4-FFF2-40B4-BE49-F238E27FC236}">
                <a16:creationId xmlns:a16="http://schemas.microsoft.com/office/drawing/2014/main" id="{405D4209-852C-4186-BC98-2D65EDF1CBC8}"/>
              </a:ext>
            </a:extLst>
          </p:cNvPr>
          <p:cNvSpPr/>
          <p:nvPr/>
        </p:nvSpPr>
        <p:spPr>
          <a:xfrm>
            <a:off x="12841793" y="7757327"/>
            <a:ext cx="1788607" cy="472273"/>
          </a:xfrm>
          <a:prstGeom prst="rect">
            <a:avLst/>
          </a:prstGeom>
          <a:solidFill>
            <a:srgbClr val="FDFD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793790" y="715208"/>
            <a:ext cx="2231588" cy="343614"/>
          </a:xfrm>
          <a:prstGeom prst="roundRect">
            <a:avLst>
              <a:gd name="adj" fmla="val 18853"/>
            </a:avLst>
          </a:prstGeom>
          <a:solidFill>
            <a:srgbClr val="E8E8E3"/>
          </a:solidFill>
          <a:ln/>
        </p:spPr>
      </p:sp>
      <p:sp>
        <p:nvSpPr>
          <p:cNvPr id="3" name="Text 1"/>
          <p:cNvSpPr/>
          <p:nvPr/>
        </p:nvSpPr>
        <p:spPr>
          <a:xfrm>
            <a:off x="909399" y="772954"/>
            <a:ext cx="2000369" cy="228124"/>
          </a:xfrm>
          <a:prstGeom prst="rect">
            <a:avLst/>
          </a:prstGeom>
          <a:noFill/>
          <a:ln/>
        </p:spPr>
        <p:txBody>
          <a:bodyPr wrap="none" lIns="0" tIns="0" rIns="0" bIns="0" rtlCol="0" anchor="t"/>
          <a:lstStyle/>
          <a:p>
            <a:pPr marL="0" indent="0" algn="l">
              <a:lnSpc>
                <a:spcPts val="1750"/>
              </a:lnSpc>
              <a:buNone/>
            </a:pPr>
            <a:r>
              <a:rPr lang="en-US" sz="1200" dirty="0">
                <a:solidFill>
                  <a:srgbClr val="272525"/>
                </a:solidFill>
                <a:latin typeface="Lato" pitchFamily="34" charset="0"/>
                <a:ea typeface="Lato" pitchFamily="34" charset="-122"/>
                <a:cs typeface="Lato" pitchFamily="34" charset="-120"/>
              </a:rPr>
              <a:t>CHALLENGES &amp; SOLUTIONS</a:t>
            </a:r>
            <a:endParaRPr lang="en-US" sz="1200" dirty="0"/>
          </a:p>
        </p:txBody>
      </p:sp>
      <p:sp>
        <p:nvSpPr>
          <p:cNvPr id="4" name="Text 2"/>
          <p:cNvSpPr/>
          <p:nvPr/>
        </p:nvSpPr>
        <p:spPr>
          <a:xfrm>
            <a:off x="793790" y="1124307"/>
            <a:ext cx="5127546" cy="602456"/>
          </a:xfrm>
          <a:prstGeom prst="rect">
            <a:avLst/>
          </a:prstGeom>
          <a:noFill/>
          <a:ln/>
        </p:spPr>
        <p:txBody>
          <a:bodyPr wrap="none" lIns="0" tIns="0" rIns="0" bIns="0" rtlCol="0" anchor="t"/>
          <a:lstStyle/>
          <a:p>
            <a:pPr marL="0" indent="0" algn="l">
              <a:lnSpc>
                <a:spcPts val="4700"/>
              </a:lnSpc>
              <a:buNone/>
            </a:pPr>
            <a:r>
              <a:rPr lang="en-US" sz="3750" dirty="0">
                <a:solidFill>
                  <a:srgbClr val="312F2B"/>
                </a:solidFill>
                <a:latin typeface="Gelasio" pitchFamily="34" charset="0"/>
                <a:ea typeface="Gelasio" pitchFamily="34" charset="-122"/>
                <a:cs typeface="Gelasio" pitchFamily="34" charset="-120"/>
              </a:rPr>
              <a:t>Obstacles We Overcame</a:t>
            </a:r>
            <a:endParaRPr lang="en-US" sz="3750" dirty="0"/>
          </a:p>
        </p:txBody>
      </p:sp>
      <p:sp>
        <p:nvSpPr>
          <p:cNvPr id="5" name="Shape 3"/>
          <p:cNvSpPr/>
          <p:nvPr/>
        </p:nvSpPr>
        <p:spPr>
          <a:xfrm>
            <a:off x="793790" y="2156817"/>
            <a:ext cx="6286262" cy="2494478"/>
          </a:xfrm>
          <a:prstGeom prst="roundRect">
            <a:avLst>
              <a:gd name="adj" fmla="val 3246"/>
            </a:avLst>
          </a:prstGeom>
          <a:solidFill>
            <a:srgbClr val="DCDCD5"/>
          </a:solidFill>
          <a:ln/>
        </p:spPr>
      </p:sp>
      <p:pic>
        <p:nvPicPr>
          <p:cNvPr id="6" name="Image 0" descr="preencoded.png"/>
          <p:cNvPicPr>
            <a:picLocks noChangeAspect="1"/>
          </p:cNvPicPr>
          <p:nvPr/>
        </p:nvPicPr>
        <p:blipFill>
          <a:blip r:embed="rId3"/>
          <a:stretch>
            <a:fillRect/>
          </a:stretch>
        </p:blipFill>
        <p:spPr>
          <a:xfrm>
            <a:off x="986552" y="2371249"/>
            <a:ext cx="301228" cy="240983"/>
          </a:xfrm>
          <a:prstGeom prst="rect">
            <a:avLst/>
          </a:prstGeom>
        </p:spPr>
      </p:pic>
      <p:sp>
        <p:nvSpPr>
          <p:cNvPr id="7" name="Text 4"/>
          <p:cNvSpPr/>
          <p:nvPr/>
        </p:nvSpPr>
        <p:spPr>
          <a:xfrm>
            <a:off x="1480542" y="2368748"/>
            <a:ext cx="2790230" cy="301228"/>
          </a:xfrm>
          <a:prstGeom prst="rect">
            <a:avLst/>
          </a:prstGeom>
          <a:noFill/>
          <a:ln/>
        </p:spPr>
        <p:txBody>
          <a:bodyPr wrap="none" lIns="0" tIns="0" rIns="0" bIns="0" rtlCol="0" anchor="t"/>
          <a:lstStyle/>
          <a:p>
            <a:pPr marL="0" indent="0" algn="l">
              <a:lnSpc>
                <a:spcPts val="2350"/>
              </a:lnSpc>
              <a:buNone/>
            </a:pPr>
            <a:r>
              <a:rPr lang="en-US" sz="1850" dirty="0">
                <a:solidFill>
                  <a:srgbClr val="000000"/>
                </a:solidFill>
                <a:latin typeface="Gelasio" pitchFamily="34" charset="0"/>
                <a:ea typeface="Gelasio" pitchFamily="34" charset="-122"/>
                <a:cs typeface="Gelasio" pitchFamily="34" charset="-120"/>
              </a:rPr>
              <a:t>SQL Query Editor blocked</a:t>
            </a:r>
            <a:endParaRPr lang="en-US" sz="1850" dirty="0"/>
          </a:p>
        </p:txBody>
      </p:sp>
      <p:sp>
        <p:nvSpPr>
          <p:cNvPr id="8" name="Text 5"/>
          <p:cNvSpPr/>
          <p:nvPr/>
        </p:nvSpPr>
        <p:spPr>
          <a:xfrm>
            <a:off x="1480542" y="2833807"/>
            <a:ext cx="5406747" cy="855821"/>
          </a:xfrm>
          <a:prstGeom prst="rect">
            <a:avLst/>
          </a:prstGeom>
          <a:noFill/>
          <a:ln/>
        </p:spPr>
        <p:txBody>
          <a:bodyPr wrap="square" lIns="0" tIns="0" rIns="0" bIns="0" rtlCol="0" anchor="t"/>
          <a:lstStyle/>
          <a:p>
            <a:pPr marL="0" indent="0" algn="l">
              <a:lnSpc>
                <a:spcPts val="2200"/>
              </a:lnSpc>
              <a:buNone/>
            </a:pPr>
            <a:r>
              <a:rPr lang="en-US" sz="1500" dirty="0">
                <a:solidFill>
                  <a:srgbClr val="000000"/>
                </a:solidFill>
                <a:latin typeface="Lato" pitchFamily="34" charset="0"/>
                <a:ea typeface="Lato" pitchFamily="34" charset="-122"/>
                <a:cs typeface="Lato" pitchFamily="34" charset="-120"/>
              </a:rPr>
              <a:t>Azure Portal Query Editor couldn't reach SQL — public access was disabled by design. Needed to run the full schema (5 tables, indexes, triggers, sample data) before the backend could start.</a:t>
            </a:r>
            <a:endParaRPr lang="en-US" sz="1500" dirty="0"/>
          </a:p>
        </p:txBody>
      </p:sp>
      <p:sp>
        <p:nvSpPr>
          <p:cNvPr id="9" name="Text 6"/>
          <p:cNvSpPr/>
          <p:nvPr/>
        </p:nvSpPr>
        <p:spPr>
          <a:xfrm>
            <a:off x="1480542" y="3837027"/>
            <a:ext cx="5406747" cy="570548"/>
          </a:xfrm>
          <a:prstGeom prst="rect">
            <a:avLst/>
          </a:prstGeom>
          <a:noFill/>
          <a:ln/>
        </p:spPr>
        <p:txBody>
          <a:bodyPr wrap="square" lIns="0" tIns="0" rIns="0" bIns="0" rtlCol="0" anchor="t"/>
          <a:lstStyle/>
          <a:p>
            <a:pPr marL="0" indent="0" algn="l">
              <a:lnSpc>
                <a:spcPts val="2200"/>
              </a:lnSpc>
              <a:buNone/>
            </a:pPr>
            <a:r>
              <a:rPr lang="en-US" sz="1500" dirty="0">
                <a:solidFill>
                  <a:srgbClr val="000000"/>
                </a:solidFill>
                <a:latin typeface="Lato" pitchFamily="34" charset="0"/>
                <a:ea typeface="Lato" pitchFamily="34" charset="-122"/>
                <a:cs typeface="Lato" pitchFamily="34" charset="-120"/>
              </a:rPr>
              <a:t>→ Temporarily whitelisted our IP, ran schema in 6 separate batches, immediately re-disabled public access</a:t>
            </a:r>
            <a:endParaRPr lang="en-US" sz="1500" dirty="0"/>
          </a:p>
        </p:txBody>
      </p:sp>
      <p:sp>
        <p:nvSpPr>
          <p:cNvPr id="10" name="Shape 7"/>
          <p:cNvSpPr/>
          <p:nvPr/>
        </p:nvSpPr>
        <p:spPr>
          <a:xfrm>
            <a:off x="793790" y="4835604"/>
            <a:ext cx="6286262" cy="2494478"/>
          </a:xfrm>
          <a:prstGeom prst="roundRect">
            <a:avLst>
              <a:gd name="adj" fmla="val 3246"/>
            </a:avLst>
          </a:prstGeom>
          <a:solidFill>
            <a:srgbClr val="DCDCD5"/>
          </a:solidFill>
          <a:ln/>
        </p:spPr>
      </p:sp>
      <p:pic>
        <p:nvPicPr>
          <p:cNvPr id="11" name="Image 1" descr="preencoded.png"/>
          <p:cNvPicPr>
            <a:picLocks noChangeAspect="1"/>
          </p:cNvPicPr>
          <p:nvPr/>
        </p:nvPicPr>
        <p:blipFill>
          <a:blip r:embed="rId3"/>
          <a:stretch>
            <a:fillRect/>
          </a:stretch>
        </p:blipFill>
        <p:spPr>
          <a:xfrm>
            <a:off x="986552" y="5050036"/>
            <a:ext cx="301228" cy="240983"/>
          </a:xfrm>
          <a:prstGeom prst="rect">
            <a:avLst/>
          </a:prstGeom>
        </p:spPr>
      </p:pic>
      <p:sp>
        <p:nvSpPr>
          <p:cNvPr id="12" name="Text 8"/>
          <p:cNvSpPr/>
          <p:nvPr/>
        </p:nvSpPr>
        <p:spPr>
          <a:xfrm>
            <a:off x="1480542" y="5047536"/>
            <a:ext cx="3322320" cy="301228"/>
          </a:xfrm>
          <a:prstGeom prst="rect">
            <a:avLst/>
          </a:prstGeom>
          <a:noFill/>
          <a:ln/>
        </p:spPr>
        <p:txBody>
          <a:bodyPr wrap="none" lIns="0" tIns="0" rIns="0" bIns="0" rtlCol="0" anchor="t"/>
          <a:lstStyle/>
          <a:p>
            <a:pPr marL="0" indent="0" algn="l">
              <a:lnSpc>
                <a:spcPts val="2350"/>
              </a:lnSpc>
              <a:buNone/>
            </a:pPr>
            <a:r>
              <a:rPr lang="en-US" sz="1850" dirty="0">
                <a:solidFill>
                  <a:srgbClr val="000000"/>
                </a:solidFill>
                <a:latin typeface="Gelasio" pitchFamily="34" charset="0"/>
                <a:ea typeface="Gelasio" pitchFamily="34" charset="-122"/>
                <a:cs typeface="Gelasio" pitchFamily="34" charset="-120"/>
              </a:rPr>
              <a:t>App Gateway 502 Bad Gateway</a:t>
            </a:r>
            <a:endParaRPr lang="en-US" sz="1850" dirty="0"/>
          </a:p>
        </p:txBody>
      </p:sp>
      <p:sp>
        <p:nvSpPr>
          <p:cNvPr id="13" name="Text 9"/>
          <p:cNvSpPr/>
          <p:nvPr/>
        </p:nvSpPr>
        <p:spPr>
          <a:xfrm>
            <a:off x="1480542" y="5512594"/>
            <a:ext cx="5406747" cy="855821"/>
          </a:xfrm>
          <a:prstGeom prst="rect">
            <a:avLst/>
          </a:prstGeom>
          <a:noFill/>
          <a:ln/>
        </p:spPr>
        <p:txBody>
          <a:bodyPr wrap="square" lIns="0" tIns="0" rIns="0" bIns="0" rtlCol="0" anchor="t"/>
          <a:lstStyle/>
          <a:p>
            <a:pPr marL="0" indent="0" algn="l">
              <a:lnSpc>
                <a:spcPts val="2200"/>
              </a:lnSpc>
              <a:buNone/>
            </a:pPr>
            <a:r>
              <a:rPr lang="en-US" sz="1500" dirty="0">
                <a:solidFill>
                  <a:srgbClr val="000000"/>
                </a:solidFill>
                <a:latin typeface="Lato" pitchFamily="34" charset="0"/>
                <a:ea typeface="Lato" pitchFamily="34" charset="-122"/>
                <a:cs typeface="Lato" pitchFamily="34" charset="-120"/>
              </a:rPr>
              <a:t>The default health probe sent requests to / on the backend which returns 404. App Gateway marked the entire backend pool as unhealthy and returned 502 to every user request.</a:t>
            </a:r>
            <a:endParaRPr lang="en-US" sz="1500" dirty="0"/>
          </a:p>
        </p:txBody>
      </p:sp>
      <p:sp>
        <p:nvSpPr>
          <p:cNvPr id="14" name="Text 10"/>
          <p:cNvSpPr/>
          <p:nvPr/>
        </p:nvSpPr>
        <p:spPr>
          <a:xfrm>
            <a:off x="1480542" y="6515814"/>
            <a:ext cx="5406747" cy="570548"/>
          </a:xfrm>
          <a:prstGeom prst="rect">
            <a:avLst/>
          </a:prstGeom>
          <a:noFill/>
          <a:ln/>
        </p:spPr>
        <p:txBody>
          <a:bodyPr wrap="square" lIns="0" tIns="0" rIns="0" bIns="0" rtlCol="0" anchor="t"/>
          <a:lstStyle/>
          <a:p>
            <a:pPr marL="0" indent="0" algn="l">
              <a:lnSpc>
                <a:spcPts val="2200"/>
              </a:lnSpc>
              <a:buNone/>
            </a:pPr>
            <a:r>
              <a:rPr lang="en-US" sz="1500" dirty="0">
                <a:solidFill>
                  <a:srgbClr val="000000"/>
                </a:solidFill>
                <a:latin typeface="Lato" pitchFamily="34" charset="0"/>
                <a:ea typeface="Lato" pitchFamily="34" charset="-122"/>
                <a:cs typeface="Lato" pitchFamily="34" charset="-120"/>
              </a:rPr>
              <a:t>→ Configured a custom health probe pointing to /health (returns 200) — pool immediately became healthy</a:t>
            </a:r>
            <a:endParaRPr lang="en-US" sz="1500" dirty="0"/>
          </a:p>
        </p:txBody>
      </p:sp>
      <p:sp>
        <p:nvSpPr>
          <p:cNvPr id="15" name="Shape 11"/>
          <p:cNvSpPr/>
          <p:nvPr/>
        </p:nvSpPr>
        <p:spPr>
          <a:xfrm>
            <a:off x="7557968" y="2156817"/>
            <a:ext cx="6286262" cy="2494478"/>
          </a:xfrm>
          <a:prstGeom prst="roundRect">
            <a:avLst>
              <a:gd name="adj" fmla="val 3246"/>
            </a:avLst>
          </a:prstGeom>
          <a:solidFill>
            <a:srgbClr val="DCDCD5"/>
          </a:solidFill>
          <a:ln/>
        </p:spPr>
      </p:sp>
      <p:pic>
        <p:nvPicPr>
          <p:cNvPr id="16" name="Image 2" descr="preencoded.png"/>
          <p:cNvPicPr>
            <a:picLocks noChangeAspect="1"/>
          </p:cNvPicPr>
          <p:nvPr/>
        </p:nvPicPr>
        <p:blipFill>
          <a:blip r:embed="rId3"/>
          <a:stretch>
            <a:fillRect/>
          </a:stretch>
        </p:blipFill>
        <p:spPr>
          <a:xfrm>
            <a:off x="7750731" y="2371249"/>
            <a:ext cx="301228" cy="240983"/>
          </a:xfrm>
          <a:prstGeom prst="rect">
            <a:avLst/>
          </a:prstGeom>
        </p:spPr>
      </p:pic>
      <p:sp>
        <p:nvSpPr>
          <p:cNvPr id="17" name="Text 12"/>
          <p:cNvSpPr/>
          <p:nvPr/>
        </p:nvSpPr>
        <p:spPr>
          <a:xfrm>
            <a:off x="8244721" y="2368748"/>
            <a:ext cx="3648194" cy="301228"/>
          </a:xfrm>
          <a:prstGeom prst="rect">
            <a:avLst/>
          </a:prstGeom>
          <a:noFill/>
          <a:ln/>
        </p:spPr>
        <p:txBody>
          <a:bodyPr wrap="none" lIns="0" tIns="0" rIns="0" bIns="0" rtlCol="0" anchor="t"/>
          <a:lstStyle/>
          <a:p>
            <a:pPr marL="0" indent="0" algn="l">
              <a:lnSpc>
                <a:spcPts val="2350"/>
              </a:lnSpc>
              <a:buNone/>
            </a:pPr>
            <a:r>
              <a:rPr lang="en-US" sz="1850" dirty="0">
                <a:solidFill>
                  <a:srgbClr val="000000"/>
                </a:solidFill>
                <a:latin typeface="Gelasio" pitchFamily="34" charset="0"/>
                <a:ea typeface="Gelasio" pitchFamily="34" charset="-122"/>
                <a:cs typeface="Gelasio" pitchFamily="34" charset="-120"/>
              </a:rPr>
              <a:t>React env vars baked at build time</a:t>
            </a:r>
            <a:endParaRPr lang="en-US" sz="1850" dirty="0"/>
          </a:p>
        </p:txBody>
      </p:sp>
      <p:sp>
        <p:nvSpPr>
          <p:cNvPr id="18" name="Text 13"/>
          <p:cNvSpPr/>
          <p:nvPr/>
        </p:nvSpPr>
        <p:spPr>
          <a:xfrm>
            <a:off x="8244721" y="2833807"/>
            <a:ext cx="5406747" cy="855821"/>
          </a:xfrm>
          <a:prstGeom prst="rect">
            <a:avLst/>
          </a:prstGeom>
          <a:noFill/>
          <a:ln/>
        </p:spPr>
        <p:txBody>
          <a:bodyPr wrap="square" lIns="0" tIns="0" rIns="0" bIns="0" rtlCol="0" anchor="t"/>
          <a:lstStyle/>
          <a:p>
            <a:pPr marL="0" indent="0" algn="l">
              <a:lnSpc>
                <a:spcPts val="2200"/>
              </a:lnSpc>
              <a:buNone/>
            </a:pPr>
            <a:r>
              <a:rPr lang="en-US" sz="1500" dirty="0">
                <a:solidFill>
                  <a:srgbClr val="000000"/>
                </a:solidFill>
                <a:latin typeface="Lato" pitchFamily="34" charset="0"/>
                <a:ea typeface="Lato" pitchFamily="34" charset="-122"/>
                <a:cs typeface="Lato" pitchFamily="34" charset="-120"/>
              </a:rPr>
              <a:t>Setting REACT_APP_API_URL in Azure portal had zero effect. React compiles env vars into the static bundle at build time — Azure injects them at runtime, after compilation is done.</a:t>
            </a:r>
            <a:endParaRPr lang="en-US" sz="1500" dirty="0"/>
          </a:p>
        </p:txBody>
      </p:sp>
      <p:sp>
        <p:nvSpPr>
          <p:cNvPr id="19" name="Text 14"/>
          <p:cNvSpPr/>
          <p:nvPr/>
        </p:nvSpPr>
        <p:spPr>
          <a:xfrm>
            <a:off x="8244721" y="3837027"/>
            <a:ext cx="5406747" cy="570548"/>
          </a:xfrm>
          <a:prstGeom prst="rect">
            <a:avLst/>
          </a:prstGeom>
          <a:noFill/>
          <a:ln/>
        </p:spPr>
        <p:txBody>
          <a:bodyPr wrap="square" lIns="0" tIns="0" rIns="0" bIns="0" rtlCol="0" anchor="t"/>
          <a:lstStyle/>
          <a:p>
            <a:pPr marL="0" indent="0" algn="l">
              <a:lnSpc>
                <a:spcPts val="2200"/>
              </a:lnSpc>
              <a:buNone/>
            </a:pPr>
            <a:r>
              <a:rPr lang="en-US" sz="1500" dirty="0">
                <a:solidFill>
                  <a:srgbClr val="000000"/>
                </a:solidFill>
                <a:latin typeface="Lato" pitchFamily="34" charset="0"/>
                <a:ea typeface="Lato" pitchFamily="34" charset="-122"/>
                <a:cs typeface="Lato" pitchFamily="34" charset="-120"/>
              </a:rPr>
              <a:t>→ Injected the variable during the GitHub Actions build step so it gets compiled into the bundle correctly</a:t>
            </a:r>
            <a:endParaRPr lang="en-US" sz="1500" dirty="0"/>
          </a:p>
        </p:txBody>
      </p:sp>
      <p:sp>
        <p:nvSpPr>
          <p:cNvPr id="20" name="Shape 15"/>
          <p:cNvSpPr/>
          <p:nvPr/>
        </p:nvSpPr>
        <p:spPr>
          <a:xfrm>
            <a:off x="7557968" y="4835604"/>
            <a:ext cx="6286262" cy="2494478"/>
          </a:xfrm>
          <a:prstGeom prst="roundRect">
            <a:avLst>
              <a:gd name="adj" fmla="val 3246"/>
            </a:avLst>
          </a:prstGeom>
          <a:solidFill>
            <a:srgbClr val="DCDCD5"/>
          </a:solidFill>
          <a:ln/>
        </p:spPr>
      </p:sp>
      <p:pic>
        <p:nvPicPr>
          <p:cNvPr id="21" name="Image 3" descr="preencoded.png"/>
          <p:cNvPicPr>
            <a:picLocks noChangeAspect="1"/>
          </p:cNvPicPr>
          <p:nvPr/>
        </p:nvPicPr>
        <p:blipFill>
          <a:blip r:embed="rId3"/>
          <a:stretch>
            <a:fillRect/>
          </a:stretch>
        </p:blipFill>
        <p:spPr>
          <a:xfrm>
            <a:off x="7750731" y="5050036"/>
            <a:ext cx="301228" cy="240983"/>
          </a:xfrm>
          <a:prstGeom prst="rect">
            <a:avLst/>
          </a:prstGeom>
        </p:spPr>
      </p:pic>
      <p:sp>
        <p:nvSpPr>
          <p:cNvPr id="22" name="Text 16"/>
          <p:cNvSpPr/>
          <p:nvPr/>
        </p:nvSpPr>
        <p:spPr>
          <a:xfrm>
            <a:off x="8244721" y="5047536"/>
            <a:ext cx="3401020" cy="301228"/>
          </a:xfrm>
          <a:prstGeom prst="rect">
            <a:avLst/>
          </a:prstGeom>
          <a:noFill/>
          <a:ln/>
        </p:spPr>
        <p:txBody>
          <a:bodyPr wrap="none" lIns="0" tIns="0" rIns="0" bIns="0" rtlCol="0" anchor="t"/>
          <a:lstStyle/>
          <a:p>
            <a:pPr marL="0" indent="0" algn="l">
              <a:lnSpc>
                <a:spcPts val="2350"/>
              </a:lnSpc>
              <a:buNone/>
            </a:pPr>
            <a:r>
              <a:rPr lang="en-US" sz="1850" dirty="0">
                <a:solidFill>
                  <a:srgbClr val="000000"/>
                </a:solidFill>
                <a:latin typeface="Gelasio" pitchFamily="34" charset="0"/>
                <a:ea typeface="Gelasio" pitchFamily="34" charset="-122"/>
                <a:cs typeface="Gelasio" pitchFamily="34" charset="-120"/>
              </a:rPr>
              <a:t>Shared subscription restrictions</a:t>
            </a:r>
            <a:endParaRPr lang="en-US" sz="1850" dirty="0"/>
          </a:p>
        </p:txBody>
      </p:sp>
      <p:sp>
        <p:nvSpPr>
          <p:cNvPr id="23" name="Text 17"/>
          <p:cNvSpPr/>
          <p:nvPr/>
        </p:nvSpPr>
        <p:spPr>
          <a:xfrm>
            <a:off x="8244721" y="5512594"/>
            <a:ext cx="5406747" cy="855821"/>
          </a:xfrm>
          <a:prstGeom prst="rect">
            <a:avLst/>
          </a:prstGeom>
          <a:noFill/>
          <a:ln/>
        </p:spPr>
        <p:txBody>
          <a:bodyPr wrap="square" lIns="0" tIns="0" rIns="0" bIns="0" rtlCol="0" anchor="t"/>
          <a:lstStyle/>
          <a:p>
            <a:pPr marL="0" indent="0" algn="l">
              <a:lnSpc>
                <a:spcPts val="2200"/>
              </a:lnSpc>
              <a:buNone/>
            </a:pPr>
            <a:r>
              <a:rPr lang="en-US" sz="1500" dirty="0">
                <a:solidFill>
                  <a:srgbClr val="000000"/>
                </a:solidFill>
                <a:latin typeface="Lato" pitchFamily="34" charset="0"/>
                <a:ea typeface="Lato" pitchFamily="34" charset="-122"/>
                <a:cs typeface="Lato" pitchFamily="34" charset="-120"/>
              </a:rPr>
              <a:t>As students on a shared subscription, SCM access restrictions and certain Azure Policy enforcements blocked GitHub Actions cloud runners from deploying to App Services.</a:t>
            </a:r>
            <a:endParaRPr lang="en-US" sz="1500" dirty="0"/>
          </a:p>
        </p:txBody>
      </p:sp>
      <p:sp>
        <p:nvSpPr>
          <p:cNvPr id="24" name="Text 18"/>
          <p:cNvSpPr/>
          <p:nvPr/>
        </p:nvSpPr>
        <p:spPr>
          <a:xfrm>
            <a:off x="8244721" y="6515814"/>
            <a:ext cx="5406747" cy="570548"/>
          </a:xfrm>
          <a:prstGeom prst="rect">
            <a:avLst/>
          </a:prstGeom>
          <a:noFill/>
          <a:ln/>
        </p:spPr>
        <p:txBody>
          <a:bodyPr wrap="square" lIns="0" tIns="0" rIns="0" bIns="0" rtlCol="0" anchor="t"/>
          <a:lstStyle/>
          <a:p>
            <a:pPr marL="0" indent="0" algn="l">
              <a:lnSpc>
                <a:spcPts val="2200"/>
              </a:lnSpc>
              <a:buNone/>
            </a:pPr>
            <a:r>
              <a:rPr lang="en-US" sz="1500" dirty="0">
                <a:solidFill>
                  <a:srgbClr val="000000"/>
                </a:solidFill>
                <a:latin typeface="Lato" pitchFamily="34" charset="0"/>
                <a:ea typeface="Lato" pitchFamily="34" charset="-122"/>
                <a:cs typeface="Lato" pitchFamily="34" charset="-120"/>
              </a:rPr>
              <a:t>→ Set up a self-hosted GitHub Actions runner on a VM inside the VNet — deployments run from within the private network</a:t>
            </a:r>
            <a:endParaRPr lang="en-US" sz="1500" dirty="0"/>
          </a:p>
        </p:txBody>
      </p:sp>
      <p:sp>
        <p:nvSpPr>
          <p:cNvPr id="25" name="Rectangle 24">
            <a:extLst>
              <a:ext uri="{FF2B5EF4-FFF2-40B4-BE49-F238E27FC236}">
                <a16:creationId xmlns:a16="http://schemas.microsoft.com/office/drawing/2014/main" id="{B5255BA4-E6A2-4960-93B4-B6ADBB959FCF}"/>
              </a:ext>
            </a:extLst>
          </p:cNvPr>
          <p:cNvSpPr/>
          <p:nvPr/>
        </p:nvSpPr>
        <p:spPr>
          <a:xfrm>
            <a:off x="12841793" y="7757327"/>
            <a:ext cx="1788607" cy="472273"/>
          </a:xfrm>
          <a:prstGeom prst="rect">
            <a:avLst/>
          </a:prstGeom>
          <a:solidFill>
            <a:srgbClr val="FDFD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714494" y="676037"/>
            <a:ext cx="1417320" cy="214193"/>
          </a:xfrm>
          <a:prstGeom prst="roundRect">
            <a:avLst>
              <a:gd name="adj" fmla="val 20815"/>
            </a:avLst>
          </a:prstGeom>
          <a:solidFill>
            <a:srgbClr val="E8E8E3"/>
          </a:solidFill>
          <a:ln/>
        </p:spPr>
      </p:sp>
      <p:sp>
        <p:nvSpPr>
          <p:cNvPr id="3" name="Text 1"/>
          <p:cNvSpPr/>
          <p:nvPr/>
        </p:nvSpPr>
        <p:spPr>
          <a:xfrm>
            <a:off x="794028" y="715804"/>
            <a:ext cx="1258253" cy="134660"/>
          </a:xfrm>
          <a:prstGeom prst="rect">
            <a:avLst/>
          </a:prstGeom>
          <a:noFill/>
          <a:ln/>
        </p:spPr>
        <p:txBody>
          <a:bodyPr wrap="none" lIns="0" tIns="0" rIns="0" bIns="0" rtlCol="0" anchor="t"/>
          <a:lstStyle/>
          <a:p>
            <a:pPr marL="0" indent="0" algn="l">
              <a:lnSpc>
                <a:spcPts val="1050"/>
              </a:lnSpc>
              <a:buNone/>
            </a:pPr>
            <a:r>
              <a:rPr lang="en-US" sz="800" dirty="0">
                <a:solidFill>
                  <a:srgbClr val="272525"/>
                </a:solidFill>
                <a:latin typeface="Lato" pitchFamily="34" charset="0"/>
                <a:ea typeface="Lato" pitchFamily="34" charset="-122"/>
                <a:cs typeface="Lato" pitchFamily="34" charset="-120"/>
              </a:rPr>
              <a:t>TOOLS &amp; TECHNOLOGIES</a:t>
            </a:r>
            <a:endParaRPr lang="en-US" sz="800" dirty="0"/>
          </a:p>
        </p:txBody>
      </p:sp>
      <p:sp>
        <p:nvSpPr>
          <p:cNvPr id="4" name="Text 2"/>
          <p:cNvSpPr/>
          <p:nvPr/>
        </p:nvSpPr>
        <p:spPr>
          <a:xfrm>
            <a:off x="714494" y="921187"/>
            <a:ext cx="3317319" cy="414576"/>
          </a:xfrm>
          <a:prstGeom prst="rect">
            <a:avLst/>
          </a:prstGeom>
          <a:noFill/>
          <a:ln/>
        </p:spPr>
        <p:txBody>
          <a:bodyPr wrap="none" lIns="0" tIns="0" rIns="0" bIns="0" rtlCol="0" anchor="t"/>
          <a:lstStyle/>
          <a:p>
            <a:pPr marL="0" indent="0" algn="l">
              <a:lnSpc>
                <a:spcPts val="3250"/>
              </a:lnSpc>
              <a:buNone/>
            </a:pPr>
            <a:r>
              <a:rPr lang="en-US" sz="2600" dirty="0">
                <a:solidFill>
                  <a:srgbClr val="312F2B"/>
                </a:solidFill>
                <a:latin typeface="Gelasio" pitchFamily="34" charset="0"/>
                <a:ea typeface="Gelasio" pitchFamily="34" charset="-122"/>
                <a:cs typeface="Gelasio" pitchFamily="34" charset="-120"/>
              </a:rPr>
              <a:t>Technology Stack</a:t>
            </a:r>
            <a:endParaRPr lang="en-US" sz="2600" dirty="0"/>
          </a:p>
        </p:txBody>
      </p:sp>
      <p:sp>
        <p:nvSpPr>
          <p:cNvPr id="5" name="Shape 3"/>
          <p:cNvSpPr/>
          <p:nvPr/>
        </p:nvSpPr>
        <p:spPr>
          <a:xfrm>
            <a:off x="714494" y="1539359"/>
            <a:ext cx="6438900" cy="1336715"/>
          </a:xfrm>
          <a:prstGeom prst="roundRect">
            <a:avLst>
              <a:gd name="adj" fmla="val 4169"/>
            </a:avLst>
          </a:prstGeom>
          <a:solidFill>
            <a:srgbClr val="FFFFFF">
              <a:alpha val="95000"/>
            </a:srgbClr>
          </a:solidFill>
          <a:ln w="15240">
            <a:solidFill>
              <a:srgbClr val="CECEC9"/>
            </a:solidFill>
            <a:prstDash val="solid"/>
          </a:ln>
        </p:spPr>
      </p:sp>
      <p:sp>
        <p:nvSpPr>
          <p:cNvPr id="6" name="Shape 4"/>
          <p:cNvSpPr/>
          <p:nvPr/>
        </p:nvSpPr>
        <p:spPr>
          <a:xfrm>
            <a:off x="729734" y="1554599"/>
            <a:ext cx="6408420" cy="398026"/>
          </a:xfrm>
          <a:prstGeom prst="roundRect">
            <a:avLst>
              <a:gd name="adj" fmla="val 9407"/>
            </a:avLst>
          </a:prstGeom>
          <a:solidFill>
            <a:srgbClr val="E8E8E3"/>
          </a:solidFill>
          <a:ln/>
        </p:spPr>
      </p:sp>
      <p:sp>
        <p:nvSpPr>
          <p:cNvPr id="7" name="Text 5"/>
          <p:cNvSpPr/>
          <p:nvPr/>
        </p:nvSpPr>
        <p:spPr>
          <a:xfrm>
            <a:off x="3834408" y="1625441"/>
            <a:ext cx="198953" cy="248722"/>
          </a:xfrm>
          <a:prstGeom prst="rect">
            <a:avLst/>
          </a:prstGeom>
          <a:noFill/>
          <a:ln/>
        </p:spPr>
        <p:txBody>
          <a:bodyPr wrap="none" lIns="0" tIns="0" rIns="0" bIns="0" rtlCol="0" anchor="t"/>
          <a:lstStyle/>
          <a:p>
            <a:pPr marL="0" indent="0" algn="l">
              <a:lnSpc>
                <a:spcPts val="1550"/>
              </a:lnSpc>
              <a:buNone/>
            </a:pPr>
            <a:endParaRPr lang="en-US" sz="1550" dirty="0"/>
          </a:p>
        </p:txBody>
      </p:sp>
      <p:sp>
        <p:nvSpPr>
          <p:cNvPr id="8" name="Shape 6"/>
          <p:cNvSpPr/>
          <p:nvPr/>
        </p:nvSpPr>
        <p:spPr>
          <a:xfrm>
            <a:off x="862370" y="2030135"/>
            <a:ext cx="734258" cy="214193"/>
          </a:xfrm>
          <a:prstGeom prst="roundRect">
            <a:avLst>
              <a:gd name="adj" fmla="val 20815"/>
            </a:avLst>
          </a:prstGeom>
          <a:solidFill>
            <a:srgbClr val="E8E8E3"/>
          </a:solidFill>
          <a:ln/>
        </p:spPr>
      </p:sp>
      <p:sp>
        <p:nvSpPr>
          <p:cNvPr id="9" name="Text 7"/>
          <p:cNvSpPr/>
          <p:nvPr/>
        </p:nvSpPr>
        <p:spPr>
          <a:xfrm>
            <a:off x="941903" y="2069902"/>
            <a:ext cx="575191" cy="134660"/>
          </a:xfrm>
          <a:prstGeom prst="rect">
            <a:avLst/>
          </a:prstGeom>
          <a:noFill/>
          <a:ln/>
        </p:spPr>
        <p:txBody>
          <a:bodyPr wrap="none" lIns="0" tIns="0" rIns="0" bIns="0" rtlCol="0" anchor="t"/>
          <a:lstStyle/>
          <a:p>
            <a:pPr marL="0" indent="0" algn="l">
              <a:lnSpc>
                <a:spcPts val="1050"/>
              </a:lnSpc>
              <a:buNone/>
            </a:pPr>
            <a:r>
              <a:rPr lang="en-US" sz="800" dirty="0">
                <a:solidFill>
                  <a:srgbClr val="272525"/>
                </a:solidFill>
                <a:latin typeface="Lato" pitchFamily="34" charset="0"/>
                <a:ea typeface="Lato" pitchFamily="34" charset="-122"/>
                <a:cs typeface="Lato" pitchFamily="34" charset="-120"/>
              </a:rPr>
              <a:t>FRONTEND</a:t>
            </a:r>
            <a:endParaRPr lang="en-US" sz="800" dirty="0"/>
          </a:p>
        </p:txBody>
      </p:sp>
      <p:sp>
        <p:nvSpPr>
          <p:cNvPr id="10" name="Text 8"/>
          <p:cNvSpPr/>
          <p:nvPr/>
        </p:nvSpPr>
        <p:spPr>
          <a:xfrm>
            <a:off x="862370" y="2275284"/>
            <a:ext cx="1658660" cy="207288"/>
          </a:xfrm>
          <a:prstGeom prst="rect">
            <a:avLst/>
          </a:prstGeom>
          <a:noFill/>
          <a:ln/>
        </p:spPr>
        <p:txBody>
          <a:bodyPr wrap="none" lIns="0" tIns="0" rIns="0" bIns="0" rtlCol="0" anchor="t"/>
          <a:lstStyle/>
          <a:p>
            <a:pPr marL="0" indent="0" algn="l">
              <a:lnSpc>
                <a:spcPts val="1600"/>
              </a:lnSpc>
              <a:buNone/>
            </a:pPr>
            <a:r>
              <a:rPr lang="en-US" sz="1300" dirty="0">
                <a:solidFill>
                  <a:srgbClr val="272525"/>
                </a:solidFill>
                <a:latin typeface="Gelasio" pitchFamily="34" charset="0"/>
                <a:ea typeface="Gelasio" pitchFamily="34" charset="-122"/>
                <a:cs typeface="Gelasio" pitchFamily="34" charset="-120"/>
              </a:rPr>
              <a:t>React + TypeScript</a:t>
            </a:r>
            <a:endParaRPr lang="en-US" sz="1300" dirty="0"/>
          </a:p>
        </p:txBody>
      </p:sp>
      <p:sp>
        <p:nvSpPr>
          <p:cNvPr id="11" name="Text 9"/>
          <p:cNvSpPr/>
          <p:nvPr/>
        </p:nvSpPr>
        <p:spPr>
          <a:xfrm>
            <a:off x="862370" y="2560082"/>
            <a:ext cx="6143149" cy="168116"/>
          </a:xfrm>
          <a:prstGeom prst="rect">
            <a:avLst/>
          </a:prstGeom>
          <a:noFill/>
          <a:ln/>
        </p:spPr>
        <p:txBody>
          <a:bodyPr wrap="none" lIns="0" tIns="0" rIns="0" bIns="0" rtlCol="0" anchor="t"/>
          <a:lstStyle/>
          <a:p>
            <a:pPr marL="0" indent="0" algn="l">
              <a:lnSpc>
                <a:spcPts val="1300"/>
              </a:lnSpc>
              <a:buNone/>
            </a:pPr>
            <a:r>
              <a:rPr lang="en-US" sz="1000" dirty="0">
                <a:solidFill>
                  <a:srgbClr val="272525"/>
                </a:solidFill>
                <a:latin typeface="Lato" pitchFamily="34" charset="0"/>
                <a:ea typeface="Lato" pitchFamily="34" charset="-122"/>
                <a:cs typeface="Lato" pitchFamily="34" charset="-120"/>
              </a:rPr>
              <a:t>Azure App Service (Linux, Node 20 LTS)</a:t>
            </a:r>
            <a:endParaRPr lang="en-US" sz="1000" dirty="0"/>
          </a:p>
        </p:txBody>
      </p:sp>
      <p:sp>
        <p:nvSpPr>
          <p:cNvPr id="12" name="Shape 10"/>
          <p:cNvSpPr/>
          <p:nvPr/>
        </p:nvSpPr>
        <p:spPr>
          <a:xfrm>
            <a:off x="7484626" y="1539359"/>
            <a:ext cx="6438900" cy="1336715"/>
          </a:xfrm>
          <a:prstGeom prst="roundRect">
            <a:avLst>
              <a:gd name="adj" fmla="val 4169"/>
            </a:avLst>
          </a:prstGeom>
          <a:solidFill>
            <a:srgbClr val="FFFFFF">
              <a:alpha val="95000"/>
            </a:srgbClr>
          </a:solidFill>
          <a:ln w="15240">
            <a:solidFill>
              <a:srgbClr val="CECEC9"/>
            </a:solidFill>
            <a:prstDash val="solid"/>
          </a:ln>
        </p:spPr>
      </p:sp>
      <p:sp>
        <p:nvSpPr>
          <p:cNvPr id="13" name="Shape 11"/>
          <p:cNvSpPr/>
          <p:nvPr/>
        </p:nvSpPr>
        <p:spPr>
          <a:xfrm>
            <a:off x="7499866" y="1554599"/>
            <a:ext cx="6408420" cy="398026"/>
          </a:xfrm>
          <a:prstGeom prst="roundRect">
            <a:avLst>
              <a:gd name="adj" fmla="val 9407"/>
            </a:avLst>
          </a:prstGeom>
          <a:solidFill>
            <a:srgbClr val="E8E8E3"/>
          </a:solidFill>
          <a:ln/>
        </p:spPr>
      </p:sp>
      <p:sp>
        <p:nvSpPr>
          <p:cNvPr id="14" name="Text 12"/>
          <p:cNvSpPr/>
          <p:nvPr/>
        </p:nvSpPr>
        <p:spPr>
          <a:xfrm>
            <a:off x="10604540" y="1625441"/>
            <a:ext cx="198953" cy="248722"/>
          </a:xfrm>
          <a:prstGeom prst="rect">
            <a:avLst/>
          </a:prstGeom>
          <a:noFill/>
          <a:ln/>
        </p:spPr>
        <p:txBody>
          <a:bodyPr wrap="none" lIns="0" tIns="0" rIns="0" bIns="0" rtlCol="0" anchor="t"/>
          <a:lstStyle/>
          <a:p>
            <a:pPr marL="0" indent="0" algn="l">
              <a:lnSpc>
                <a:spcPts val="1550"/>
              </a:lnSpc>
              <a:buNone/>
            </a:pPr>
            <a:endParaRPr lang="en-US" sz="1550" dirty="0"/>
          </a:p>
        </p:txBody>
      </p:sp>
      <p:sp>
        <p:nvSpPr>
          <p:cNvPr id="15" name="Shape 13"/>
          <p:cNvSpPr/>
          <p:nvPr/>
        </p:nvSpPr>
        <p:spPr>
          <a:xfrm>
            <a:off x="7632502" y="2030135"/>
            <a:ext cx="664250" cy="214193"/>
          </a:xfrm>
          <a:prstGeom prst="roundRect">
            <a:avLst>
              <a:gd name="adj" fmla="val 20815"/>
            </a:avLst>
          </a:prstGeom>
          <a:solidFill>
            <a:srgbClr val="E8E8E3"/>
          </a:solidFill>
          <a:ln/>
        </p:spPr>
      </p:sp>
      <p:sp>
        <p:nvSpPr>
          <p:cNvPr id="16" name="Text 14"/>
          <p:cNvSpPr/>
          <p:nvPr/>
        </p:nvSpPr>
        <p:spPr>
          <a:xfrm>
            <a:off x="7712035" y="2069902"/>
            <a:ext cx="505182" cy="134660"/>
          </a:xfrm>
          <a:prstGeom prst="rect">
            <a:avLst/>
          </a:prstGeom>
          <a:noFill/>
          <a:ln/>
        </p:spPr>
        <p:txBody>
          <a:bodyPr wrap="none" lIns="0" tIns="0" rIns="0" bIns="0" rtlCol="0" anchor="t"/>
          <a:lstStyle/>
          <a:p>
            <a:pPr marL="0" indent="0" algn="l">
              <a:lnSpc>
                <a:spcPts val="1050"/>
              </a:lnSpc>
              <a:buNone/>
            </a:pPr>
            <a:r>
              <a:rPr lang="en-US" sz="800" dirty="0">
                <a:solidFill>
                  <a:srgbClr val="272525"/>
                </a:solidFill>
                <a:latin typeface="Lato" pitchFamily="34" charset="0"/>
                <a:ea typeface="Lato" pitchFamily="34" charset="-122"/>
                <a:cs typeface="Lato" pitchFamily="34" charset="-120"/>
              </a:rPr>
              <a:t>BACKEND</a:t>
            </a:r>
            <a:endParaRPr lang="en-US" sz="800" dirty="0"/>
          </a:p>
        </p:txBody>
      </p:sp>
      <p:sp>
        <p:nvSpPr>
          <p:cNvPr id="17" name="Text 15"/>
          <p:cNvSpPr/>
          <p:nvPr/>
        </p:nvSpPr>
        <p:spPr>
          <a:xfrm>
            <a:off x="7632502" y="2275284"/>
            <a:ext cx="1658660" cy="207288"/>
          </a:xfrm>
          <a:prstGeom prst="rect">
            <a:avLst/>
          </a:prstGeom>
          <a:noFill/>
          <a:ln/>
        </p:spPr>
        <p:txBody>
          <a:bodyPr wrap="none" lIns="0" tIns="0" rIns="0" bIns="0" rtlCol="0" anchor="t"/>
          <a:lstStyle/>
          <a:p>
            <a:pPr marL="0" indent="0" algn="l">
              <a:lnSpc>
                <a:spcPts val="1600"/>
              </a:lnSpc>
              <a:buNone/>
            </a:pPr>
            <a:r>
              <a:rPr lang="en-US" sz="1300" dirty="0">
                <a:solidFill>
                  <a:srgbClr val="272525"/>
                </a:solidFill>
                <a:latin typeface="Gelasio" pitchFamily="34" charset="0"/>
                <a:ea typeface="Gelasio" pitchFamily="34" charset="-122"/>
                <a:cs typeface="Gelasio" pitchFamily="34" charset="-120"/>
              </a:rPr>
              <a:t>Express / Node.js</a:t>
            </a:r>
            <a:endParaRPr lang="en-US" sz="1300" dirty="0"/>
          </a:p>
        </p:txBody>
      </p:sp>
      <p:sp>
        <p:nvSpPr>
          <p:cNvPr id="18" name="Text 16"/>
          <p:cNvSpPr/>
          <p:nvPr/>
        </p:nvSpPr>
        <p:spPr>
          <a:xfrm>
            <a:off x="7632502" y="2560082"/>
            <a:ext cx="6143149" cy="168116"/>
          </a:xfrm>
          <a:prstGeom prst="rect">
            <a:avLst/>
          </a:prstGeom>
          <a:noFill/>
          <a:ln/>
        </p:spPr>
        <p:txBody>
          <a:bodyPr wrap="none" lIns="0" tIns="0" rIns="0" bIns="0" rtlCol="0" anchor="t"/>
          <a:lstStyle/>
          <a:p>
            <a:pPr marL="0" indent="0" algn="l">
              <a:lnSpc>
                <a:spcPts val="1300"/>
              </a:lnSpc>
              <a:buNone/>
            </a:pPr>
            <a:r>
              <a:rPr lang="en-US" sz="1000" dirty="0">
                <a:solidFill>
                  <a:srgbClr val="272525"/>
                </a:solidFill>
                <a:latin typeface="Lato" pitchFamily="34" charset="0"/>
                <a:ea typeface="Lato" pitchFamily="34" charset="-122"/>
                <a:cs typeface="Lato" pitchFamily="34" charset="-120"/>
              </a:rPr>
              <a:t>REST API — JWT auth, rate limiting, input validation</a:t>
            </a:r>
            <a:endParaRPr lang="en-US" sz="1000" dirty="0"/>
          </a:p>
        </p:txBody>
      </p:sp>
      <p:sp>
        <p:nvSpPr>
          <p:cNvPr id="19" name="Shape 17"/>
          <p:cNvSpPr/>
          <p:nvPr/>
        </p:nvSpPr>
        <p:spPr>
          <a:xfrm>
            <a:off x="714494" y="3137892"/>
            <a:ext cx="6438900" cy="1336715"/>
          </a:xfrm>
          <a:prstGeom prst="roundRect">
            <a:avLst>
              <a:gd name="adj" fmla="val 4169"/>
            </a:avLst>
          </a:prstGeom>
          <a:solidFill>
            <a:srgbClr val="FFFFFF">
              <a:alpha val="95000"/>
            </a:srgbClr>
          </a:solidFill>
          <a:ln w="15240">
            <a:solidFill>
              <a:srgbClr val="CECEC9"/>
            </a:solidFill>
            <a:prstDash val="solid"/>
          </a:ln>
        </p:spPr>
      </p:sp>
      <p:sp>
        <p:nvSpPr>
          <p:cNvPr id="20" name="Shape 18"/>
          <p:cNvSpPr/>
          <p:nvPr/>
        </p:nvSpPr>
        <p:spPr>
          <a:xfrm>
            <a:off x="729734" y="3153132"/>
            <a:ext cx="6408420" cy="398026"/>
          </a:xfrm>
          <a:prstGeom prst="roundRect">
            <a:avLst>
              <a:gd name="adj" fmla="val 9407"/>
            </a:avLst>
          </a:prstGeom>
          <a:solidFill>
            <a:srgbClr val="E8E8E3"/>
          </a:solidFill>
          <a:ln/>
        </p:spPr>
      </p:sp>
      <p:sp>
        <p:nvSpPr>
          <p:cNvPr id="21" name="Text 19"/>
          <p:cNvSpPr/>
          <p:nvPr/>
        </p:nvSpPr>
        <p:spPr>
          <a:xfrm>
            <a:off x="3834408" y="3223974"/>
            <a:ext cx="198953" cy="248722"/>
          </a:xfrm>
          <a:prstGeom prst="rect">
            <a:avLst/>
          </a:prstGeom>
          <a:noFill/>
          <a:ln/>
        </p:spPr>
        <p:txBody>
          <a:bodyPr wrap="none" lIns="0" tIns="0" rIns="0" bIns="0" rtlCol="0" anchor="t"/>
          <a:lstStyle/>
          <a:p>
            <a:pPr marL="0" indent="0" algn="l">
              <a:lnSpc>
                <a:spcPts val="1550"/>
              </a:lnSpc>
              <a:buNone/>
            </a:pPr>
            <a:endParaRPr lang="en-US" sz="1550" dirty="0"/>
          </a:p>
        </p:txBody>
      </p:sp>
      <p:sp>
        <p:nvSpPr>
          <p:cNvPr id="22" name="Shape 20"/>
          <p:cNvSpPr/>
          <p:nvPr/>
        </p:nvSpPr>
        <p:spPr>
          <a:xfrm>
            <a:off x="862370" y="3628668"/>
            <a:ext cx="688300" cy="214193"/>
          </a:xfrm>
          <a:prstGeom prst="roundRect">
            <a:avLst>
              <a:gd name="adj" fmla="val 20815"/>
            </a:avLst>
          </a:prstGeom>
          <a:solidFill>
            <a:srgbClr val="E8E8E3"/>
          </a:solidFill>
          <a:ln/>
        </p:spPr>
      </p:sp>
      <p:sp>
        <p:nvSpPr>
          <p:cNvPr id="23" name="Text 21"/>
          <p:cNvSpPr/>
          <p:nvPr/>
        </p:nvSpPr>
        <p:spPr>
          <a:xfrm>
            <a:off x="941903" y="3668435"/>
            <a:ext cx="529233" cy="134660"/>
          </a:xfrm>
          <a:prstGeom prst="rect">
            <a:avLst/>
          </a:prstGeom>
          <a:noFill/>
          <a:ln/>
        </p:spPr>
        <p:txBody>
          <a:bodyPr wrap="none" lIns="0" tIns="0" rIns="0" bIns="0" rtlCol="0" anchor="t"/>
          <a:lstStyle/>
          <a:p>
            <a:pPr marL="0" indent="0" algn="l">
              <a:lnSpc>
                <a:spcPts val="1050"/>
              </a:lnSpc>
              <a:buNone/>
            </a:pPr>
            <a:r>
              <a:rPr lang="en-US" sz="800" dirty="0">
                <a:solidFill>
                  <a:srgbClr val="272525"/>
                </a:solidFill>
                <a:latin typeface="Lato" pitchFamily="34" charset="0"/>
                <a:ea typeface="Lato" pitchFamily="34" charset="-122"/>
                <a:cs typeface="Lato" pitchFamily="34" charset="-120"/>
              </a:rPr>
              <a:t>DATABASE</a:t>
            </a:r>
            <a:endParaRPr lang="en-US" sz="800" dirty="0"/>
          </a:p>
        </p:txBody>
      </p:sp>
      <p:sp>
        <p:nvSpPr>
          <p:cNvPr id="24" name="Text 22"/>
          <p:cNvSpPr/>
          <p:nvPr/>
        </p:nvSpPr>
        <p:spPr>
          <a:xfrm>
            <a:off x="862370" y="3873818"/>
            <a:ext cx="1658660" cy="207288"/>
          </a:xfrm>
          <a:prstGeom prst="rect">
            <a:avLst/>
          </a:prstGeom>
          <a:noFill/>
          <a:ln/>
        </p:spPr>
        <p:txBody>
          <a:bodyPr wrap="none" lIns="0" tIns="0" rIns="0" bIns="0" rtlCol="0" anchor="t"/>
          <a:lstStyle/>
          <a:p>
            <a:pPr marL="0" indent="0" algn="l">
              <a:lnSpc>
                <a:spcPts val="1600"/>
              </a:lnSpc>
              <a:buNone/>
            </a:pPr>
            <a:r>
              <a:rPr lang="en-US" sz="1300" dirty="0">
                <a:solidFill>
                  <a:srgbClr val="272525"/>
                </a:solidFill>
                <a:latin typeface="Gelasio" pitchFamily="34" charset="0"/>
                <a:ea typeface="Gelasio" pitchFamily="34" charset="-122"/>
                <a:cs typeface="Gelasio" pitchFamily="34" charset="-120"/>
              </a:rPr>
              <a:t>Azure SQL Database</a:t>
            </a:r>
            <a:endParaRPr lang="en-US" sz="1300" dirty="0"/>
          </a:p>
        </p:txBody>
      </p:sp>
      <p:sp>
        <p:nvSpPr>
          <p:cNvPr id="25" name="Text 23"/>
          <p:cNvSpPr/>
          <p:nvPr/>
        </p:nvSpPr>
        <p:spPr>
          <a:xfrm>
            <a:off x="862370" y="4158615"/>
            <a:ext cx="6143149" cy="168116"/>
          </a:xfrm>
          <a:prstGeom prst="rect">
            <a:avLst/>
          </a:prstGeom>
          <a:noFill/>
          <a:ln/>
        </p:spPr>
        <p:txBody>
          <a:bodyPr wrap="none" lIns="0" tIns="0" rIns="0" bIns="0" rtlCol="0" anchor="t"/>
          <a:lstStyle/>
          <a:p>
            <a:pPr marL="0" indent="0" algn="l">
              <a:lnSpc>
                <a:spcPts val="1300"/>
              </a:lnSpc>
              <a:buNone/>
            </a:pPr>
            <a:r>
              <a:rPr lang="en-US" sz="1000" dirty="0">
                <a:solidFill>
                  <a:srgbClr val="272525"/>
                </a:solidFill>
                <a:latin typeface="Lato" pitchFamily="34" charset="0"/>
                <a:ea typeface="Lato" pitchFamily="34" charset="-122"/>
                <a:cs typeface="Lato" pitchFamily="34" charset="-120"/>
              </a:rPr>
              <a:t>Basic tier, single DB, private endpoint only</a:t>
            </a:r>
            <a:endParaRPr lang="en-US" sz="1000" dirty="0"/>
          </a:p>
        </p:txBody>
      </p:sp>
      <p:sp>
        <p:nvSpPr>
          <p:cNvPr id="26" name="Shape 24"/>
          <p:cNvSpPr/>
          <p:nvPr/>
        </p:nvSpPr>
        <p:spPr>
          <a:xfrm>
            <a:off x="7484626" y="3137892"/>
            <a:ext cx="6438900" cy="1336715"/>
          </a:xfrm>
          <a:prstGeom prst="roundRect">
            <a:avLst>
              <a:gd name="adj" fmla="val 4169"/>
            </a:avLst>
          </a:prstGeom>
          <a:solidFill>
            <a:srgbClr val="FFFFFF">
              <a:alpha val="95000"/>
            </a:srgbClr>
          </a:solidFill>
          <a:ln w="15240">
            <a:solidFill>
              <a:srgbClr val="CECEC9"/>
            </a:solidFill>
            <a:prstDash val="solid"/>
          </a:ln>
        </p:spPr>
      </p:sp>
      <p:sp>
        <p:nvSpPr>
          <p:cNvPr id="27" name="Shape 25"/>
          <p:cNvSpPr/>
          <p:nvPr/>
        </p:nvSpPr>
        <p:spPr>
          <a:xfrm>
            <a:off x="7499866" y="3153132"/>
            <a:ext cx="6408420" cy="398026"/>
          </a:xfrm>
          <a:prstGeom prst="roundRect">
            <a:avLst>
              <a:gd name="adj" fmla="val 9407"/>
            </a:avLst>
          </a:prstGeom>
          <a:solidFill>
            <a:srgbClr val="E8E8E3"/>
          </a:solidFill>
          <a:ln/>
        </p:spPr>
      </p:sp>
      <p:sp>
        <p:nvSpPr>
          <p:cNvPr id="28" name="Text 26"/>
          <p:cNvSpPr/>
          <p:nvPr/>
        </p:nvSpPr>
        <p:spPr>
          <a:xfrm>
            <a:off x="10604540" y="3223974"/>
            <a:ext cx="198953" cy="248722"/>
          </a:xfrm>
          <a:prstGeom prst="rect">
            <a:avLst/>
          </a:prstGeom>
          <a:noFill/>
          <a:ln/>
        </p:spPr>
        <p:txBody>
          <a:bodyPr wrap="none" lIns="0" tIns="0" rIns="0" bIns="0" rtlCol="0" anchor="t"/>
          <a:lstStyle/>
          <a:p>
            <a:pPr marL="0" indent="0" algn="l">
              <a:lnSpc>
                <a:spcPts val="1550"/>
              </a:lnSpc>
              <a:buNone/>
            </a:pPr>
            <a:endParaRPr lang="en-US" sz="1550" dirty="0"/>
          </a:p>
        </p:txBody>
      </p:sp>
      <p:sp>
        <p:nvSpPr>
          <p:cNvPr id="29" name="Shape 27"/>
          <p:cNvSpPr/>
          <p:nvPr/>
        </p:nvSpPr>
        <p:spPr>
          <a:xfrm>
            <a:off x="7632502" y="3628668"/>
            <a:ext cx="659606" cy="214193"/>
          </a:xfrm>
          <a:prstGeom prst="roundRect">
            <a:avLst>
              <a:gd name="adj" fmla="val 20815"/>
            </a:avLst>
          </a:prstGeom>
          <a:solidFill>
            <a:srgbClr val="E8E8E3"/>
          </a:solidFill>
          <a:ln/>
        </p:spPr>
      </p:sp>
      <p:sp>
        <p:nvSpPr>
          <p:cNvPr id="30" name="Text 28"/>
          <p:cNvSpPr/>
          <p:nvPr/>
        </p:nvSpPr>
        <p:spPr>
          <a:xfrm>
            <a:off x="7712035" y="3668435"/>
            <a:ext cx="500539" cy="134660"/>
          </a:xfrm>
          <a:prstGeom prst="rect">
            <a:avLst/>
          </a:prstGeom>
          <a:noFill/>
          <a:ln/>
        </p:spPr>
        <p:txBody>
          <a:bodyPr wrap="none" lIns="0" tIns="0" rIns="0" bIns="0" rtlCol="0" anchor="t"/>
          <a:lstStyle/>
          <a:p>
            <a:pPr marL="0" indent="0" algn="l">
              <a:lnSpc>
                <a:spcPts val="1050"/>
              </a:lnSpc>
              <a:buNone/>
            </a:pPr>
            <a:r>
              <a:rPr lang="en-US" sz="800" dirty="0">
                <a:solidFill>
                  <a:srgbClr val="272525"/>
                </a:solidFill>
                <a:latin typeface="Lato" pitchFamily="34" charset="0"/>
                <a:ea typeface="Lato" pitchFamily="34" charset="-122"/>
                <a:cs typeface="Lato" pitchFamily="34" charset="-120"/>
              </a:rPr>
              <a:t>GATEWAY</a:t>
            </a:r>
            <a:endParaRPr lang="en-US" sz="800" dirty="0"/>
          </a:p>
        </p:txBody>
      </p:sp>
      <p:sp>
        <p:nvSpPr>
          <p:cNvPr id="31" name="Text 29"/>
          <p:cNvSpPr/>
          <p:nvPr/>
        </p:nvSpPr>
        <p:spPr>
          <a:xfrm>
            <a:off x="7632502" y="3873818"/>
            <a:ext cx="1658660" cy="207288"/>
          </a:xfrm>
          <a:prstGeom prst="rect">
            <a:avLst/>
          </a:prstGeom>
          <a:noFill/>
          <a:ln/>
        </p:spPr>
        <p:txBody>
          <a:bodyPr wrap="none" lIns="0" tIns="0" rIns="0" bIns="0" rtlCol="0" anchor="t"/>
          <a:lstStyle/>
          <a:p>
            <a:pPr marL="0" indent="0" algn="l">
              <a:lnSpc>
                <a:spcPts val="1600"/>
              </a:lnSpc>
              <a:buNone/>
            </a:pPr>
            <a:r>
              <a:rPr lang="en-US" sz="1300" dirty="0">
                <a:solidFill>
                  <a:srgbClr val="272525"/>
                </a:solidFill>
                <a:latin typeface="Gelasio" pitchFamily="34" charset="0"/>
                <a:ea typeface="Gelasio" pitchFamily="34" charset="-122"/>
                <a:cs typeface="Gelasio" pitchFamily="34" charset="-120"/>
              </a:rPr>
              <a:t>App Gateway WAF v2</a:t>
            </a:r>
            <a:endParaRPr lang="en-US" sz="1300" dirty="0"/>
          </a:p>
        </p:txBody>
      </p:sp>
      <p:sp>
        <p:nvSpPr>
          <p:cNvPr id="32" name="Text 30"/>
          <p:cNvSpPr/>
          <p:nvPr/>
        </p:nvSpPr>
        <p:spPr>
          <a:xfrm>
            <a:off x="7632502" y="4158615"/>
            <a:ext cx="6143149" cy="168116"/>
          </a:xfrm>
          <a:prstGeom prst="rect">
            <a:avLst/>
          </a:prstGeom>
          <a:noFill/>
          <a:ln/>
        </p:spPr>
        <p:txBody>
          <a:bodyPr wrap="none" lIns="0" tIns="0" rIns="0" bIns="0" rtlCol="0" anchor="t"/>
          <a:lstStyle/>
          <a:p>
            <a:pPr marL="0" indent="0" algn="l">
              <a:lnSpc>
                <a:spcPts val="1300"/>
              </a:lnSpc>
              <a:buNone/>
            </a:pPr>
            <a:r>
              <a:rPr lang="en-US" sz="1000" dirty="0">
                <a:solidFill>
                  <a:srgbClr val="272525"/>
                </a:solidFill>
                <a:latin typeface="Lato" pitchFamily="34" charset="0"/>
                <a:ea typeface="Lato" pitchFamily="34" charset="-122"/>
                <a:cs typeface="Lato" pitchFamily="34" charset="-120"/>
              </a:rPr>
              <a:t>OWASP 3.2 Prevention, path-based routing, health probes</a:t>
            </a:r>
            <a:endParaRPr lang="en-US" sz="1000" dirty="0"/>
          </a:p>
        </p:txBody>
      </p:sp>
      <p:sp>
        <p:nvSpPr>
          <p:cNvPr id="33" name="Shape 31"/>
          <p:cNvSpPr/>
          <p:nvPr/>
        </p:nvSpPr>
        <p:spPr>
          <a:xfrm>
            <a:off x="714494" y="4736425"/>
            <a:ext cx="6438900" cy="1336715"/>
          </a:xfrm>
          <a:prstGeom prst="roundRect">
            <a:avLst>
              <a:gd name="adj" fmla="val 4169"/>
            </a:avLst>
          </a:prstGeom>
          <a:solidFill>
            <a:srgbClr val="FFFFFF">
              <a:alpha val="95000"/>
            </a:srgbClr>
          </a:solidFill>
          <a:ln w="15240">
            <a:solidFill>
              <a:srgbClr val="CECEC9"/>
            </a:solidFill>
            <a:prstDash val="solid"/>
          </a:ln>
        </p:spPr>
      </p:sp>
      <p:sp>
        <p:nvSpPr>
          <p:cNvPr id="34" name="Shape 32"/>
          <p:cNvSpPr/>
          <p:nvPr/>
        </p:nvSpPr>
        <p:spPr>
          <a:xfrm>
            <a:off x="729734" y="4751665"/>
            <a:ext cx="6408420" cy="398026"/>
          </a:xfrm>
          <a:prstGeom prst="roundRect">
            <a:avLst>
              <a:gd name="adj" fmla="val 9407"/>
            </a:avLst>
          </a:prstGeom>
          <a:solidFill>
            <a:srgbClr val="E8E8E3"/>
          </a:solidFill>
          <a:ln/>
        </p:spPr>
      </p:sp>
      <p:sp>
        <p:nvSpPr>
          <p:cNvPr id="36" name="Shape 34"/>
          <p:cNvSpPr/>
          <p:nvPr/>
        </p:nvSpPr>
        <p:spPr>
          <a:xfrm>
            <a:off x="862370" y="5227201"/>
            <a:ext cx="696873" cy="214193"/>
          </a:xfrm>
          <a:prstGeom prst="roundRect">
            <a:avLst>
              <a:gd name="adj" fmla="val 20815"/>
            </a:avLst>
          </a:prstGeom>
          <a:solidFill>
            <a:srgbClr val="E8E8E3"/>
          </a:solidFill>
          <a:ln/>
        </p:spPr>
      </p:sp>
      <p:sp>
        <p:nvSpPr>
          <p:cNvPr id="37" name="Text 35"/>
          <p:cNvSpPr/>
          <p:nvPr/>
        </p:nvSpPr>
        <p:spPr>
          <a:xfrm>
            <a:off x="941903" y="5266968"/>
            <a:ext cx="537805" cy="134660"/>
          </a:xfrm>
          <a:prstGeom prst="rect">
            <a:avLst/>
          </a:prstGeom>
          <a:noFill/>
          <a:ln/>
        </p:spPr>
        <p:txBody>
          <a:bodyPr wrap="none" lIns="0" tIns="0" rIns="0" bIns="0" rtlCol="0" anchor="t"/>
          <a:lstStyle/>
          <a:p>
            <a:pPr marL="0" indent="0" algn="l">
              <a:lnSpc>
                <a:spcPts val="1050"/>
              </a:lnSpc>
              <a:buNone/>
            </a:pPr>
            <a:r>
              <a:rPr lang="en-US" sz="800" dirty="0">
                <a:solidFill>
                  <a:srgbClr val="272525"/>
                </a:solidFill>
                <a:latin typeface="Lato" pitchFamily="34" charset="0"/>
                <a:ea typeface="Lato" pitchFamily="34" charset="-122"/>
                <a:cs typeface="Lato" pitchFamily="34" charset="-120"/>
              </a:rPr>
              <a:t>NETWORK</a:t>
            </a:r>
            <a:endParaRPr lang="en-US" sz="800" dirty="0"/>
          </a:p>
        </p:txBody>
      </p:sp>
      <p:sp>
        <p:nvSpPr>
          <p:cNvPr id="38" name="Text 36"/>
          <p:cNvSpPr/>
          <p:nvPr/>
        </p:nvSpPr>
        <p:spPr>
          <a:xfrm>
            <a:off x="862370" y="5472351"/>
            <a:ext cx="1658660" cy="207288"/>
          </a:xfrm>
          <a:prstGeom prst="rect">
            <a:avLst/>
          </a:prstGeom>
          <a:noFill/>
          <a:ln/>
        </p:spPr>
        <p:txBody>
          <a:bodyPr wrap="none" lIns="0" tIns="0" rIns="0" bIns="0" rtlCol="0" anchor="t"/>
          <a:lstStyle/>
          <a:p>
            <a:pPr marL="0" indent="0" algn="l">
              <a:lnSpc>
                <a:spcPts val="1600"/>
              </a:lnSpc>
              <a:buNone/>
            </a:pPr>
            <a:r>
              <a:rPr lang="en-US" sz="1300" dirty="0">
                <a:solidFill>
                  <a:srgbClr val="272525"/>
                </a:solidFill>
                <a:latin typeface="Gelasio" pitchFamily="34" charset="0"/>
                <a:ea typeface="Gelasio" pitchFamily="34" charset="-122"/>
                <a:cs typeface="Gelasio" pitchFamily="34" charset="-120"/>
              </a:rPr>
              <a:t>VNet + NSGs + DNS</a:t>
            </a:r>
            <a:endParaRPr lang="en-US" sz="1300" dirty="0"/>
          </a:p>
        </p:txBody>
      </p:sp>
      <p:sp>
        <p:nvSpPr>
          <p:cNvPr id="39" name="Text 37"/>
          <p:cNvSpPr/>
          <p:nvPr/>
        </p:nvSpPr>
        <p:spPr>
          <a:xfrm>
            <a:off x="862370" y="5757148"/>
            <a:ext cx="6143149" cy="168116"/>
          </a:xfrm>
          <a:prstGeom prst="rect">
            <a:avLst/>
          </a:prstGeom>
          <a:noFill/>
          <a:ln/>
        </p:spPr>
        <p:txBody>
          <a:bodyPr wrap="none" lIns="0" tIns="0" rIns="0" bIns="0" rtlCol="0" anchor="t"/>
          <a:lstStyle/>
          <a:p>
            <a:pPr marL="0" indent="0" algn="l">
              <a:lnSpc>
                <a:spcPts val="1300"/>
              </a:lnSpc>
              <a:buNone/>
            </a:pPr>
            <a:r>
              <a:rPr lang="en-US" sz="1000" dirty="0">
                <a:solidFill>
                  <a:srgbClr val="272525"/>
                </a:solidFill>
                <a:latin typeface="Lato" pitchFamily="34" charset="0"/>
                <a:ea typeface="Lato" pitchFamily="34" charset="-122"/>
                <a:cs typeface="Lato" pitchFamily="34" charset="-120"/>
              </a:rPr>
              <a:t>10.0.0.0/16, 3 subnets, 3 NSGs, Private DNS Zone</a:t>
            </a:r>
            <a:endParaRPr lang="en-US" sz="1000" dirty="0"/>
          </a:p>
        </p:txBody>
      </p:sp>
      <p:sp>
        <p:nvSpPr>
          <p:cNvPr id="40" name="Shape 38"/>
          <p:cNvSpPr/>
          <p:nvPr/>
        </p:nvSpPr>
        <p:spPr>
          <a:xfrm>
            <a:off x="7484626" y="4736425"/>
            <a:ext cx="6438900" cy="1336715"/>
          </a:xfrm>
          <a:prstGeom prst="roundRect">
            <a:avLst>
              <a:gd name="adj" fmla="val 4169"/>
            </a:avLst>
          </a:prstGeom>
          <a:solidFill>
            <a:srgbClr val="FFFFFF">
              <a:alpha val="95000"/>
            </a:srgbClr>
          </a:solidFill>
          <a:ln w="15240">
            <a:solidFill>
              <a:srgbClr val="CECEC9"/>
            </a:solidFill>
            <a:prstDash val="solid"/>
          </a:ln>
        </p:spPr>
      </p:sp>
      <p:sp>
        <p:nvSpPr>
          <p:cNvPr id="41" name="Shape 39"/>
          <p:cNvSpPr/>
          <p:nvPr/>
        </p:nvSpPr>
        <p:spPr>
          <a:xfrm>
            <a:off x="7499866" y="4751665"/>
            <a:ext cx="6408420" cy="398026"/>
          </a:xfrm>
          <a:prstGeom prst="roundRect">
            <a:avLst>
              <a:gd name="adj" fmla="val 9407"/>
            </a:avLst>
          </a:prstGeom>
          <a:solidFill>
            <a:srgbClr val="E8E8E3"/>
          </a:solidFill>
          <a:ln/>
        </p:spPr>
      </p:sp>
      <p:sp>
        <p:nvSpPr>
          <p:cNvPr id="42" name="Text 40"/>
          <p:cNvSpPr/>
          <p:nvPr/>
        </p:nvSpPr>
        <p:spPr>
          <a:xfrm>
            <a:off x="10604540" y="4822508"/>
            <a:ext cx="198953" cy="248722"/>
          </a:xfrm>
          <a:prstGeom prst="rect">
            <a:avLst/>
          </a:prstGeom>
          <a:noFill/>
          <a:ln/>
        </p:spPr>
        <p:txBody>
          <a:bodyPr wrap="none" lIns="0" tIns="0" rIns="0" bIns="0" rtlCol="0" anchor="t"/>
          <a:lstStyle/>
          <a:p>
            <a:pPr marL="0" indent="0" algn="l">
              <a:lnSpc>
                <a:spcPts val="1550"/>
              </a:lnSpc>
              <a:buNone/>
            </a:pPr>
            <a:endParaRPr lang="en-US" sz="1550" dirty="0"/>
          </a:p>
        </p:txBody>
      </p:sp>
      <p:sp>
        <p:nvSpPr>
          <p:cNvPr id="43" name="Shape 41"/>
          <p:cNvSpPr/>
          <p:nvPr/>
        </p:nvSpPr>
        <p:spPr>
          <a:xfrm>
            <a:off x="7632502" y="5227201"/>
            <a:ext cx="855107" cy="214193"/>
          </a:xfrm>
          <a:prstGeom prst="roundRect">
            <a:avLst>
              <a:gd name="adj" fmla="val 20815"/>
            </a:avLst>
          </a:prstGeom>
          <a:solidFill>
            <a:srgbClr val="E8E8E3"/>
          </a:solidFill>
          <a:ln/>
        </p:spPr>
      </p:sp>
      <p:sp>
        <p:nvSpPr>
          <p:cNvPr id="44" name="Text 42"/>
          <p:cNvSpPr/>
          <p:nvPr/>
        </p:nvSpPr>
        <p:spPr>
          <a:xfrm>
            <a:off x="7712035" y="5266968"/>
            <a:ext cx="696039" cy="134660"/>
          </a:xfrm>
          <a:prstGeom prst="rect">
            <a:avLst/>
          </a:prstGeom>
          <a:noFill/>
          <a:ln/>
        </p:spPr>
        <p:txBody>
          <a:bodyPr wrap="none" lIns="0" tIns="0" rIns="0" bIns="0" rtlCol="0" anchor="t"/>
          <a:lstStyle/>
          <a:p>
            <a:pPr marL="0" indent="0" algn="l">
              <a:lnSpc>
                <a:spcPts val="1050"/>
              </a:lnSpc>
              <a:buNone/>
            </a:pPr>
            <a:r>
              <a:rPr lang="en-US" sz="800" dirty="0">
                <a:solidFill>
                  <a:srgbClr val="272525"/>
                </a:solidFill>
                <a:latin typeface="Lato" pitchFamily="34" charset="0"/>
                <a:ea typeface="Lato" pitchFamily="34" charset="-122"/>
                <a:cs typeface="Lato" pitchFamily="34" charset="-120"/>
              </a:rPr>
              <a:t>MONITORING</a:t>
            </a:r>
            <a:endParaRPr lang="en-US" sz="800" dirty="0"/>
          </a:p>
        </p:txBody>
      </p:sp>
      <p:sp>
        <p:nvSpPr>
          <p:cNvPr id="45" name="Text 43"/>
          <p:cNvSpPr/>
          <p:nvPr/>
        </p:nvSpPr>
        <p:spPr>
          <a:xfrm>
            <a:off x="7632502" y="5472351"/>
            <a:ext cx="1658660" cy="207288"/>
          </a:xfrm>
          <a:prstGeom prst="rect">
            <a:avLst/>
          </a:prstGeom>
          <a:noFill/>
          <a:ln/>
        </p:spPr>
        <p:txBody>
          <a:bodyPr wrap="none" lIns="0" tIns="0" rIns="0" bIns="0" rtlCol="0" anchor="t"/>
          <a:lstStyle/>
          <a:p>
            <a:pPr marL="0" indent="0" algn="l">
              <a:lnSpc>
                <a:spcPts val="1600"/>
              </a:lnSpc>
              <a:buNone/>
            </a:pPr>
            <a:r>
              <a:rPr lang="en-US" sz="1300" dirty="0">
                <a:solidFill>
                  <a:srgbClr val="272525"/>
                </a:solidFill>
                <a:latin typeface="Gelasio" pitchFamily="34" charset="0"/>
                <a:ea typeface="Gelasio" pitchFamily="34" charset="-122"/>
                <a:cs typeface="Gelasio" pitchFamily="34" charset="-120"/>
              </a:rPr>
              <a:t>Azure Monitor Stack</a:t>
            </a:r>
            <a:endParaRPr lang="en-US" sz="1300" dirty="0"/>
          </a:p>
        </p:txBody>
      </p:sp>
      <p:sp>
        <p:nvSpPr>
          <p:cNvPr id="46" name="Text 44"/>
          <p:cNvSpPr/>
          <p:nvPr/>
        </p:nvSpPr>
        <p:spPr>
          <a:xfrm>
            <a:off x="7632502" y="5757148"/>
            <a:ext cx="6143149" cy="168116"/>
          </a:xfrm>
          <a:prstGeom prst="rect">
            <a:avLst/>
          </a:prstGeom>
          <a:noFill/>
          <a:ln/>
        </p:spPr>
        <p:txBody>
          <a:bodyPr wrap="none" lIns="0" tIns="0" rIns="0" bIns="0" rtlCol="0" anchor="t"/>
          <a:lstStyle/>
          <a:p>
            <a:pPr marL="0" indent="0" algn="l">
              <a:lnSpc>
                <a:spcPts val="1300"/>
              </a:lnSpc>
              <a:buNone/>
            </a:pPr>
            <a:r>
              <a:rPr lang="en-US" sz="1000" dirty="0">
                <a:solidFill>
                  <a:srgbClr val="272525"/>
                </a:solidFill>
                <a:latin typeface="Lato" pitchFamily="34" charset="0"/>
                <a:ea typeface="Lato" pitchFamily="34" charset="-122"/>
                <a:cs typeface="Lato" pitchFamily="34" charset="-120"/>
              </a:rPr>
              <a:t>Log Analytics + App Insights x2 + 3 alerts + email</a:t>
            </a:r>
            <a:endParaRPr lang="en-US" sz="1000" dirty="0"/>
          </a:p>
        </p:txBody>
      </p:sp>
      <p:sp>
        <p:nvSpPr>
          <p:cNvPr id="47" name="Shape 45"/>
          <p:cNvSpPr/>
          <p:nvPr/>
        </p:nvSpPr>
        <p:spPr>
          <a:xfrm>
            <a:off x="714494" y="6247686"/>
            <a:ext cx="13201412" cy="1305758"/>
          </a:xfrm>
          <a:prstGeom prst="roundRect">
            <a:avLst>
              <a:gd name="adj" fmla="val 4268"/>
            </a:avLst>
          </a:prstGeom>
          <a:solidFill>
            <a:srgbClr val="FFFFFF">
              <a:alpha val="95000"/>
            </a:srgbClr>
          </a:solidFill>
          <a:ln w="15240">
            <a:solidFill>
              <a:srgbClr val="CECEC9"/>
            </a:solidFill>
            <a:prstDash val="solid"/>
          </a:ln>
        </p:spPr>
      </p:sp>
      <p:sp>
        <p:nvSpPr>
          <p:cNvPr id="48" name="Shape 46"/>
          <p:cNvSpPr/>
          <p:nvPr/>
        </p:nvSpPr>
        <p:spPr>
          <a:xfrm>
            <a:off x="729734" y="6262926"/>
            <a:ext cx="13170932" cy="398026"/>
          </a:xfrm>
          <a:prstGeom prst="roundRect">
            <a:avLst>
              <a:gd name="adj" fmla="val 9407"/>
            </a:avLst>
          </a:prstGeom>
          <a:solidFill>
            <a:srgbClr val="E8E8E3"/>
          </a:solidFill>
          <a:ln/>
        </p:spPr>
      </p:sp>
      <p:sp>
        <p:nvSpPr>
          <p:cNvPr id="49" name="Text 47"/>
          <p:cNvSpPr/>
          <p:nvPr/>
        </p:nvSpPr>
        <p:spPr>
          <a:xfrm>
            <a:off x="7215664" y="6333768"/>
            <a:ext cx="198953" cy="248722"/>
          </a:xfrm>
          <a:prstGeom prst="rect">
            <a:avLst/>
          </a:prstGeom>
          <a:noFill/>
          <a:ln/>
        </p:spPr>
        <p:txBody>
          <a:bodyPr wrap="none" lIns="0" tIns="0" rIns="0" bIns="0" rtlCol="0" anchor="t"/>
          <a:lstStyle/>
          <a:p>
            <a:pPr marL="0" indent="0" algn="l">
              <a:lnSpc>
                <a:spcPts val="1550"/>
              </a:lnSpc>
              <a:buNone/>
            </a:pPr>
            <a:endParaRPr lang="en-US" sz="1550" dirty="0"/>
          </a:p>
        </p:txBody>
      </p:sp>
      <p:sp>
        <p:nvSpPr>
          <p:cNvPr id="50" name="Shape 48"/>
          <p:cNvSpPr/>
          <p:nvPr/>
        </p:nvSpPr>
        <p:spPr>
          <a:xfrm>
            <a:off x="862370" y="6738461"/>
            <a:ext cx="453747" cy="214193"/>
          </a:xfrm>
          <a:prstGeom prst="roundRect">
            <a:avLst>
              <a:gd name="adj" fmla="val 20815"/>
            </a:avLst>
          </a:prstGeom>
          <a:solidFill>
            <a:srgbClr val="E8E8E3"/>
          </a:solidFill>
          <a:ln/>
        </p:spPr>
      </p:sp>
      <p:sp>
        <p:nvSpPr>
          <p:cNvPr id="51" name="Text 49"/>
          <p:cNvSpPr/>
          <p:nvPr/>
        </p:nvSpPr>
        <p:spPr>
          <a:xfrm>
            <a:off x="941903" y="6778228"/>
            <a:ext cx="294680" cy="134660"/>
          </a:xfrm>
          <a:prstGeom prst="rect">
            <a:avLst/>
          </a:prstGeom>
          <a:noFill/>
          <a:ln/>
        </p:spPr>
        <p:txBody>
          <a:bodyPr wrap="none" lIns="0" tIns="0" rIns="0" bIns="0" rtlCol="0" anchor="t"/>
          <a:lstStyle/>
          <a:p>
            <a:pPr marL="0" indent="0" algn="l">
              <a:lnSpc>
                <a:spcPts val="1050"/>
              </a:lnSpc>
              <a:buNone/>
            </a:pPr>
            <a:r>
              <a:rPr lang="en-US" sz="800" dirty="0">
                <a:solidFill>
                  <a:srgbClr val="272525"/>
                </a:solidFill>
                <a:latin typeface="Lato" pitchFamily="34" charset="0"/>
                <a:ea typeface="Lato" pitchFamily="34" charset="-122"/>
                <a:cs typeface="Lato" pitchFamily="34" charset="-120"/>
              </a:rPr>
              <a:t>CI/CD</a:t>
            </a:r>
            <a:endParaRPr lang="en-US" sz="800" dirty="0"/>
          </a:p>
        </p:txBody>
      </p:sp>
      <p:sp>
        <p:nvSpPr>
          <p:cNvPr id="52" name="Text 50"/>
          <p:cNvSpPr/>
          <p:nvPr/>
        </p:nvSpPr>
        <p:spPr>
          <a:xfrm>
            <a:off x="862370" y="6983611"/>
            <a:ext cx="1658660" cy="207288"/>
          </a:xfrm>
          <a:prstGeom prst="rect">
            <a:avLst/>
          </a:prstGeom>
          <a:noFill/>
          <a:ln/>
        </p:spPr>
        <p:txBody>
          <a:bodyPr wrap="none" lIns="0" tIns="0" rIns="0" bIns="0" rtlCol="0" anchor="t"/>
          <a:lstStyle/>
          <a:p>
            <a:pPr marL="0" indent="0" algn="l">
              <a:lnSpc>
                <a:spcPts val="1600"/>
              </a:lnSpc>
              <a:buNone/>
            </a:pPr>
            <a:r>
              <a:rPr lang="en-US" sz="1300" dirty="0">
                <a:solidFill>
                  <a:srgbClr val="272525"/>
                </a:solidFill>
                <a:latin typeface="Gelasio" pitchFamily="34" charset="0"/>
                <a:ea typeface="Gelasio" pitchFamily="34" charset="-122"/>
                <a:cs typeface="Gelasio" pitchFamily="34" charset="-120"/>
              </a:rPr>
              <a:t>GitHub Actions</a:t>
            </a:r>
            <a:endParaRPr lang="en-US" sz="1300" dirty="0"/>
          </a:p>
        </p:txBody>
      </p:sp>
      <p:sp>
        <p:nvSpPr>
          <p:cNvPr id="53" name="Text 51"/>
          <p:cNvSpPr/>
          <p:nvPr/>
        </p:nvSpPr>
        <p:spPr>
          <a:xfrm>
            <a:off x="862370" y="7237452"/>
            <a:ext cx="12905661" cy="168116"/>
          </a:xfrm>
          <a:prstGeom prst="rect">
            <a:avLst/>
          </a:prstGeom>
          <a:noFill/>
          <a:ln/>
        </p:spPr>
        <p:txBody>
          <a:bodyPr wrap="none" lIns="0" tIns="0" rIns="0" bIns="0" rtlCol="0" anchor="t"/>
          <a:lstStyle/>
          <a:p>
            <a:pPr marL="0" indent="0" algn="l">
              <a:lnSpc>
                <a:spcPts val="1300"/>
              </a:lnSpc>
              <a:buNone/>
            </a:pPr>
            <a:r>
              <a:rPr lang="en-US" sz="1000" dirty="0">
                <a:solidFill>
                  <a:srgbClr val="272525"/>
                </a:solidFill>
                <a:latin typeface="Lato" pitchFamily="34" charset="0"/>
                <a:ea typeface="Lato" pitchFamily="34" charset="-122"/>
                <a:cs typeface="Lato" pitchFamily="34" charset="-120"/>
              </a:rPr>
              <a:t>Self-hosted runner on Ubuntu VM inside VNet</a:t>
            </a:r>
            <a:endParaRPr lang="en-US" sz="1000" dirty="0"/>
          </a:p>
        </p:txBody>
      </p:sp>
      <p:sp>
        <p:nvSpPr>
          <p:cNvPr id="54" name="Rectangle 53">
            <a:extLst>
              <a:ext uri="{FF2B5EF4-FFF2-40B4-BE49-F238E27FC236}">
                <a16:creationId xmlns:a16="http://schemas.microsoft.com/office/drawing/2014/main" id="{DA852E6B-A5CE-43FB-AED5-95F4F5FCEF64}"/>
              </a:ext>
            </a:extLst>
          </p:cNvPr>
          <p:cNvSpPr/>
          <p:nvPr/>
        </p:nvSpPr>
        <p:spPr>
          <a:xfrm>
            <a:off x="12841793" y="7757327"/>
            <a:ext cx="1788607" cy="472273"/>
          </a:xfrm>
          <a:prstGeom prst="rect">
            <a:avLst/>
          </a:prstGeom>
          <a:solidFill>
            <a:srgbClr val="FDFD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793790" y="915114"/>
            <a:ext cx="3663553" cy="426244"/>
          </a:xfrm>
          <a:prstGeom prst="roundRect">
            <a:avLst>
              <a:gd name="adj" fmla="val 17880"/>
            </a:avLst>
          </a:prstGeom>
          <a:solidFill>
            <a:srgbClr val="E8E8E3"/>
          </a:solidFill>
          <a:ln/>
        </p:spPr>
      </p:sp>
      <p:sp>
        <p:nvSpPr>
          <p:cNvPr id="3" name="Text 1"/>
          <p:cNvSpPr/>
          <p:nvPr/>
        </p:nvSpPr>
        <p:spPr>
          <a:xfrm>
            <a:off x="929878" y="983099"/>
            <a:ext cx="3391376" cy="290274"/>
          </a:xfrm>
          <a:prstGeom prst="rect">
            <a:avLst/>
          </a:prstGeom>
          <a:noFill/>
          <a:ln/>
        </p:spPr>
        <p:txBody>
          <a:bodyPr wrap="none" lIns="0" tIns="0" rIns="0" bIns="0" rtlCol="0" anchor="t"/>
          <a:lstStyle/>
          <a:p>
            <a:pPr marL="0" indent="0" algn="l">
              <a:lnSpc>
                <a:spcPts val="2250"/>
              </a:lnSpc>
              <a:buNone/>
            </a:pPr>
            <a:r>
              <a:rPr lang="en-US" sz="1400" dirty="0">
                <a:solidFill>
                  <a:srgbClr val="272525"/>
                </a:solidFill>
                <a:latin typeface="Lato" pitchFamily="34" charset="0"/>
                <a:ea typeface="Lato" pitchFamily="34" charset="-122"/>
                <a:cs typeface="Lato" pitchFamily="34" charset="-120"/>
              </a:rPr>
              <a:t>TEAMWORK &amp; PROJECT MANAGEMENT</a:t>
            </a:r>
            <a:endParaRPr lang="en-US" sz="1400" dirty="0"/>
          </a:p>
        </p:txBody>
      </p:sp>
      <p:sp>
        <p:nvSpPr>
          <p:cNvPr id="4" name="Text 2"/>
          <p:cNvSpPr/>
          <p:nvPr/>
        </p:nvSpPr>
        <p:spPr>
          <a:xfrm>
            <a:off x="793790" y="1432084"/>
            <a:ext cx="7456884" cy="708779"/>
          </a:xfrm>
          <a:prstGeom prst="rect">
            <a:avLst/>
          </a:prstGeom>
          <a:noFill/>
          <a:ln/>
        </p:spPr>
        <p:txBody>
          <a:bodyPr wrap="none" lIns="0" tIns="0" rIns="0" bIns="0" rtlCol="0" anchor="t"/>
          <a:lstStyle/>
          <a:p>
            <a:pPr marL="0" indent="0" algn="l">
              <a:lnSpc>
                <a:spcPts val="5550"/>
              </a:lnSpc>
              <a:buNone/>
            </a:pPr>
            <a:r>
              <a:rPr lang="en-US" sz="4450" dirty="0">
                <a:solidFill>
                  <a:srgbClr val="312F2B"/>
                </a:solidFill>
                <a:latin typeface="Gelasio" pitchFamily="34" charset="0"/>
                <a:ea typeface="Gelasio" pitchFamily="34" charset="-122"/>
                <a:cs typeface="Gelasio" pitchFamily="34" charset="-120"/>
              </a:rPr>
              <a:t>How We Managed the Project</a:t>
            </a:r>
            <a:endParaRPr lang="en-US" sz="4450" dirty="0"/>
          </a:p>
        </p:txBody>
      </p:sp>
      <p:sp>
        <p:nvSpPr>
          <p:cNvPr id="5" name="Text 3"/>
          <p:cNvSpPr/>
          <p:nvPr/>
        </p:nvSpPr>
        <p:spPr>
          <a:xfrm>
            <a:off x="793790" y="2707838"/>
            <a:ext cx="3093482" cy="354330"/>
          </a:xfrm>
          <a:prstGeom prst="rect">
            <a:avLst/>
          </a:prstGeom>
          <a:noFill/>
          <a:ln/>
        </p:spPr>
        <p:txBody>
          <a:bodyPr wrap="none" lIns="0" tIns="0" rIns="0" bIns="0" rtlCol="0" anchor="t"/>
          <a:lstStyle/>
          <a:p>
            <a:pPr marL="0" indent="0" algn="l">
              <a:lnSpc>
                <a:spcPts val="2750"/>
              </a:lnSpc>
              <a:buNone/>
            </a:pPr>
            <a:r>
              <a:rPr lang="en-US" sz="2200" dirty="0">
                <a:solidFill>
                  <a:srgbClr val="312F2B"/>
                </a:solidFill>
                <a:latin typeface="Gelasio" pitchFamily="34" charset="0"/>
                <a:ea typeface="Gelasio" pitchFamily="34" charset="-122"/>
                <a:cs typeface="Gelasio" pitchFamily="34" charset="-120"/>
              </a:rPr>
              <a:t>WHAT WORKED WELL</a:t>
            </a:r>
            <a:endParaRPr lang="en-US" sz="2200" dirty="0"/>
          </a:p>
        </p:txBody>
      </p:sp>
      <p:sp>
        <p:nvSpPr>
          <p:cNvPr id="6" name="Text 4"/>
          <p:cNvSpPr/>
          <p:nvPr/>
        </p:nvSpPr>
        <p:spPr>
          <a:xfrm>
            <a:off x="793790" y="3288983"/>
            <a:ext cx="6244709" cy="3946207"/>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72525"/>
                </a:solidFill>
                <a:latin typeface="Lato" pitchFamily="34" charset="0"/>
                <a:ea typeface="Lato" pitchFamily="34" charset="-122"/>
                <a:cs typeface="Lato" pitchFamily="34" charset="-120"/>
              </a:rPr>
              <a:t> Divided phases clearly: networking → database → app → gateway → monitoring</a:t>
            </a:r>
            <a:endParaRPr lang="en-US" sz="1750" dirty="0"/>
          </a:p>
          <a:p>
            <a:pPr marL="342900" indent="-342900" algn="l">
              <a:lnSpc>
                <a:spcPts val="2850"/>
              </a:lnSpc>
              <a:buSzPct val="100000"/>
              <a:buChar char="•"/>
            </a:pPr>
            <a:r>
              <a:rPr lang="en-US" sz="1750" dirty="0">
                <a:solidFill>
                  <a:srgbClr val="272525"/>
                </a:solidFill>
                <a:latin typeface="Lato" pitchFamily="34" charset="0"/>
                <a:ea typeface="Lato" pitchFamily="34" charset="-122"/>
                <a:cs typeface="Lato" pitchFamily="34" charset="-120"/>
              </a:rPr>
              <a:t> Tackled infrastructure first before touching application code</a:t>
            </a:r>
            <a:endParaRPr lang="en-US" sz="1750" dirty="0"/>
          </a:p>
          <a:p>
            <a:pPr marL="342900" indent="-342900" algn="l">
              <a:lnSpc>
                <a:spcPts val="2850"/>
              </a:lnSpc>
              <a:buSzPct val="100000"/>
              <a:buChar char="•"/>
            </a:pPr>
            <a:r>
              <a:rPr lang="en-US" sz="1750" dirty="0">
                <a:solidFill>
                  <a:srgbClr val="272525"/>
                </a:solidFill>
                <a:latin typeface="Lato" pitchFamily="34" charset="0"/>
                <a:ea typeface="Lato" pitchFamily="34" charset="-122"/>
                <a:cs typeface="Lato" pitchFamily="34" charset="-120"/>
              </a:rPr>
              <a:t> Documented every Azure resource name and IP as we went — avoided confusion later</a:t>
            </a:r>
            <a:endParaRPr lang="en-US" sz="1750" dirty="0"/>
          </a:p>
          <a:p>
            <a:pPr marL="342900" indent="-342900" algn="l">
              <a:lnSpc>
                <a:spcPts val="2850"/>
              </a:lnSpc>
              <a:buSzPct val="100000"/>
              <a:buChar char="•"/>
            </a:pPr>
            <a:r>
              <a:rPr lang="en-US" sz="1750" dirty="0">
                <a:solidFill>
                  <a:srgbClr val="272525"/>
                </a:solidFill>
                <a:latin typeface="Lato" pitchFamily="34" charset="0"/>
                <a:ea typeface="Lato" pitchFamily="34" charset="-122"/>
                <a:cs typeface="Lato" pitchFamily="34" charset="-120"/>
              </a:rPr>
              <a:t> Used Azure Log Stream to debug backend startup failures in real time</a:t>
            </a:r>
            <a:endParaRPr lang="en-US" sz="1750" dirty="0"/>
          </a:p>
          <a:p>
            <a:pPr marL="342900" indent="-342900" algn="l">
              <a:lnSpc>
                <a:spcPts val="2850"/>
              </a:lnSpc>
              <a:buSzPct val="100000"/>
              <a:buChar char="•"/>
            </a:pPr>
            <a:r>
              <a:rPr lang="en-US" sz="1750" dirty="0">
                <a:solidFill>
                  <a:srgbClr val="272525"/>
                </a:solidFill>
                <a:latin typeface="Lato" pitchFamily="34" charset="0"/>
                <a:ea typeface="Lato" pitchFamily="34" charset="-122"/>
                <a:cs typeface="Lato" pitchFamily="34" charset="-120"/>
              </a:rPr>
              <a:t> Verified each phase worked before moving to the next (test-as-you-go)</a:t>
            </a:r>
            <a:endParaRPr lang="en-US" sz="1750" dirty="0"/>
          </a:p>
        </p:txBody>
      </p:sp>
      <p:sp>
        <p:nvSpPr>
          <p:cNvPr id="7" name="Text 5"/>
          <p:cNvSpPr/>
          <p:nvPr/>
        </p:nvSpPr>
        <p:spPr>
          <a:xfrm>
            <a:off x="7599521" y="2707838"/>
            <a:ext cx="3980617" cy="354330"/>
          </a:xfrm>
          <a:prstGeom prst="rect">
            <a:avLst/>
          </a:prstGeom>
          <a:noFill/>
          <a:ln/>
        </p:spPr>
        <p:txBody>
          <a:bodyPr wrap="none" lIns="0" tIns="0" rIns="0" bIns="0" rtlCol="0" anchor="t"/>
          <a:lstStyle/>
          <a:p>
            <a:pPr marL="0" indent="0" algn="l">
              <a:lnSpc>
                <a:spcPts val="2750"/>
              </a:lnSpc>
              <a:buNone/>
            </a:pPr>
            <a:r>
              <a:rPr lang="en-US" sz="2200" dirty="0">
                <a:solidFill>
                  <a:srgbClr val="312F2B"/>
                </a:solidFill>
                <a:latin typeface="Gelasio" pitchFamily="34" charset="0"/>
                <a:ea typeface="Gelasio" pitchFamily="34" charset="-122"/>
                <a:cs typeface="Gelasio" pitchFamily="34" charset="-120"/>
              </a:rPr>
              <a:t>WHAT COULD BE IMPROVED</a:t>
            </a:r>
            <a:endParaRPr lang="en-US" sz="2200" dirty="0"/>
          </a:p>
        </p:txBody>
      </p:sp>
      <p:sp>
        <p:nvSpPr>
          <p:cNvPr id="8" name="Text 6"/>
          <p:cNvSpPr/>
          <p:nvPr/>
        </p:nvSpPr>
        <p:spPr>
          <a:xfrm>
            <a:off x="7599521" y="3288983"/>
            <a:ext cx="6244709" cy="3946207"/>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72525"/>
                </a:solidFill>
                <a:latin typeface="Lato" pitchFamily="34" charset="0"/>
                <a:ea typeface="Lato" pitchFamily="34" charset="-122"/>
                <a:cs typeface="Lato" pitchFamily="34" charset="-120"/>
              </a:rPr>
              <a:t> Plan for shared subscription permission limits earlier — cost us significant time</a:t>
            </a:r>
            <a:endParaRPr lang="en-US" sz="1750" dirty="0"/>
          </a:p>
          <a:p>
            <a:pPr marL="342900" indent="-342900" algn="l">
              <a:lnSpc>
                <a:spcPts val="2850"/>
              </a:lnSpc>
              <a:buSzPct val="100000"/>
              <a:buChar char="•"/>
            </a:pPr>
            <a:r>
              <a:rPr lang="en-US" sz="1750" dirty="0">
                <a:solidFill>
                  <a:srgbClr val="272525"/>
                </a:solidFill>
                <a:latin typeface="Lato" pitchFamily="34" charset="0"/>
                <a:ea typeface="Lato" pitchFamily="34" charset="-122"/>
                <a:cs typeface="Lato" pitchFamily="34" charset="-120"/>
              </a:rPr>
              <a:t> Set up the self-hosted runner at the start, not mid-project when deploys failed</a:t>
            </a:r>
            <a:endParaRPr lang="en-US" sz="1750" dirty="0"/>
          </a:p>
          <a:p>
            <a:pPr marL="342900" indent="-342900" algn="l">
              <a:lnSpc>
                <a:spcPts val="2850"/>
              </a:lnSpc>
              <a:buSzPct val="100000"/>
              <a:buChar char="•"/>
            </a:pPr>
            <a:r>
              <a:rPr lang="en-US" sz="1750" dirty="0">
                <a:solidFill>
                  <a:srgbClr val="272525"/>
                </a:solidFill>
                <a:latin typeface="Lato" pitchFamily="34" charset="0"/>
                <a:ea typeface="Lato" pitchFamily="34" charset="-122"/>
                <a:cs typeface="Lato" pitchFamily="34" charset="-120"/>
              </a:rPr>
              <a:t> Test App Gateway health probes immediately after creation, not after routing rules</a:t>
            </a:r>
            <a:endParaRPr lang="en-US" sz="1750" dirty="0"/>
          </a:p>
          <a:p>
            <a:pPr marL="342900" indent="-342900" algn="l">
              <a:lnSpc>
                <a:spcPts val="2850"/>
              </a:lnSpc>
              <a:buSzPct val="100000"/>
              <a:buChar char="•"/>
            </a:pPr>
            <a:r>
              <a:rPr lang="en-US" sz="1750" dirty="0">
                <a:solidFill>
                  <a:srgbClr val="272525"/>
                </a:solidFill>
                <a:latin typeface="Lato" pitchFamily="34" charset="0"/>
                <a:ea typeface="Lato" pitchFamily="34" charset="-122"/>
                <a:cs typeface="Lato" pitchFamily="34" charset="-120"/>
              </a:rPr>
              <a:t> Use Infrastructure as Code (Terraform/Bicep) to avoid manual portal clicks</a:t>
            </a:r>
            <a:endParaRPr lang="en-US" sz="1750" dirty="0"/>
          </a:p>
          <a:p>
            <a:pPr marL="342900" indent="-342900" algn="l">
              <a:lnSpc>
                <a:spcPts val="2850"/>
              </a:lnSpc>
              <a:buSzPct val="100000"/>
              <a:buChar char="•"/>
            </a:pPr>
            <a:r>
              <a:rPr lang="en-US" sz="1750" dirty="0">
                <a:solidFill>
                  <a:srgbClr val="272525"/>
                </a:solidFill>
                <a:latin typeface="Lato" pitchFamily="34" charset="0"/>
                <a:ea typeface="Lato" pitchFamily="34" charset="-122"/>
                <a:cs typeface="Lato" pitchFamily="34" charset="-120"/>
              </a:rPr>
              <a:t> Allocate more time for monitoring setup — left to the end, slightly rushed</a:t>
            </a:r>
            <a:endParaRPr lang="en-US" sz="1750" dirty="0"/>
          </a:p>
        </p:txBody>
      </p:sp>
      <p:sp>
        <p:nvSpPr>
          <p:cNvPr id="9" name="Rectangle 8">
            <a:extLst>
              <a:ext uri="{FF2B5EF4-FFF2-40B4-BE49-F238E27FC236}">
                <a16:creationId xmlns:a16="http://schemas.microsoft.com/office/drawing/2014/main" id="{72766916-50BE-42F6-859B-DBC84CAE75BA}"/>
              </a:ext>
            </a:extLst>
          </p:cNvPr>
          <p:cNvSpPr/>
          <p:nvPr/>
        </p:nvSpPr>
        <p:spPr>
          <a:xfrm>
            <a:off x="12841793" y="7757327"/>
            <a:ext cx="1788607" cy="472273"/>
          </a:xfrm>
          <a:prstGeom prst="rect">
            <a:avLst/>
          </a:prstGeom>
          <a:solidFill>
            <a:srgbClr val="FDFD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123217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12F2B"/>
                </a:solidFill>
                <a:latin typeface="Gelasio" pitchFamily="34" charset="0"/>
                <a:ea typeface="Gelasio" pitchFamily="34" charset="-122"/>
                <a:cs typeface="Gelasio" pitchFamily="34" charset="-120"/>
              </a:rPr>
              <a:t>MAJOR OBSTACLE</a:t>
            </a:r>
            <a:endParaRPr lang="en-US" sz="2200" dirty="0"/>
          </a:p>
        </p:txBody>
      </p:sp>
      <p:sp>
        <p:nvSpPr>
          <p:cNvPr id="3" name="Text 1"/>
          <p:cNvSpPr/>
          <p:nvPr/>
        </p:nvSpPr>
        <p:spPr>
          <a:xfrm>
            <a:off x="793790" y="1677233"/>
            <a:ext cx="6641306" cy="708779"/>
          </a:xfrm>
          <a:prstGeom prst="rect">
            <a:avLst/>
          </a:prstGeom>
          <a:noFill/>
          <a:ln/>
        </p:spPr>
        <p:txBody>
          <a:bodyPr wrap="none" lIns="0" tIns="0" rIns="0" bIns="0" rtlCol="0" anchor="t"/>
          <a:lstStyle/>
          <a:p>
            <a:pPr marL="0" indent="0" algn="l">
              <a:lnSpc>
                <a:spcPts val="5550"/>
              </a:lnSpc>
              <a:buNone/>
            </a:pPr>
            <a:r>
              <a:rPr lang="en-US" sz="4450" dirty="0">
                <a:solidFill>
                  <a:srgbClr val="312F2B"/>
                </a:solidFill>
                <a:latin typeface="Gelasio" pitchFamily="34" charset="0"/>
                <a:ea typeface="Gelasio" pitchFamily="34" charset="-122"/>
                <a:cs typeface="Gelasio" pitchFamily="34" charset="-120"/>
              </a:rPr>
              <a:t>The Deployment Deadlock</a:t>
            </a:r>
            <a:endParaRPr lang="en-US" sz="4450" dirty="0"/>
          </a:p>
        </p:txBody>
      </p:sp>
      <p:sp>
        <p:nvSpPr>
          <p:cNvPr id="4" name="Shape 2"/>
          <p:cNvSpPr/>
          <p:nvPr/>
        </p:nvSpPr>
        <p:spPr>
          <a:xfrm>
            <a:off x="793790" y="2726174"/>
            <a:ext cx="4196358" cy="4271129"/>
          </a:xfrm>
          <a:prstGeom prst="roundRect">
            <a:avLst>
              <a:gd name="adj" fmla="val 3486"/>
            </a:avLst>
          </a:prstGeom>
          <a:solidFill>
            <a:srgbClr val="FFFFFF">
              <a:alpha val="95000"/>
            </a:srgbClr>
          </a:solidFill>
          <a:ln w="30480">
            <a:solidFill>
              <a:srgbClr val="CECEC9"/>
            </a:solidFill>
            <a:prstDash val="solid"/>
          </a:ln>
        </p:spPr>
      </p:sp>
      <p:sp>
        <p:nvSpPr>
          <p:cNvPr id="5" name="Shape 3"/>
          <p:cNvSpPr/>
          <p:nvPr/>
        </p:nvSpPr>
        <p:spPr>
          <a:xfrm>
            <a:off x="763310" y="2726174"/>
            <a:ext cx="121920" cy="4271129"/>
          </a:xfrm>
          <a:prstGeom prst="roundRect">
            <a:avLst>
              <a:gd name="adj" fmla="val 78139"/>
            </a:avLst>
          </a:prstGeom>
          <a:solidFill>
            <a:srgbClr val="E5E5E0"/>
          </a:solidFill>
          <a:ln/>
        </p:spPr>
      </p:sp>
      <p:sp>
        <p:nvSpPr>
          <p:cNvPr id="6" name="Text 4"/>
          <p:cNvSpPr/>
          <p:nvPr/>
        </p:nvSpPr>
        <p:spPr>
          <a:xfrm>
            <a:off x="1142524" y="298346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Gelasio" pitchFamily="34" charset="0"/>
                <a:ea typeface="Gelasio" pitchFamily="34" charset="-122"/>
                <a:cs typeface="Gelasio" pitchFamily="34" charset="-120"/>
              </a:rPr>
              <a:t>THE PROBLEM</a:t>
            </a:r>
            <a:endParaRPr lang="en-US" sz="2200" dirty="0"/>
          </a:p>
        </p:txBody>
      </p:sp>
      <p:sp>
        <p:nvSpPr>
          <p:cNvPr id="7" name="Text 5"/>
          <p:cNvSpPr/>
          <p:nvPr/>
        </p:nvSpPr>
        <p:spPr>
          <a:xfrm>
            <a:off x="1142524" y="3473887"/>
            <a:ext cx="3590330" cy="3266123"/>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Lato" pitchFamily="34" charset="0"/>
                <a:ea typeface="Lato" pitchFamily="34" charset="-122"/>
                <a:cs typeface="Lato" pitchFamily="34" charset="-120"/>
              </a:rPr>
              <a:t>With public access disabled on App Services (correct architecture), GitHub Actions cloud runners received 403 Forbidden on every deploy attempt. The SCM endpoint was blocked. We couldn't deploy code to the backend — stuck for over an hour trying different workarounds.</a:t>
            </a:r>
            <a:endParaRPr lang="en-US" sz="1750" dirty="0"/>
          </a:p>
        </p:txBody>
      </p:sp>
      <p:sp>
        <p:nvSpPr>
          <p:cNvPr id="8" name="Shape 6"/>
          <p:cNvSpPr/>
          <p:nvPr/>
        </p:nvSpPr>
        <p:spPr>
          <a:xfrm>
            <a:off x="5216962" y="2726174"/>
            <a:ext cx="4196358" cy="4271129"/>
          </a:xfrm>
          <a:prstGeom prst="roundRect">
            <a:avLst>
              <a:gd name="adj" fmla="val 3486"/>
            </a:avLst>
          </a:prstGeom>
          <a:solidFill>
            <a:srgbClr val="FFFFFF">
              <a:alpha val="95000"/>
            </a:srgbClr>
          </a:solidFill>
          <a:ln w="30480">
            <a:solidFill>
              <a:srgbClr val="CECEC9"/>
            </a:solidFill>
            <a:prstDash val="solid"/>
          </a:ln>
        </p:spPr>
      </p:sp>
      <p:sp>
        <p:nvSpPr>
          <p:cNvPr id="9" name="Shape 7"/>
          <p:cNvSpPr/>
          <p:nvPr/>
        </p:nvSpPr>
        <p:spPr>
          <a:xfrm>
            <a:off x="5186482" y="2726174"/>
            <a:ext cx="121920" cy="4271129"/>
          </a:xfrm>
          <a:prstGeom prst="roundRect">
            <a:avLst>
              <a:gd name="adj" fmla="val 78139"/>
            </a:avLst>
          </a:prstGeom>
          <a:solidFill>
            <a:srgbClr val="E5E5E0"/>
          </a:solidFill>
          <a:ln/>
        </p:spPr>
      </p:sp>
      <p:sp>
        <p:nvSpPr>
          <p:cNvPr id="10" name="Text 8"/>
          <p:cNvSpPr/>
          <p:nvPr/>
        </p:nvSpPr>
        <p:spPr>
          <a:xfrm>
            <a:off x="5565696" y="298346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Gelasio" pitchFamily="34" charset="0"/>
                <a:ea typeface="Gelasio" pitchFamily="34" charset="-122"/>
                <a:cs typeface="Gelasio" pitchFamily="34" charset="-120"/>
              </a:rPr>
              <a:t>THE SOLUTION</a:t>
            </a:r>
            <a:endParaRPr lang="en-US" sz="2200" dirty="0"/>
          </a:p>
        </p:txBody>
      </p:sp>
      <p:sp>
        <p:nvSpPr>
          <p:cNvPr id="11" name="Text 9"/>
          <p:cNvSpPr/>
          <p:nvPr/>
        </p:nvSpPr>
        <p:spPr>
          <a:xfrm>
            <a:off x="5565696" y="3473887"/>
            <a:ext cx="3590330" cy="2903220"/>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Lato" pitchFamily="34" charset="0"/>
                <a:ea typeface="Lato" pitchFamily="34" charset="-122"/>
                <a:cs typeface="Lato" pitchFamily="34" charset="-120"/>
              </a:rPr>
              <a:t>Deployed a self-hosted GitHub Actions runner on an Ubuntu VM inside the VNet. Jobs now run from within the private network — the App Service sees the request as internal traffic and allows it. CI/CD works without compromising the security model.</a:t>
            </a:r>
            <a:endParaRPr lang="en-US" sz="1750" dirty="0"/>
          </a:p>
        </p:txBody>
      </p:sp>
      <p:sp>
        <p:nvSpPr>
          <p:cNvPr id="12" name="Shape 10"/>
          <p:cNvSpPr/>
          <p:nvPr/>
        </p:nvSpPr>
        <p:spPr>
          <a:xfrm>
            <a:off x="9640133" y="2726174"/>
            <a:ext cx="4196358" cy="4271129"/>
          </a:xfrm>
          <a:prstGeom prst="roundRect">
            <a:avLst>
              <a:gd name="adj" fmla="val 3486"/>
            </a:avLst>
          </a:prstGeom>
          <a:solidFill>
            <a:srgbClr val="FFFFFF">
              <a:alpha val="95000"/>
            </a:srgbClr>
          </a:solidFill>
          <a:ln w="30480">
            <a:solidFill>
              <a:srgbClr val="CECEC9"/>
            </a:solidFill>
            <a:prstDash val="solid"/>
          </a:ln>
        </p:spPr>
      </p:sp>
      <p:sp>
        <p:nvSpPr>
          <p:cNvPr id="13" name="Shape 11"/>
          <p:cNvSpPr/>
          <p:nvPr/>
        </p:nvSpPr>
        <p:spPr>
          <a:xfrm>
            <a:off x="9609653" y="2726174"/>
            <a:ext cx="121920" cy="4271129"/>
          </a:xfrm>
          <a:prstGeom prst="roundRect">
            <a:avLst>
              <a:gd name="adj" fmla="val 78139"/>
            </a:avLst>
          </a:prstGeom>
          <a:solidFill>
            <a:srgbClr val="E5E5E0"/>
          </a:solidFill>
          <a:ln/>
        </p:spPr>
      </p:sp>
      <p:sp>
        <p:nvSpPr>
          <p:cNvPr id="14" name="Text 12"/>
          <p:cNvSpPr/>
          <p:nvPr/>
        </p:nvSpPr>
        <p:spPr>
          <a:xfrm>
            <a:off x="9988868" y="298346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Gelasio" pitchFamily="34" charset="0"/>
                <a:ea typeface="Gelasio" pitchFamily="34" charset="-122"/>
                <a:cs typeface="Gelasio" pitchFamily="34" charset="-120"/>
              </a:rPr>
              <a:t>WHAT WE LEARNED</a:t>
            </a:r>
            <a:endParaRPr lang="en-US" sz="2200" dirty="0"/>
          </a:p>
        </p:txBody>
      </p:sp>
      <p:sp>
        <p:nvSpPr>
          <p:cNvPr id="15" name="Text 13"/>
          <p:cNvSpPr/>
          <p:nvPr/>
        </p:nvSpPr>
        <p:spPr>
          <a:xfrm>
            <a:off x="9988868" y="3473887"/>
            <a:ext cx="3590330" cy="2903220"/>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Lato" pitchFamily="34" charset="0"/>
                <a:ea typeface="Lato" pitchFamily="34" charset="-122"/>
                <a:cs typeface="Lato" pitchFamily="34" charset="-120"/>
              </a:rPr>
              <a:t>Security and automation are not opposites — they require intentional design. In hindsight, we would plan the deployment pipeline alongside the network design from day one, treating it as a first-class concern rather than an afterthought. Private networks require private runners.</a:t>
            </a:r>
            <a:endParaRPr lang="en-US" sz="1750" dirty="0"/>
          </a:p>
        </p:txBody>
      </p:sp>
      <p:sp>
        <p:nvSpPr>
          <p:cNvPr id="16" name="Rectangle 15">
            <a:extLst>
              <a:ext uri="{FF2B5EF4-FFF2-40B4-BE49-F238E27FC236}">
                <a16:creationId xmlns:a16="http://schemas.microsoft.com/office/drawing/2014/main" id="{D854EF8A-D7D0-488E-8CDA-34B0298DA09E}"/>
              </a:ext>
            </a:extLst>
          </p:cNvPr>
          <p:cNvSpPr/>
          <p:nvPr/>
        </p:nvSpPr>
        <p:spPr>
          <a:xfrm>
            <a:off x="12841793" y="7757327"/>
            <a:ext cx="1788607" cy="472273"/>
          </a:xfrm>
          <a:prstGeom prst="rect">
            <a:avLst/>
          </a:prstGeom>
          <a:solidFill>
            <a:srgbClr val="FDFD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793790" y="650438"/>
            <a:ext cx="1698308" cy="397907"/>
          </a:xfrm>
          <a:prstGeom prst="roundRect">
            <a:avLst>
              <a:gd name="adj" fmla="val 18196"/>
            </a:avLst>
          </a:prstGeom>
          <a:solidFill>
            <a:srgbClr val="E8E8E3"/>
          </a:solidFill>
          <a:ln/>
        </p:spPr>
      </p:sp>
      <p:sp>
        <p:nvSpPr>
          <p:cNvPr id="3" name="Text 1"/>
          <p:cNvSpPr/>
          <p:nvPr/>
        </p:nvSpPr>
        <p:spPr>
          <a:xfrm>
            <a:off x="922972" y="714970"/>
            <a:ext cx="1439942" cy="268843"/>
          </a:xfrm>
          <a:prstGeom prst="rect">
            <a:avLst/>
          </a:prstGeom>
          <a:noFill/>
          <a:ln/>
        </p:spPr>
        <p:txBody>
          <a:bodyPr wrap="none" lIns="0" tIns="0" rIns="0" bIns="0" rtlCol="0" anchor="t"/>
          <a:lstStyle/>
          <a:p>
            <a:pPr marL="0" indent="0" algn="l">
              <a:lnSpc>
                <a:spcPts val="2100"/>
              </a:lnSpc>
              <a:buNone/>
            </a:pPr>
            <a:r>
              <a:rPr lang="en-US" sz="1350" dirty="0">
                <a:solidFill>
                  <a:srgbClr val="272525"/>
                </a:solidFill>
                <a:latin typeface="Lato" pitchFamily="34" charset="0"/>
                <a:ea typeface="Lato" pitchFamily="34" charset="-122"/>
                <a:cs typeface="Lato" pitchFamily="34" charset="-120"/>
              </a:rPr>
              <a:t>MAIN LEARNINGS</a:t>
            </a:r>
            <a:endParaRPr lang="en-US" sz="1350" dirty="0"/>
          </a:p>
        </p:txBody>
      </p:sp>
      <p:sp>
        <p:nvSpPr>
          <p:cNvPr id="4" name="Text 2"/>
          <p:cNvSpPr/>
          <p:nvPr/>
        </p:nvSpPr>
        <p:spPr>
          <a:xfrm>
            <a:off x="793790" y="1130141"/>
            <a:ext cx="7290911" cy="673418"/>
          </a:xfrm>
          <a:prstGeom prst="rect">
            <a:avLst/>
          </a:prstGeom>
          <a:noFill/>
          <a:ln/>
        </p:spPr>
        <p:txBody>
          <a:bodyPr wrap="none" lIns="0" tIns="0" rIns="0" bIns="0" rtlCol="0" anchor="t"/>
          <a:lstStyle/>
          <a:p>
            <a:pPr marL="0" indent="0" algn="l">
              <a:lnSpc>
                <a:spcPts val="5300"/>
              </a:lnSpc>
              <a:buNone/>
            </a:pPr>
            <a:r>
              <a:rPr lang="en-US" sz="4200" dirty="0">
                <a:solidFill>
                  <a:srgbClr val="312F2B"/>
                </a:solidFill>
                <a:latin typeface="Gelasio" pitchFamily="34" charset="0"/>
                <a:ea typeface="Gelasio" pitchFamily="34" charset="-122"/>
                <a:cs typeface="Gelasio" pitchFamily="34" charset="-120"/>
              </a:rPr>
              <a:t>Insights &amp; Surprising Findings</a:t>
            </a:r>
            <a:endParaRPr lang="en-US" sz="4200" dirty="0"/>
          </a:p>
        </p:txBody>
      </p:sp>
      <p:sp>
        <p:nvSpPr>
          <p:cNvPr id="5" name="Shape 3"/>
          <p:cNvSpPr/>
          <p:nvPr/>
        </p:nvSpPr>
        <p:spPr>
          <a:xfrm>
            <a:off x="793790" y="2110621"/>
            <a:ext cx="6419017" cy="2631638"/>
          </a:xfrm>
          <a:prstGeom prst="roundRect">
            <a:avLst>
              <a:gd name="adj" fmla="val 3439"/>
            </a:avLst>
          </a:prstGeom>
          <a:solidFill>
            <a:srgbClr val="FFFFFF">
              <a:alpha val="95000"/>
            </a:srgbClr>
          </a:solidFill>
          <a:ln w="30480">
            <a:solidFill>
              <a:srgbClr val="CECEC9"/>
            </a:solidFill>
            <a:prstDash val="solid"/>
          </a:ln>
        </p:spPr>
      </p:sp>
      <p:sp>
        <p:nvSpPr>
          <p:cNvPr id="6" name="Text 4"/>
          <p:cNvSpPr/>
          <p:nvPr/>
        </p:nvSpPr>
        <p:spPr>
          <a:xfrm>
            <a:off x="1039654" y="2356485"/>
            <a:ext cx="5474851" cy="336590"/>
          </a:xfrm>
          <a:prstGeom prst="rect">
            <a:avLst/>
          </a:prstGeom>
          <a:noFill/>
          <a:ln/>
        </p:spPr>
        <p:txBody>
          <a:bodyPr wrap="none" lIns="0" tIns="0" rIns="0" bIns="0" rtlCol="0" anchor="t"/>
          <a:lstStyle/>
          <a:p>
            <a:pPr marL="0" indent="0" algn="l">
              <a:lnSpc>
                <a:spcPts val="2650"/>
              </a:lnSpc>
              <a:buNone/>
            </a:pPr>
            <a:r>
              <a:rPr lang="en-US" sz="2100" dirty="0">
                <a:solidFill>
                  <a:srgbClr val="272525"/>
                </a:solidFill>
                <a:latin typeface="Gelasio" pitchFamily="34" charset="0"/>
                <a:ea typeface="Gelasio" pitchFamily="34" charset="-122"/>
                <a:cs typeface="Gelasio" pitchFamily="34" charset="-120"/>
              </a:rPr>
              <a:t>Security makes everything harder — by design</a:t>
            </a:r>
            <a:endParaRPr lang="en-US" sz="2100" dirty="0"/>
          </a:p>
        </p:txBody>
      </p:sp>
      <p:sp>
        <p:nvSpPr>
          <p:cNvPr id="7" name="Text 5"/>
          <p:cNvSpPr/>
          <p:nvPr/>
        </p:nvSpPr>
        <p:spPr>
          <a:xfrm>
            <a:off x="1039654" y="2815828"/>
            <a:ext cx="5927288" cy="1680567"/>
          </a:xfrm>
          <a:prstGeom prst="rect">
            <a:avLst/>
          </a:prstGeom>
          <a:noFill/>
          <a:ln/>
        </p:spPr>
        <p:txBody>
          <a:bodyPr wrap="square" lIns="0" tIns="0" rIns="0" bIns="0" rtlCol="0" anchor="t"/>
          <a:lstStyle/>
          <a:p>
            <a:pPr marL="0" indent="0" algn="l">
              <a:lnSpc>
                <a:spcPts val="2600"/>
              </a:lnSpc>
              <a:buNone/>
            </a:pPr>
            <a:r>
              <a:rPr lang="en-US" sz="1650" dirty="0">
                <a:solidFill>
                  <a:srgbClr val="272525"/>
                </a:solidFill>
                <a:latin typeface="Lato" pitchFamily="34" charset="0"/>
                <a:ea typeface="Lato" pitchFamily="34" charset="-122"/>
                <a:cs typeface="Lato" pitchFamily="34" charset="-120"/>
              </a:rPr>
              <a:t>Disabling public access is correct. But it creates friction in places you don't expect: the portal Query Editor stops working, GitHub Actions gets blocked, Kudu becomes inaccessible. Every security decision has operational consequences that must be planned for.</a:t>
            </a:r>
            <a:endParaRPr lang="en-US" sz="1650" dirty="0"/>
          </a:p>
        </p:txBody>
      </p:sp>
      <p:sp>
        <p:nvSpPr>
          <p:cNvPr id="8" name="Shape 6"/>
          <p:cNvSpPr/>
          <p:nvPr/>
        </p:nvSpPr>
        <p:spPr>
          <a:xfrm>
            <a:off x="7417475" y="2110621"/>
            <a:ext cx="6419136" cy="2631638"/>
          </a:xfrm>
          <a:prstGeom prst="roundRect">
            <a:avLst>
              <a:gd name="adj" fmla="val 3439"/>
            </a:avLst>
          </a:prstGeom>
          <a:solidFill>
            <a:srgbClr val="FFFFFF">
              <a:alpha val="95000"/>
            </a:srgbClr>
          </a:solidFill>
          <a:ln w="30480">
            <a:solidFill>
              <a:srgbClr val="CECEC9"/>
            </a:solidFill>
            <a:prstDash val="solid"/>
          </a:ln>
        </p:spPr>
      </p:sp>
      <p:sp>
        <p:nvSpPr>
          <p:cNvPr id="9" name="Text 7"/>
          <p:cNvSpPr/>
          <p:nvPr/>
        </p:nvSpPr>
        <p:spPr>
          <a:xfrm>
            <a:off x="7663339" y="2356485"/>
            <a:ext cx="4791908" cy="336590"/>
          </a:xfrm>
          <a:prstGeom prst="rect">
            <a:avLst/>
          </a:prstGeom>
          <a:noFill/>
          <a:ln/>
        </p:spPr>
        <p:txBody>
          <a:bodyPr wrap="none" lIns="0" tIns="0" rIns="0" bIns="0" rtlCol="0" anchor="t"/>
          <a:lstStyle/>
          <a:p>
            <a:pPr marL="0" indent="0" algn="l">
              <a:lnSpc>
                <a:spcPts val="2650"/>
              </a:lnSpc>
              <a:buNone/>
            </a:pPr>
            <a:r>
              <a:rPr lang="en-US" sz="2100" dirty="0">
                <a:solidFill>
                  <a:srgbClr val="272525"/>
                </a:solidFill>
                <a:latin typeface="Gelasio" pitchFamily="34" charset="0"/>
                <a:ea typeface="Gelasio" pitchFamily="34" charset="-122"/>
                <a:cs typeface="Gelasio" pitchFamily="34" charset="-120"/>
              </a:rPr>
              <a:t>PaaS hides complexity — but not forever</a:t>
            </a:r>
            <a:endParaRPr lang="en-US" sz="2100" dirty="0"/>
          </a:p>
        </p:txBody>
      </p:sp>
      <p:sp>
        <p:nvSpPr>
          <p:cNvPr id="10" name="Text 8"/>
          <p:cNvSpPr/>
          <p:nvPr/>
        </p:nvSpPr>
        <p:spPr>
          <a:xfrm>
            <a:off x="7663339" y="2815828"/>
            <a:ext cx="5927407" cy="1680567"/>
          </a:xfrm>
          <a:prstGeom prst="rect">
            <a:avLst/>
          </a:prstGeom>
          <a:noFill/>
          <a:ln/>
        </p:spPr>
        <p:txBody>
          <a:bodyPr wrap="square" lIns="0" tIns="0" rIns="0" bIns="0" rtlCol="0" anchor="t"/>
          <a:lstStyle/>
          <a:p>
            <a:pPr marL="0" indent="0" algn="l">
              <a:lnSpc>
                <a:spcPts val="2600"/>
              </a:lnSpc>
              <a:buNone/>
            </a:pPr>
            <a:r>
              <a:rPr lang="en-US" sz="1650" dirty="0">
                <a:solidFill>
                  <a:srgbClr val="272525"/>
                </a:solidFill>
                <a:latin typeface="Lato" pitchFamily="34" charset="0"/>
                <a:ea typeface="Lato" pitchFamily="34" charset="-122"/>
                <a:cs typeface="Lato" pitchFamily="34" charset="-120"/>
              </a:rPr>
              <a:t>App Service makes deployment trivial until it doesn't. VNet Integration, subnet delegation, SCM endpoints, Oryx build system — the abstractions leak when you need fine-grained control. Understanding what's happening underneath makes debugging possible.</a:t>
            </a:r>
            <a:endParaRPr lang="en-US" sz="1650" dirty="0"/>
          </a:p>
        </p:txBody>
      </p:sp>
      <p:sp>
        <p:nvSpPr>
          <p:cNvPr id="11" name="Shape 9"/>
          <p:cNvSpPr/>
          <p:nvPr/>
        </p:nvSpPr>
        <p:spPr>
          <a:xfrm>
            <a:off x="793790" y="4946928"/>
            <a:ext cx="6419017" cy="2632115"/>
          </a:xfrm>
          <a:prstGeom prst="roundRect">
            <a:avLst>
              <a:gd name="adj" fmla="val 3438"/>
            </a:avLst>
          </a:prstGeom>
          <a:solidFill>
            <a:srgbClr val="FFFFFF">
              <a:alpha val="95000"/>
            </a:srgbClr>
          </a:solidFill>
          <a:ln w="30480">
            <a:solidFill>
              <a:srgbClr val="CECEC9"/>
            </a:solidFill>
            <a:prstDash val="solid"/>
          </a:ln>
        </p:spPr>
      </p:sp>
      <p:sp>
        <p:nvSpPr>
          <p:cNvPr id="12" name="Text 10"/>
          <p:cNvSpPr/>
          <p:nvPr/>
        </p:nvSpPr>
        <p:spPr>
          <a:xfrm>
            <a:off x="1039654" y="5192792"/>
            <a:ext cx="5775960" cy="336590"/>
          </a:xfrm>
          <a:prstGeom prst="rect">
            <a:avLst/>
          </a:prstGeom>
          <a:noFill/>
          <a:ln/>
        </p:spPr>
        <p:txBody>
          <a:bodyPr wrap="none" lIns="0" tIns="0" rIns="0" bIns="0" rtlCol="0" anchor="t"/>
          <a:lstStyle/>
          <a:p>
            <a:pPr marL="0" indent="0" algn="l">
              <a:lnSpc>
                <a:spcPts val="2650"/>
              </a:lnSpc>
              <a:buNone/>
            </a:pPr>
            <a:r>
              <a:rPr lang="en-US" sz="2100" dirty="0">
                <a:solidFill>
                  <a:srgbClr val="272525"/>
                </a:solidFill>
                <a:latin typeface="Gelasio" pitchFamily="34" charset="0"/>
                <a:ea typeface="Gelasio" pitchFamily="34" charset="-122"/>
                <a:cs typeface="Gelasio" pitchFamily="34" charset="-120"/>
              </a:rPr>
              <a:t>Private networking requires end-to-end thinking</a:t>
            </a:r>
            <a:endParaRPr lang="en-US" sz="2100" dirty="0"/>
          </a:p>
        </p:txBody>
      </p:sp>
      <p:sp>
        <p:nvSpPr>
          <p:cNvPr id="13" name="Text 11"/>
          <p:cNvSpPr/>
          <p:nvPr/>
        </p:nvSpPr>
        <p:spPr>
          <a:xfrm>
            <a:off x="1039654" y="5652135"/>
            <a:ext cx="5927288" cy="1344454"/>
          </a:xfrm>
          <a:prstGeom prst="rect">
            <a:avLst/>
          </a:prstGeom>
          <a:noFill/>
          <a:ln/>
        </p:spPr>
        <p:txBody>
          <a:bodyPr wrap="square" lIns="0" tIns="0" rIns="0" bIns="0" rtlCol="0" anchor="t"/>
          <a:lstStyle/>
          <a:p>
            <a:pPr marL="0" indent="0" algn="l">
              <a:lnSpc>
                <a:spcPts val="2600"/>
              </a:lnSpc>
              <a:buNone/>
            </a:pPr>
            <a:r>
              <a:rPr lang="en-US" sz="1650" dirty="0">
                <a:solidFill>
                  <a:srgbClr val="272525"/>
                </a:solidFill>
                <a:latin typeface="Lato" pitchFamily="34" charset="0"/>
                <a:ea typeface="Lato" pitchFamily="34" charset="-122"/>
                <a:cs typeface="Lato" pitchFamily="34" charset="-120"/>
              </a:rPr>
              <a:t>A Private Endpoint alone isn't enough. You also need the Private DNS Zone, VNet link, and the app's connection string to use the right hostname. Each piece is simple — but missing any one breaks the entire chain silently.</a:t>
            </a:r>
            <a:endParaRPr lang="en-US" sz="1650" dirty="0"/>
          </a:p>
        </p:txBody>
      </p:sp>
      <p:sp>
        <p:nvSpPr>
          <p:cNvPr id="14" name="Shape 12"/>
          <p:cNvSpPr/>
          <p:nvPr/>
        </p:nvSpPr>
        <p:spPr>
          <a:xfrm>
            <a:off x="7417475" y="4946928"/>
            <a:ext cx="6419136" cy="2632115"/>
          </a:xfrm>
          <a:prstGeom prst="roundRect">
            <a:avLst>
              <a:gd name="adj" fmla="val 3438"/>
            </a:avLst>
          </a:prstGeom>
          <a:solidFill>
            <a:srgbClr val="FFFFFF">
              <a:alpha val="95000"/>
            </a:srgbClr>
          </a:solidFill>
          <a:ln w="30480">
            <a:solidFill>
              <a:srgbClr val="CECEC9"/>
            </a:solidFill>
            <a:prstDash val="solid"/>
          </a:ln>
        </p:spPr>
      </p:sp>
      <p:sp>
        <p:nvSpPr>
          <p:cNvPr id="15" name="Text 13"/>
          <p:cNvSpPr/>
          <p:nvPr/>
        </p:nvSpPr>
        <p:spPr>
          <a:xfrm>
            <a:off x="7663339" y="5192792"/>
            <a:ext cx="5927407" cy="673179"/>
          </a:xfrm>
          <a:prstGeom prst="rect">
            <a:avLst/>
          </a:prstGeom>
          <a:noFill/>
          <a:ln/>
        </p:spPr>
        <p:txBody>
          <a:bodyPr wrap="square" lIns="0" tIns="0" rIns="0" bIns="0" rtlCol="0" anchor="t"/>
          <a:lstStyle/>
          <a:p>
            <a:pPr marL="0" indent="0" algn="l">
              <a:lnSpc>
                <a:spcPts val="2650"/>
              </a:lnSpc>
              <a:buNone/>
            </a:pPr>
            <a:r>
              <a:rPr lang="en-US" sz="2100" dirty="0">
                <a:solidFill>
                  <a:srgbClr val="272525"/>
                </a:solidFill>
                <a:latin typeface="Gelasio" pitchFamily="34" charset="0"/>
                <a:ea typeface="Gelasio" pitchFamily="34" charset="-122"/>
                <a:cs typeface="Gelasio" pitchFamily="34" charset="-120"/>
              </a:rPr>
              <a:t>Monitoring should be designed upfront, not bolted on</a:t>
            </a:r>
            <a:endParaRPr lang="en-US" sz="2100" dirty="0"/>
          </a:p>
        </p:txBody>
      </p:sp>
      <p:sp>
        <p:nvSpPr>
          <p:cNvPr id="16" name="Text 14"/>
          <p:cNvSpPr/>
          <p:nvPr/>
        </p:nvSpPr>
        <p:spPr>
          <a:xfrm>
            <a:off x="7663339" y="5988725"/>
            <a:ext cx="5927407" cy="1344454"/>
          </a:xfrm>
          <a:prstGeom prst="rect">
            <a:avLst/>
          </a:prstGeom>
          <a:noFill/>
          <a:ln/>
        </p:spPr>
        <p:txBody>
          <a:bodyPr wrap="square" lIns="0" tIns="0" rIns="0" bIns="0" rtlCol="0" anchor="t"/>
          <a:lstStyle/>
          <a:p>
            <a:pPr marL="0" indent="0" algn="l">
              <a:lnSpc>
                <a:spcPts val="2600"/>
              </a:lnSpc>
              <a:buNone/>
            </a:pPr>
            <a:r>
              <a:rPr lang="en-US" sz="1650" dirty="0">
                <a:solidFill>
                  <a:srgbClr val="272525"/>
                </a:solidFill>
                <a:latin typeface="Lato" pitchFamily="34" charset="0"/>
                <a:ea typeface="Lato" pitchFamily="34" charset="-122"/>
                <a:cs typeface="Lato" pitchFamily="34" charset="-120"/>
              </a:rPr>
              <a:t>We set up monitoring last. In production, you'd want alerts from the first deployment. Application Insights auto-attached was a nice surprise — Azure was already collecting data before we configured anything.</a:t>
            </a:r>
            <a:endParaRPr lang="en-US" sz="1650" dirty="0"/>
          </a:p>
        </p:txBody>
      </p:sp>
      <p:sp>
        <p:nvSpPr>
          <p:cNvPr id="17" name="Rectangle 16">
            <a:extLst>
              <a:ext uri="{FF2B5EF4-FFF2-40B4-BE49-F238E27FC236}">
                <a16:creationId xmlns:a16="http://schemas.microsoft.com/office/drawing/2014/main" id="{144E7017-01F2-4645-AC8D-91E68718554F}"/>
              </a:ext>
            </a:extLst>
          </p:cNvPr>
          <p:cNvSpPr/>
          <p:nvPr/>
        </p:nvSpPr>
        <p:spPr>
          <a:xfrm>
            <a:off x="12841793" y="7757327"/>
            <a:ext cx="1788607" cy="472273"/>
          </a:xfrm>
          <a:prstGeom prst="rect">
            <a:avLst/>
          </a:prstGeom>
          <a:solidFill>
            <a:srgbClr val="FDFD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93790" y="912138"/>
            <a:ext cx="13042821" cy="336113"/>
          </a:xfrm>
          <a:prstGeom prst="rect">
            <a:avLst/>
          </a:prstGeom>
          <a:noFill/>
          <a:ln/>
        </p:spPr>
        <p:txBody>
          <a:bodyPr wrap="none" lIns="0" tIns="0" rIns="0" bIns="0" rtlCol="0" anchor="t"/>
          <a:lstStyle/>
          <a:p>
            <a:pPr marL="0" indent="0" algn="l">
              <a:lnSpc>
                <a:spcPts val="2600"/>
              </a:lnSpc>
              <a:buNone/>
            </a:pPr>
            <a:r>
              <a:rPr lang="en-US" sz="1650" dirty="0">
                <a:solidFill>
                  <a:srgbClr val="272525"/>
                </a:solidFill>
                <a:latin typeface="Lato" pitchFamily="34" charset="0"/>
                <a:ea typeface="Lato" pitchFamily="34" charset="-122"/>
                <a:cs typeface="Lato" pitchFamily="34" charset="-120"/>
              </a:rPr>
              <a:t>IRONHACK — DEVOPS &amp; CLOUD</a:t>
            </a:r>
            <a:endParaRPr lang="en-US" sz="1650" dirty="0"/>
          </a:p>
        </p:txBody>
      </p:sp>
      <p:sp>
        <p:nvSpPr>
          <p:cNvPr id="3" name="Text 1"/>
          <p:cNvSpPr/>
          <p:nvPr/>
        </p:nvSpPr>
        <p:spPr>
          <a:xfrm>
            <a:off x="793790" y="1478518"/>
            <a:ext cx="13042821" cy="336113"/>
          </a:xfrm>
          <a:prstGeom prst="rect">
            <a:avLst/>
          </a:prstGeom>
          <a:noFill/>
          <a:ln/>
        </p:spPr>
        <p:txBody>
          <a:bodyPr wrap="none" lIns="0" tIns="0" rIns="0" bIns="0" rtlCol="0" anchor="t"/>
          <a:lstStyle/>
          <a:p>
            <a:pPr marL="0" indent="0" algn="l">
              <a:lnSpc>
                <a:spcPts val="2600"/>
              </a:lnSpc>
              <a:buNone/>
            </a:pPr>
            <a:r>
              <a:rPr lang="en-US" sz="1650" dirty="0">
                <a:solidFill>
                  <a:srgbClr val="272525"/>
                </a:solidFill>
                <a:latin typeface="Lato" pitchFamily="34" charset="0"/>
                <a:ea typeface="Lato" pitchFamily="34" charset="-122"/>
                <a:cs typeface="Lato" pitchFamily="34" charset="-120"/>
              </a:rPr>
              <a:t>CONCLUSION</a:t>
            </a:r>
            <a:endParaRPr lang="en-US" sz="1650" dirty="0"/>
          </a:p>
        </p:txBody>
      </p:sp>
      <p:sp>
        <p:nvSpPr>
          <p:cNvPr id="4" name="Text 2"/>
          <p:cNvSpPr/>
          <p:nvPr/>
        </p:nvSpPr>
        <p:spPr>
          <a:xfrm>
            <a:off x="793790" y="2121694"/>
            <a:ext cx="11855172" cy="929283"/>
          </a:xfrm>
          <a:prstGeom prst="rect">
            <a:avLst/>
          </a:prstGeom>
          <a:noFill/>
          <a:ln/>
        </p:spPr>
        <p:txBody>
          <a:bodyPr wrap="none" lIns="0" tIns="0" rIns="0" bIns="0" rtlCol="0" anchor="t"/>
          <a:lstStyle/>
          <a:p>
            <a:pPr marL="0" indent="0" algn="l">
              <a:lnSpc>
                <a:spcPts val="7300"/>
              </a:lnSpc>
              <a:buNone/>
            </a:pPr>
            <a:r>
              <a:rPr lang="en-US" sz="5850" dirty="0">
                <a:solidFill>
                  <a:srgbClr val="312F2B"/>
                </a:solidFill>
                <a:latin typeface="Gelasio" pitchFamily="34" charset="0"/>
                <a:ea typeface="Gelasio" pitchFamily="34" charset="-122"/>
                <a:cs typeface="Gelasio" pitchFamily="34" charset="-120"/>
              </a:rPr>
              <a:t>Production-grade. Secure by design.</a:t>
            </a:r>
            <a:endParaRPr lang="en-US" sz="5850" dirty="0"/>
          </a:p>
        </p:txBody>
      </p:sp>
      <p:sp>
        <p:nvSpPr>
          <p:cNvPr id="5" name="Text 3"/>
          <p:cNvSpPr/>
          <p:nvPr/>
        </p:nvSpPr>
        <p:spPr>
          <a:xfrm>
            <a:off x="793790" y="3358039"/>
            <a:ext cx="13042821" cy="672227"/>
          </a:xfrm>
          <a:prstGeom prst="rect">
            <a:avLst/>
          </a:prstGeom>
          <a:noFill/>
          <a:ln/>
        </p:spPr>
        <p:txBody>
          <a:bodyPr wrap="square" lIns="0" tIns="0" rIns="0" bIns="0" rtlCol="0" anchor="t"/>
          <a:lstStyle/>
          <a:p>
            <a:pPr marL="0" indent="0" algn="l">
              <a:lnSpc>
                <a:spcPts val="2600"/>
              </a:lnSpc>
              <a:buNone/>
            </a:pPr>
            <a:r>
              <a:rPr lang="en-US" sz="1650" dirty="0">
                <a:solidFill>
                  <a:srgbClr val="272525"/>
                </a:solidFill>
                <a:latin typeface="Lato" pitchFamily="34" charset="0"/>
                <a:ea typeface="Lato" pitchFamily="34" charset="-122"/>
                <a:cs typeface="Lato" pitchFamily="34" charset="-120"/>
              </a:rPr>
              <a:t>Defense in depth, private networking, WAF protection, and full observability — the same patterns used by production cloud engineering teams worldwide.</a:t>
            </a:r>
            <a:endParaRPr lang="en-US" sz="1650" dirty="0"/>
          </a:p>
        </p:txBody>
      </p:sp>
      <p:sp>
        <p:nvSpPr>
          <p:cNvPr id="6" name="Text 4"/>
          <p:cNvSpPr/>
          <p:nvPr/>
        </p:nvSpPr>
        <p:spPr>
          <a:xfrm>
            <a:off x="953572" y="4368165"/>
            <a:ext cx="6073735" cy="711041"/>
          </a:xfrm>
          <a:prstGeom prst="rect">
            <a:avLst/>
          </a:prstGeom>
          <a:noFill/>
          <a:ln/>
        </p:spPr>
        <p:txBody>
          <a:bodyPr wrap="none" lIns="0" tIns="0" rIns="0" bIns="0" rtlCol="0" anchor="t"/>
          <a:lstStyle/>
          <a:p>
            <a:pPr marL="0" indent="0" algn="ctr">
              <a:lnSpc>
                <a:spcPts val="5550"/>
              </a:lnSpc>
              <a:buNone/>
            </a:pPr>
            <a:r>
              <a:rPr lang="en-US" sz="5550" dirty="0">
                <a:solidFill>
                  <a:srgbClr val="272525"/>
                </a:solidFill>
                <a:latin typeface="Gelasio" pitchFamily="34" charset="0"/>
                <a:ea typeface="Gelasio" pitchFamily="34" charset="-122"/>
                <a:cs typeface="Gelasio" pitchFamily="34" charset="-120"/>
              </a:rPr>
              <a:t>0</a:t>
            </a:r>
            <a:endParaRPr lang="en-US" sz="5550" dirty="0"/>
          </a:p>
        </p:txBody>
      </p:sp>
      <p:sp>
        <p:nvSpPr>
          <p:cNvPr id="7" name="Text 5"/>
          <p:cNvSpPr/>
          <p:nvPr/>
        </p:nvSpPr>
        <p:spPr>
          <a:xfrm>
            <a:off x="793790" y="5340310"/>
            <a:ext cx="6393418" cy="336113"/>
          </a:xfrm>
          <a:prstGeom prst="rect">
            <a:avLst/>
          </a:prstGeom>
          <a:noFill/>
          <a:ln/>
        </p:spPr>
        <p:txBody>
          <a:bodyPr wrap="none" lIns="0" tIns="0" rIns="0" bIns="0" rtlCol="0" anchor="t"/>
          <a:lstStyle/>
          <a:p>
            <a:pPr marL="0" indent="0" algn="ctr">
              <a:lnSpc>
                <a:spcPts val="2600"/>
              </a:lnSpc>
              <a:buNone/>
            </a:pPr>
            <a:r>
              <a:rPr lang="en-US" sz="1650" dirty="0">
                <a:solidFill>
                  <a:srgbClr val="272525"/>
                </a:solidFill>
                <a:latin typeface="Lato" pitchFamily="34" charset="0"/>
                <a:ea typeface="Lato" pitchFamily="34" charset="-122"/>
                <a:cs typeface="Lato" pitchFamily="34" charset="-120"/>
              </a:rPr>
              <a:t>PUBLIC VMS</a:t>
            </a:r>
            <a:endParaRPr lang="en-US" sz="1650" dirty="0"/>
          </a:p>
        </p:txBody>
      </p:sp>
      <p:sp>
        <p:nvSpPr>
          <p:cNvPr id="8" name="Text 6"/>
          <p:cNvSpPr/>
          <p:nvPr/>
        </p:nvSpPr>
        <p:spPr>
          <a:xfrm>
            <a:off x="7602855" y="4368165"/>
            <a:ext cx="6073854" cy="711041"/>
          </a:xfrm>
          <a:prstGeom prst="rect">
            <a:avLst/>
          </a:prstGeom>
          <a:noFill/>
          <a:ln/>
        </p:spPr>
        <p:txBody>
          <a:bodyPr wrap="none" lIns="0" tIns="0" rIns="0" bIns="0" rtlCol="0" anchor="t"/>
          <a:lstStyle/>
          <a:p>
            <a:pPr marL="0" indent="0" algn="ctr">
              <a:lnSpc>
                <a:spcPts val="5550"/>
              </a:lnSpc>
              <a:buNone/>
            </a:pPr>
            <a:r>
              <a:rPr lang="en-US" sz="5550" dirty="0">
                <a:solidFill>
                  <a:srgbClr val="272525"/>
                </a:solidFill>
                <a:latin typeface="Gelasio" pitchFamily="34" charset="0"/>
                <a:ea typeface="Gelasio" pitchFamily="34" charset="-122"/>
                <a:cs typeface="Gelasio" pitchFamily="34" charset="-120"/>
              </a:rPr>
              <a:t>1</a:t>
            </a:r>
            <a:endParaRPr lang="en-US" sz="5550" dirty="0"/>
          </a:p>
        </p:txBody>
      </p:sp>
      <p:sp>
        <p:nvSpPr>
          <p:cNvPr id="9" name="Text 7"/>
          <p:cNvSpPr/>
          <p:nvPr/>
        </p:nvSpPr>
        <p:spPr>
          <a:xfrm>
            <a:off x="7443073" y="5340310"/>
            <a:ext cx="6393537" cy="336113"/>
          </a:xfrm>
          <a:prstGeom prst="rect">
            <a:avLst/>
          </a:prstGeom>
          <a:noFill/>
          <a:ln/>
        </p:spPr>
        <p:txBody>
          <a:bodyPr wrap="none" lIns="0" tIns="0" rIns="0" bIns="0" rtlCol="0" anchor="t"/>
          <a:lstStyle/>
          <a:p>
            <a:pPr marL="0" indent="0" algn="ctr">
              <a:lnSpc>
                <a:spcPts val="2600"/>
              </a:lnSpc>
              <a:buNone/>
            </a:pPr>
            <a:r>
              <a:rPr lang="en-US" sz="1650" dirty="0">
                <a:solidFill>
                  <a:srgbClr val="272525"/>
                </a:solidFill>
                <a:latin typeface="Lato" pitchFamily="34" charset="0"/>
                <a:ea typeface="Lato" pitchFamily="34" charset="-122"/>
                <a:cs typeface="Lato" pitchFamily="34" charset="-120"/>
              </a:rPr>
              <a:t>PUBLIC ENTRY POINT</a:t>
            </a:r>
            <a:endParaRPr lang="en-US" sz="1650" dirty="0"/>
          </a:p>
        </p:txBody>
      </p:sp>
      <p:sp>
        <p:nvSpPr>
          <p:cNvPr id="10" name="Text 8"/>
          <p:cNvSpPr/>
          <p:nvPr/>
        </p:nvSpPr>
        <p:spPr>
          <a:xfrm>
            <a:off x="953572" y="6193393"/>
            <a:ext cx="6073735" cy="711041"/>
          </a:xfrm>
          <a:prstGeom prst="rect">
            <a:avLst/>
          </a:prstGeom>
          <a:noFill/>
          <a:ln/>
        </p:spPr>
        <p:txBody>
          <a:bodyPr wrap="none" lIns="0" tIns="0" rIns="0" bIns="0" rtlCol="0" anchor="t"/>
          <a:lstStyle/>
          <a:p>
            <a:pPr marL="0" indent="0" algn="ctr">
              <a:lnSpc>
                <a:spcPts val="5550"/>
              </a:lnSpc>
              <a:buNone/>
            </a:pPr>
            <a:r>
              <a:rPr lang="en-US" sz="5550" dirty="0">
                <a:solidFill>
                  <a:srgbClr val="272525"/>
                </a:solidFill>
                <a:latin typeface="Gelasio" pitchFamily="34" charset="0"/>
                <a:ea typeface="Gelasio" pitchFamily="34" charset="-122"/>
                <a:cs typeface="Gelasio" pitchFamily="34" charset="-120"/>
              </a:rPr>
              <a:t>3</a:t>
            </a:r>
            <a:endParaRPr lang="en-US" sz="5550" dirty="0"/>
          </a:p>
        </p:txBody>
      </p:sp>
      <p:sp>
        <p:nvSpPr>
          <p:cNvPr id="11" name="Text 9"/>
          <p:cNvSpPr/>
          <p:nvPr/>
        </p:nvSpPr>
        <p:spPr>
          <a:xfrm>
            <a:off x="793790" y="7165538"/>
            <a:ext cx="6393418" cy="336113"/>
          </a:xfrm>
          <a:prstGeom prst="rect">
            <a:avLst/>
          </a:prstGeom>
          <a:noFill/>
          <a:ln/>
        </p:spPr>
        <p:txBody>
          <a:bodyPr wrap="none" lIns="0" tIns="0" rIns="0" bIns="0" rtlCol="0" anchor="t"/>
          <a:lstStyle/>
          <a:p>
            <a:pPr marL="0" indent="0" algn="ctr">
              <a:lnSpc>
                <a:spcPts val="2600"/>
              </a:lnSpc>
              <a:buNone/>
            </a:pPr>
            <a:r>
              <a:rPr lang="en-US" sz="1650" dirty="0">
                <a:solidFill>
                  <a:srgbClr val="272525"/>
                </a:solidFill>
                <a:latin typeface="Lato" pitchFamily="34" charset="0"/>
                <a:ea typeface="Lato" pitchFamily="34" charset="-122"/>
                <a:cs typeface="Lato" pitchFamily="34" charset="-120"/>
              </a:rPr>
              <a:t>SECURITY LAYERS</a:t>
            </a:r>
            <a:endParaRPr lang="en-US" sz="1650" dirty="0"/>
          </a:p>
        </p:txBody>
      </p:sp>
      <p:sp>
        <p:nvSpPr>
          <p:cNvPr id="12" name="Text 10"/>
          <p:cNvSpPr/>
          <p:nvPr/>
        </p:nvSpPr>
        <p:spPr>
          <a:xfrm>
            <a:off x="7602855" y="6193393"/>
            <a:ext cx="6073854" cy="711041"/>
          </a:xfrm>
          <a:prstGeom prst="rect">
            <a:avLst/>
          </a:prstGeom>
          <a:noFill/>
          <a:ln/>
        </p:spPr>
        <p:txBody>
          <a:bodyPr wrap="none" lIns="0" tIns="0" rIns="0" bIns="0" rtlCol="0" anchor="t"/>
          <a:lstStyle/>
          <a:p>
            <a:pPr marL="0" indent="0" algn="ctr">
              <a:lnSpc>
                <a:spcPts val="5550"/>
              </a:lnSpc>
              <a:buNone/>
            </a:pPr>
            <a:r>
              <a:rPr lang="en-US" sz="5550" dirty="0">
                <a:solidFill>
                  <a:srgbClr val="272525"/>
                </a:solidFill>
                <a:latin typeface="Gelasio" pitchFamily="34" charset="0"/>
                <a:ea typeface="Gelasio" pitchFamily="34" charset="-122"/>
                <a:cs typeface="Gelasio" pitchFamily="34" charset="-120"/>
              </a:rPr>
              <a:t>3</a:t>
            </a:r>
            <a:endParaRPr lang="en-US" sz="5550" dirty="0"/>
          </a:p>
        </p:txBody>
      </p:sp>
      <p:sp>
        <p:nvSpPr>
          <p:cNvPr id="13" name="Text 11"/>
          <p:cNvSpPr/>
          <p:nvPr/>
        </p:nvSpPr>
        <p:spPr>
          <a:xfrm>
            <a:off x="7443073" y="7165538"/>
            <a:ext cx="6393537" cy="336113"/>
          </a:xfrm>
          <a:prstGeom prst="rect">
            <a:avLst/>
          </a:prstGeom>
          <a:noFill/>
          <a:ln/>
        </p:spPr>
        <p:txBody>
          <a:bodyPr wrap="none" lIns="0" tIns="0" rIns="0" bIns="0" rtlCol="0" anchor="t"/>
          <a:lstStyle/>
          <a:p>
            <a:pPr marL="0" indent="0" algn="ctr">
              <a:lnSpc>
                <a:spcPts val="2600"/>
              </a:lnSpc>
              <a:buNone/>
            </a:pPr>
            <a:r>
              <a:rPr lang="en-US" sz="1650" dirty="0">
                <a:solidFill>
                  <a:srgbClr val="272525"/>
                </a:solidFill>
                <a:latin typeface="Lato" pitchFamily="34" charset="0"/>
                <a:ea typeface="Lato" pitchFamily="34" charset="-122"/>
                <a:cs typeface="Lato" pitchFamily="34" charset="-120"/>
              </a:rPr>
              <a:t>LIVE ALERT RULES</a:t>
            </a:r>
            <a:endParaRPr lang="en-US" sz="1650" dirty="0"/>
          </a:p>
        </p:txBody>
      </p:sp>
      <p:sp>
        <p:nvSpPr>
          <p:cNvPr id="14" name="Rectangle 13">
            <a:extLst>
              <a:ext uri="{FF2B5EF4-FFF2-40B4-BE49-F238E27FC236}">
                <a16:creationId xmlns:a16="http://schemas.microsoft.com/office/drawing/2014/main" id="{AD888604-5A9A-4D64-ADB9-42D6A685AD77}"/>
              </a:ext>
            </a:extLst>
          </p:cNvPr>
          <p:cNvSpPr/>
          <p:nvPr/>
        </p:nvSpPr>
        <p:spPr>
          <a:xfrm>
            <a:off x="12841793" y="7757327"/>
            <a:ext cx="1788607" cy="472273"/>
          </a:xfrm>
          <a:prstGeom prst="rect">
            <a:avLst/>
          </a:prstGeom>
          <a:solidFill>
            <a:srgbClr val="FDFD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0"/>
          <p:cNvSpPr/>
          <p:nvPr/>
        </p:nvSpPr>
        <p:spPr>
          <a:xfrm>
            <a:off x="793790" y="2510076"/>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312F2B"/>
                </a:solidFill>
                <a:latin typeface="Gelasio" pitchFamily="34" charset="0"/>
                <a:ea typeface="Gelasio" pitchFamily="34" charset="-122"/>
                <a:cs typeface="Gelasio" pitchFamily="34" charset="-120"/>
              </a:rPr>
              <a:t>Platform Overview &amp; Visual Proof</a:t>
            </a:r>
            <a:endParaRPr lang="en-US" sz="4450" dirty="0"/>
          </a:p>
        </p:txBody>
      </p:sp>
      <p:sp>
        <p:nvSpPr>
          <p:cNvPr id="4" name="Text 1"/>
          <p:cNvSpPr/>
          <p:nvPr/>
        </p:nvSpPr>
        <p:spPr>
          <a:xfrm>
            <a:off x="793790" y="4267795"/>
            <a:ext cx="7556421" cy="1451610"/>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Lato" pitchFamily="34" charset="0"/>
                <a:ea typeface="Lato" pitchFamily="34" charset="-122"/>
                <a:cs typeface="Lato" pitchFamily="34" charset="-120"/>
              </a:rPr>
              <a:t>This section presents an overview of the platform along with visual evidence demonstrating its functionality and development progress. The following screenshots highlight key features. These visuals serve as confirmation of the project.</a:t>
            </a:r>
            <a:endParaRPr lang="en-US" sz="1750" dirty="0"/>
          </a:p>
        </p:txBody>
      </p:sp>
      <p:sp>
        <p:nvSpPr>
          <p:cNvPr id="5" name="Rectangle 4">
            <a:extLst>
              <a:ext uri="{FF2B5EF4-FFF2-40B4-BE49-F238E27FC236}">
                <a16:creationId xmlns:a16="http://schemas.microsoft.com/office/drawing/2014/main" id="{9B51452A-3DFC-4435-959C-8266609563E2}"/>
              </a:ext>
            </a:extLst>
          </p:cNvPr>
          <p:cNvSpPr/>
          <p:nvPr/>
        </p:nvSpPr>
        <p:spPr>
          <a:xfrm>
            <a:off x="12841793" y="7757327"/>
            <a:ext cx="1788607" cy="472273"/>
          </a:xfrm>
          <a:prstGeom prst="rect">
            <a:avLst/>
          </a:prstGeom>
          <a:solidFill>
            <a:srgbClr val="FDFD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6" name="Picture 5" descr="A screenshot of a computer&#10;&#10;AI-generated content may be incorrect.">
            <a:extLst>
              <a:ext uri="{FF2B5EF4-FFF2-40B4-BE49-F238E27FC236}">
                <a16:creationId xmlns:a16="http://schemas.microsoft.com/office/drawing/2014/main" id="{13F1297F-9A8B-4DA2-83B3-8796FABF9F37}"/>
              </a:ext>
            </a:extLst>
          </p:cNvPr>
          <p:cNvPicPr>
            <a:picLocks noChangeAspect="1"/>
          </p:cNvPicPr>
          <p:nvPr/>
        </p:nvPicPr>
        <p:blipFill>
          <a:blip r:embed="rId3"/>
          <a:stretch>
            <a:fillRect/>
          </a:stretch>
        </p:blipFill>
        <p:spPr>
          <a:xfrm>
            <a:off x="8350211" y="0"/>
            <a:ext cx="6280189" cy="822959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93790" y="629126"/>
            <a:ext cx="12390596" cy="6971348"/>
          </a:xfrm>
          <a:prstGeom prst="rect">
            <a:avLst/>
          </a:prstGeom>
        </p:spPr>
      </p:pic>
      <p:sp>
        <p:nvSpPr>
          <p:cNvPr id="3" name="Rectangle 2">
            <a:extLst>
              <a:ext uri="{FF2B5EF4-FFF2-40B4-BE49-F238E27FC236}">
                <a16:creationId xmlns:a16="http://schemas.microsoft.com/office/drawing/2014/main" id="{81D6CB95-4428-4E51-95C7-A478B8E8CD85}"/>
              </a:ext>
            </a:extLst>
          </p:cNvPr>
          <p:cNvSpPr/>
          <p:nvPr/>
        </p:nvSpPr>
        <p:spPr>
          <a:xfrm>
            <a:off x="12841793" y="7757327"/>
            <a:ext cx="1788607" cy="472273"/>
          </a:xfrm>
          <a:prstGeom prst="rect">
            <a:avLst/>
          </a:prstGeom>
          <a:solidFill>
            <a:srgbClr val="FDFD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793790" y="824151"/>
            <a:ext cx="13042821" cy="238125"/>
          </a:xfrm>
          <a:prstGeom prst="rect">
            <a:avLst/>
          </a:prstGeom>
          <a:noFill/>
          <a:ln/>
        </p:spPr>
        <p:txBody>
          <a:bodyPr wrap="none" lIns="0" tIns="0" rIns="0" bIns="0" rtlCol="0" anchor="t"/>
          <a:lstStyle/>
          <a:p>
            <a:pPr marL="0" indent="0" algn="l">
              <a:lnSpc>
                <a:spcPts val="1850"/>
              </a:lnSpc>
              <a:buNone/>
            </a:pPr>
            <a:r>
              <a:rPr lang="en-US" sz="1300" dirty="0">
                <a:solidFill>
                  <a:srgbClr val="272525"/>
                </a:solidFill>
                <a:latin typeface="Lato" pitchFamily="34" charset="0"/>
                <a:ea typeface="Lato" pitchFamily="34" charset="-122"/>
                <a:cs typeface="Lato" pitchFamily="34" charset="-120"/>
              </a:rPr>
              <a:t>APP SERVICES</a:t>
            </a:r>
            <a:endParaRPr lang="en-US" sz="1300" dirty="0"/>
          </a:p>
        </p:txBody>
      </p:sp>
      <p:pic>
        <p:nvPicPr>
          <p:cNvPr id="3" name="Image 0" descr="preencoded.png"/>
          <p:cNvPicPr>
            <a:picLocks noChangeAspect="1"/>
          </p:cNvPicPr>
          <p:nvPr/>
        </p:nvPicPr>
        <p:blipFill>
          <a:blip r:embed="rId3"/>
          <a:stretch>
            <a:fillRect/>
          </a:stretch>
        </p:blipFill>
        <p:spPr>
          <a:xfrm>
            <a:off x="793790" y="1205746"/>
            <a:ext cx="9782056" cy="5932765"/>
          </a:xfrm>
          <a:prstGeom prst="rect">
            <a:avLst/>
          </a:prstGeom>
        </p:spPr>
      </p:pic>
      <p:sp>
        <p:nvSpPr>
          <p:cNvPr id="4" name="Text 1"/>
          <p:cNvSpPr/>
          <p:nvPr/>
        </p:nvSpPr>
        <p:spPr>
          <a:xfrm>
            <a:off x="793790" y="7281982"/>
            <a:ext cx="13042821" cy="238125"/>
          </a:xfrm>
          <a:prstGeom prst="rect">
            <a:avLst/>
          </a:prstGeom>
          <a:noFill/>
          <a:ln/>
        </p:spPr>
        <p:txBody>
          <a:bodyPr wrap="none" lIns="0" tIns="0" rIns="0" bIns="0" rtlCol="0" anchor="t"/>
          <a:lstStyle/>
          <a:p>
            <a:pPr marL="0" indent="0" algn="l">
              <a:lnSpc>
                <a:spcPts val="1850"/>
              </a:lnSpc>
              <a:buNone/>
            </a:pPr>
            <a:r>
              <a:rPr lang="en-US" sz="1300" dirty="0">
                <a:solidFill>
                  <a:srgbClr val="272525"/>
                </a:solidFill>
                <a:latin typeface="Lato" pitchFamily="34" charset="0"/>
                <a:ea typeface="Lato" pitchFamily="34" charset="-122"/>
                <a:cs typeface="Lato" pitchFamily="34" charset="-120"/>
              </a:rPr>
              <a:t>App Frontend Service — Running on Azure App Services (P1v3), Linux, Node 20 LTS</a:t>
            </a:r>
            <a:endParaRPr lang="en-US" sz="1300" dirty="0"/>
          </a:p>
        </p:txBody>
      </p:sp>
      <p:sp>
        <p:nvSpPr>
          <p:cNvPr id="5" name="Rectangle 4">
            <a:extLst>
              <a:ext uri="{FF2B5EF4-FFF2-40B4-BE49-F238E27FC236}">
                <a16:creationId xmlns:a16="http://schemas.microsoft.com/office/drawing/2014/main" id="{695E8300-35CD-4009-A6C9-B3047C8A34D9}"/>
              </a:ext>
            </a:extLst>
          </p:cNvPr>
          <p:cNvSpPr/>
          <p:nvPr/>
        </p:nvSpPr>
        <p:spPr>
          <a:xfrm>
            <a:off x="12841793" y="7757327"/>
            <a:ext cx="1788607" cy="472273"/>
          </a:xfrm>
          <a:prstGeom prst="rect">
            <a:avLst/>
          </a:prstGeom>
          <a:solidFill>
            <a:srgbClr val="FDFD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793790" y="824151"/>
            <a:ext cx="13042821" cy="238125"/>
          </a:xfrm>
          <a:prstGeom prst="rect">
            <a:avLst/>
          </a:prstGeom>
          <a:noFill/>
          <a:ln/>
        </p:spPr>
        <p:txBody>
          <a:bodyPr wrap="none" lIns="0" tIns="0" rIns="0" bIns="0" rtlCol="0" anchor="t"/>
          <a:lstStyle/>
          <a:p>
            <a:pPr marL="0" indent="0" algn="l">
              <a:lnSpc>
                <a:spcPts val="1850"/>
              </a:lnSpc>
              <a:buNone/>
            </a:pPr>
            <a:r>
              <a:rPr lang="en-US" sz="1300" b="1" dirty="0">
                <a:solidFill>
                  <a:srgbClr val="272525"/>
                </a:solidFill>
                <a:latin typeface="Lato" pitchFamily="34" charset="0"/>
                <a:ea typeface="Lato" pitchFamily="34" charset="-122"/>
                <a:cs typeface="Lato" pitchFamily="34" charset="-120"/>
              </a:rPr>
              <a:t>LIVE APPLICATION</a:t>
            </a:r>
            <a:endParaRPr lang="en-US" sz="1300" dirty="0"/>
          </a:p>
        </p:txBody>
      </p:sp>
      <p:pic>
        <p:nvPicPr>
          <p:cNvPr id="3" name="Image 0" descr="preencoded.png"/>
          <p:cNvPicPr>
            <a:picLocks noChangeAspect="1"/>
          </p:cNvPicPr>
          <p:nvPr/>
        </p:nvPicPr>
        <p:blipFill>
          <a:blip r:embed="rId3"/>
          <a:stretch>
            <a:fillRect/>
          </a:stretch>
        </p:blipFill>
        <p:spPr>
          <a:xfrm>
            <a:off x="793790" y="1205746"/>
            <a:ext cx="9782056" cy="5932765"/>
          </a:xfrm>
          <a:prstGeom prst="rect">
            <a:avLst/>
          </a:prstGeom>
        </p:spPr>
      </p:pic>
      <p:sp>
        <p:nvSpPr>
          <p:cNvPr id="4" name="Text 1"/>
          <p:cNvSpPr/>
          <p:nvPr/>
        </p:nvSpPr>
        <p:spPr>
          <a:xfrm>
            <a:off x="793790" y="7281982"/>
            <a:ext cx="13042821" cy="238125"/>
          </a:xfrm>
          <a:prstGeom prst="rect">
            <a:avLst/>
          </a:prstGeom>
          <a:noFill/>
          <a:ln/>
        </p:spPr>
        <p:txBody>
          <a:bodyPr wrap="none" lIns="0" tIns="0" rIns="0" bIns="0" rtlCol="0" anchor="t"/>
          <a:lstStyle/>
          <a:p>
            <a:pPr marL="0" indent="0" algn="l">
              <a:lnSpc>
                <a:spcPts val="1850"/>
              </a:lnSpc>
              <a:buNone/>
            </a:pPr>
            <a:r>
              <a:rPr lang="en-US" sz="1300" dirty="0">
                <a:solidFill>
                  <a:srgbClr val="272525"/>
                </a:solidFill>
                <a:latin typeface="Lato" pitchFamily="34" charset="0"/>
                <a:ea typeface="Lato" pitchFamily="34" charset="-122"/>
                <a:cs typeface="Lato" pitchFamily="34" charset="-120"/>
              </a:rPr>
              <a:t>Live App via WAF — E-commerce frontend loading via Application Gateway (HTTP 200)</a:t>
            </a:r>
            <a:endParaRPr lang="en-US" sz="1300" dirty="0"/>
          </a:p>
        </p:txBody>
      </p:sp>
      <p:sp>
        <p:nvSpPr>
          <p:cNvPr id="5" name="Rectangle 4">
            <a:extLst>
              <a:ext uri="{FF2B5EF4-FFF2-40B4-BE49-F238E27FC236}">
                <a16:creationId xmlns:a16="http://schemas.microsoft.com/office/drawing/2014/main" id="{E968E7E4-0CB4-43ED-AC05-5DF412D40965}"/>
              </a:ext>
            </a:extLst>
          </p:cNvPr>
          <p:cNvSpPr/>
          <p:nvPr/>
        </p:nvSpPr>
        <p:spPr>
          <a:xfrm>
            <a:off x="12841793" y="7757327"/>
            <a:ext cx="1788607" cy="472273"/>
          </a:xfrm>
          <a:prstGeom prst="rect">
            <a:avLst/>
          </a:prstGeom>
          <a:solidFill>
            <a:srgbClr val="FDFD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793790" y="824151"/>
            <a:ext cx="13042821" cy="238125"/>
          </a:xfrm>
          <a:prstGeom prst="rect">
            <a:avLst/>
          </a:prstGeom>
          <a:noFill/>
          <a:ln/>
        </p:spPr>
        <p:txBody>
          <a:bodyPr wrap="none" lIns="0" tIns="0" rIns="0" bIns="0" rtlCol="0" anchor="t"/>
          <a:lstStyle/>
          <a:p>
            <a:pPr marL="0" indent="0" algn="l">
              <a:lnSpc>
                <a:spcPts val="1850"/>
              </a:lnSpc>
              <a:buNone/>
            </a:pPr>
            <a:r>
              <a:rPr lang="en-US" sz="1300" dirty="0">
                <a:solidFill>
                  <a:srgbClr val="272525"/>
                </a:solidFill>
                <a:latin typeface="Lato" pitchFamily="34" charset="0"/>
                <a:ea typeface="Lato" pitchFamily="34" charset="-122"/>
                <a:cs typeface="Lato" pitchFamily="34" charset="-120"/>
              </a:rPr>
              <a:t>LIVE APPLICATION</a:t>
            </a:r>
            <a:endParaRPr lang="en-US" sz="1300" dirty="0"/>
          </a:p>
        </p:txBody>
      </p:sp>
      <p:pic>
        <p:nvPicPr>
          <p:cNvPr id="3" name="Image 0" descr="preencoded.png"/>
          <p:cNvPicPr>
            <a:picLocks noChangeAspect="1"/>
          </p:cNvPicPr>
          <p:nvPr/>
        </p:nvPicPr>
        <p:blipFill>
          <a:blip r:embed="rId3"/>
          <a:stretch>
            <a:fillRect/>
          </a:stretch>
        </p:blipFill>
        <p:spPr>
          <a:xfrm>
            <a:off x="793790" y="1205746"/>
            <a:ext cx="9782056" cy="5932765"/>
          </a:xfrm>
          <a:prstGeom prst="rect">
            <a:avLst/>
          </a:prstGeom>
        </p:spPr>
      </p:pic>
      <p:sp>
        <p:nvSpPr>
          <p:cNvPr id="4" name="Text 1"/>
          <p:cNvSpPr/>
          <p:nvPr/>
        </p:nvSpPr>
        <p:spPr>
          <a:xfrm>
            <a:off x="793790" y="7281982"/>
            <a:ext cx="13042821" cy="238125"/>
          </a:xfrm>
          <a:prstGeom prst="rect">
            <a:avLst/>
          </a:prstGeom>
          <a:noFill/>
          <a:ln/>
        </p:spPr>
        <p:txBody>
          <a:bodyPr wrap="none" lIns="0" tIns="0" rIns="0" bIns="0" rtlCol="0" anchor="t"/>
          <a:lstStyle/>
          <a:p>
            <a:pPr marL="0" indent="0" algn="l">
              <a:lnSpc>
                <a:spcPts val="1850"/>
              </a:lnSpc>
              <a:buNone/>
            </a:pPr>
            <a:r>
              <a:rPr lang="en-US" sz="1300" dirty="0">
                <a:solidFill>
                  <a:srgbClr val="272525"/>
                </a:solidFill>
                <a:latin typeface="Lato" pitchFamily="34" charset="0"/>
                <a:ea typeface="Lato" pitchFamily="34" charset="-122"/>
                <a:cs typeface="Lato" pitchFamily="34" charset="-120"/>
              </a:rPr>
              <a:t>Product Detail Page — Individual product API endpoint returning 200 OK via WAF</a:t>
            </a:r>
            <a:endParaRPr lang="en-US" sz="1300" dirty="0"/>
          </a:p>
        </p:txBody>
      </p:sp>
      <p:sp>
        <p:nvSpPr>
          <p:cNvPr id="5" name="Rectangle 4">
            <a:extLst>
              <a:ext uri="{FF2B5EF4-FFF2-40B4-BE49-F238E27FC236}">
                <a16:creationId xmlns:a16="http://schemas.microsoft.com/office/drawing/2014/main" id="{379947E3-A39D-45D2-8F4B-DE3A4BBF8296}"/>
              </a:ext>
            </a:extLst>
          </p:cNvPr>
          <p:cNvSpPr/>
          <p:nvPr/>
        </p:nvSpPr>
        <p:spPr>
          <a:xfrm>
            <a:off x="12841793" y="7757327"/>
            <a:ext cx="1788607" cy="472273"/>
          </a:xfrm>
          <a:prstGeom prst="rect">
            <a:avLst/>
          </a:prstGeom>
          <a:solidFill>
            <a:srgbClr val="FDFD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793790" y="884634"/>
            <a:ext cx="13042821" cy="215979"/>
          </a:xfrm>
          <a:prstGeom prst="rect">
            <a:avLst/>
          </a:prstGeom>
          <a:noFill/>
          <a:ln/>
        </p:spPr>
        <p:txBody>
          <a:bodyPr wrap="none" lIns="0" tIns="0" rIns="0" bIns="0" rtlCol="0" anchor="t"/>
          <a:lstStyle/>
          <a:p>
            <a:pPr marL="0" indent="0" algn="l">
              <a:lnSpc>
                <a:spcPts val="1700"/>
              </a:lnSpc>
              <a:buNone/>
            </a:pPr>
            <a:r>
              <a:rPr lang="en-US" sz="1250" b="1" dirty="0">
                <a:solidFill>
                  <a:srgbClr val="272525"/>
                </a:solidFill>
                <a:latin typeface="Lato" pitchFamily="34" charset="0"/>
                <a:ea typeface="Lato" pitchFamily="34" charset="-122"/>
                <a:cs typeface="Lato" pitchFamily="34" charset="-120"/>
              </a:rPr>
              <a:t>IRONHACK — DEVOPS &amp; CLOUD</a:t>
            </a:r>
            <a:endParaRPr lang="en-US" sz="1250" dirty="0"/>
          </a:p>
        </p:txBody>
      </p:sp>
      <p:sp>
        <p:nvSpPr>
          <p:cNvPr id="3" name="Text 1"/>
          <p:cNvSpPr/>
          <p:nvPr/>
        </p:nvSpPr>
        <p:spPr>
          <a:xfrm>
            <a:off x="793790" y="1225629"/>
            <a:ext cx="13042821" cy="215979"/>
          </a:xfrm>
          <a:prstGeom prst="rect">
            <a:avLst/>
          </a:prstGeom>
          <a:noFill/>
          <a:ln/>
        </p:spPr>
        <p:txBody>
          <a:bodyPr wrap="none" lIns="0" tIns="0" rIns="0" bIns="0" rtlCol="0" anchor="t"/>
          <a:lstStyle/>
          <a:p>
            <a:pPr marL="0" indent="0" algn="l">
              <a:lnSpc>
                <a:spcPts val="1700"/>
              </a:lnSpc>
              <a:buNone/>
            </a:pPr>
            <a:r>
              <a:rPr lang="en-US" sz="1250" b="1" dirty="0">
                <a:solidFill>
                  <a:srgbClr val="272525"/>
                </a:solidFill>
                <a:latin typeface="Lato" pitchFamily="34" charset="0"/>
                <a:ea typeface="Lato" pitchFamily="34" charset="-122"/>
                <a:cs typeface="Lato" pitchFamily="34" charset="-120"/>
              </a:rPr>
              <a:t>PRIVATE NETWORKING</a:t>
            </a:r>
            <a:endParaRPr lang="en-US" sz="1250" dirty="0"/>
          </a:p>
        </p:txBody>
      </p:sp>
      <p:pic>
        <p:nvPicPr>
          <p:cNvPr id="4" name="Image 0" descr="preencoded.png"/>
          <p:cNvPicPr>
            <a:picLocks noChangeAspect="1"/>
          </p:cNvPicPr>
          <p:nvPr/>
        </p:nvPicPr>
        <p:blipFill>
          <a:blip r:embed="rId3"/>
          <a:stretch>
            <a:fillRect/>
          </a:stretch>
        </p:blipFill>
        <p:spPr>
          <a:xfrm>
            <a:off x="793790" y="1566624"/>
            <a:ext cx="9129951" cy="5537240"/>
          </a:xfrm>
          <a:prstGeom prst="rect">
            <a:avLst/>
          </a:prstGeom>
        </p:spPr>
      </p:pic>
      <p:sp>
        <p:nvSpPr>
          <p:cNvPr id="5" name="Text 2"/>
          <p:cNvSpPr/>
          <p:nvPr/>
        </p:nvSpPr>
        <p:spPr>
          <a:xfrm>
            <a:off x="793790" y="7228880"/>
            <a:ext cx="13042821" cy="215979"/>
          </a:xfrm>
          <a:prstGeom prst="rect">
            <a:avLst/>
          </a:prstGeom>
          <a:noFill/>
          <a:ln/>
        </p:spPr>
        <p:txBody>
          <a:bodyPr wrap="none" lIns="0" tIns="0" rIns="0" bIns="0" rtlCol="0" anchor="t"/>
          <a:lstStyle/>
          <a:p>
            <a:pPr marL="0" indent="0" algn="l">
              <a:lnSpc>
                <a:spcPts val="1700"/>
              </a:lnSpc>
              <a:buNone/>
            </a:pPr>
            <a:r>
              <a:rPr lang="en-US" sz="1250" dirty="0">
                <a:solidFill>
                  <a:srgbClr val="272525"/>
                </a:solidFill>
                <a:latin typeface="Lato" pitchFamily="34" charset="0"/>
                <a:ea typeface="Lato" pitchFamily="34" charset="-122"/>
                <a:cs typeface="Lato" pitchFamily="34" charset="-120"/>
              </a:rPr>
              <a:t>Private Access Enforced — Direct backend URL blocked with 403 Forbidden (no public access)</a:t>
            </a:r>
            <a:endParaRPr lang="en-US" sz="1250" dirty="0"/>
          </a:p>
        </p:txBody>
      </p:sp>
      <p:sp>
        <p:nvSpPr>
          <p:cNvPr id="6" name="Rectangle 5">
            <a:extLst>
              <a:ext uri="{FF2B5EF4-FFF2-40B4-BE49-F238E27FC236}">
                <a16:creationId xmlns:a16="http://schemas.microsoft.com/office/drawing/2014/main" id="{E9B18614-6F8C-4381-BD2D-A2D115FFEC51}"/>
              </a:ext>
            </a:extLst>
          </p:cNvPr>
          <p:cNvSpPr/>
          <p:nvPr/>
        </p:nvSpPr>
        <p:spPr>
          <a:xfrm>
            <a:off x="12841793" y="7757327"/>
            <a:ext cx="1788607" cy="472273"/>
          </a:xfrm>
          <a:prstGeom prst="rect">
            <a:avLst/>
          </a:prstGeom>
          <a:solidFill>
            <a:srgbClr val="FDFD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793790" y="824151"/>
            <a:ext cx="13042821" cy="238125"/>
          </a:xfrm>
          <a:prstGeom prst="rect">
            <a:avLst/>
          </a:prstGeom>
          <a:noFill/>
          <a:ln/>
        </p:spPr>
        <p:txBody>
          <a:bodyPr wrap="none" lIns="0" tIns="0" rIns="0" bIns="0" rtlCol="0" anchor="t"/>
          <a:lstStyle/>
          <a:p>
            <a:pPr marL="0" indent="0" algn="l">
              <a:lnSpc>
                <a:spcPts val="1850"/>
              </a:lnSpc>
              <a:buNone/>
            </a:pPr>
            <a:r>
              <a:rPr lang="en-US" sz="1300" b="1" dirty="0">
                <a:solidFill>
                  <a:srgbClr val="272525"/>
                </a:solidFill>
                <a:latin typeface="Lato" pitchFamily="34" charset="0"/>
                <a:ea typeface="Lato" pitchFamily="34" charset="-122"/>
                <a:cs typeface="Lato" pitchFamily="34" charset="-120"/>
              </a:rPr>
              <a:t>APP SERVICES</a:t>
            </a:r>
            <a:endParaRPr lang="en-US" sz="1300" dirty="0"/>
          </a:p>
        </p:txBody>
      </p:sp>
      <p:pic>
        <p:nvPicPr>
          <p:cNvPr id="3" name="Image 0" descr="preencoded.png"/>
          <p:cNvPicPr>
            <a:picLocks noChangeAspect="1"/>
          </p:cNvPicPr>
          <p:nvPr/>
        </p:nvPicPr>
        <p:blipFill>
          <a:blip r:embed="rId3"/>
          <a:stretch>
            <a:fillRect/>
          </a:stretch>
        </p:blipFill>
        <p:spPr>
          <a:xfrm>
            <a:off x="793790" y="1205746"/>
            <a:ext cx="9782056" cy="5932765"/>
          </a:xfrm>
          <a:prstGeom prst="rect">
            <a:avLst/>
          </a:prstGeom>
        </p:spPr>
      </p:pic>
      <p:sp>
        <p:nvSpPr>
          <p:cNvPr id="4" name="Text 1"/>
          <p:cNvSpPr/>
          <p:nvPr/>
        </p:nvSpPr>
        <p:spPr>
          <a:xfrm>
            <a:off x="793790" y="7281982"/>
            <a:ext cx="13042821" cy="238125"/>
          </a:xfrm>
          <a:prstGeom prst="rect">
            <a:avLst/>
          </a:prstGeom>
          <a:noFill/>
          <a:ln/>
        </p:spPr>
        <p:txBody>
          <a:bodyPr wrap="none" lIns="0" tIns="0" rIns="0" bIns="0" rtlCol="0" anchor="t"/>
          <a:lstStyle/>
          <a:p>
            <a:pPr marL="0" indent="0" algn="l">
              <a:lnSpc>
                <a:spcPts val="1850"/>
              </a:lnSpc>
              <a:buNone/>
            </a:pPr>
            <a:r>
              <a:rPr lang="en-US" sz="1300" dirty="0">
                <a:solidFill>
                  <a:srgbClr val="272525"/>
                </a:solidFill>
                <a:latin typeface="Lato" pitchFamily="34" charset="0"/>
                <a:ea typeface="Lato" pitchFamily="34" charset="-122"/>
                <a:cs typeface="Lato" pitchFamily="34" charset="-120"/>
              </a:rPr>
              <a:t>Backend App Service — Running status confirmed, linked to GitHub repository</a:t>
            </a:r>
            <a:endParaRPr lang="en-US" sz="1300" dirty="0"/>
          </a:p>
        </p:txBody>
      </p:sp>
      <p:sp>
        <p:nvSpPr>
          <p:cNvPr id="5" name="Rectangle 4">
            <a:extLst>
              <a:ext uri="{FF2B5EF4-FFF2-40B4-BE49-F238E27FC236}">
                <a16:creationId xmlns:a16="http://schemas.microsoft.com/office/drawing/2014/main" id="{DEC7F662-CFD2-4665-913C-DA24A88DC34B}"/>
              </a:ext>
            </a:extLst>
          </p:cNvPr>
          <p:cNvSpPr/>
          <p:nvPr/>
        </p:nvSpPr>
        <p:spPr>
          <a:xfrm>
            <a:off x="12841793" y="7757327"/>
            <a:ext cx="1788607" cy="472273"/>
          </a:xfrm>
          <a:prstGeom prst="rect">
            <a:avLst/>
          </a:prstGeom>
          <a:solidFill>
            <a:srgbClr val="FDFD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793790" y="854750"/>
            <a:ext cx="13042821" cy="215979"/>
          </a:xfrm>
          <a:prstGeom prst="rect">
            <a:avLst/>
          </a:prstGeom>
          <a:noFill/>
          <a:ln/>
        </p:spPr>
        <p:txBody>
          <a:bodyPr wrap="none" lIns="0" tIns="0" rIns="0" bIns="0" rtlCol="0" anchor="t"/>
          <a:lstStyle/>
          <a:p>
            <a:pPr marL="0" indent="0" algn="l">
              <a:lnSpc>
                <a:spcPts val="1700"/>
              </a:lnSpc>
              <a:buNone/>
            </a:pPr>
            <a:r>
              <a:rPr lang="en-US" sz="1250" dirty="0">
                <a:solidFill>
                  <a:srgbClr val="272525"/>
                </a:solidFill>
                <a:latin typeface="Lato" pitchFamily="34" charset="0"/>
                <a:ea typeface="Lato" pitchFamily="34" charset="-122"/>
                <a:cs typeface="Lato" pitchFamily="34" charset="-120"/>
              </a:rPr>
              <a:t>IRONHACK — DEVOPS &amp; CLOUD</a:t>
            </a:r>
            <a:endParaRPr lang="en-US" sz="1250" dirty="0"/>
          </a:p>
        </p:txBody>
      </p:sp>
      <p:sp>
        <p:nvSpPr>
          <p:cNvPr id="3" name="Text 1"/>
          <p:cNvSpPr/>
          <p:nvPr/>
        </p:nvSpPr>
        <p:spPr>
          <a:xfrm>
            <a:off x="793790" y="1181814"/>
            <a:ext cx="1984653" cy="248007"/>
          </a:xfrm>
          <a:prstGeom prst="rect">
            <a:avLst/>
          </a:prstGeom>
          <a:noFill/>
          <a:ln/>
        </p:spPr>
        <p:txBody>
          <a:bodyPr wrap="none" lIns="0" tIns="0" rIns="0" bIns="0" rtlCol="0" anchor="t"/>
          <a:lstStyle/>
          <a:p>
            <a:pPr marL="0" indent="0" algn="l">
              <a:lnSpc>
                <a:spcPts val="1950"/>
              </a:lnSpc>
              <a:buNone/>
            </a:pPr>
            <a:r>
              <a:rPr lang="en-US" sz="1550" dirty="0">
                <a:solidFill>
                  <a:srgbClr val="312F2B"/>
                </a:solidFill>
                <a:latin typeface="Gelasio" pitchFamily="34" charset="0"/>
                <a:ea typeface="Gelasio" pitchFamily="34" charset="-122"/>
                <a:cs typeface="Gelasio" pitchFamily="34" charset="-120"/>
              </a:rPr>
              <a:t>MONITORING</a:t>
            </a:r>
            <a:endParaRPr lang="en-US" sz="1550" dirty="0"/>
          </a:p>
        </p:txBody>
      </p:sp>
      <p:pic>
        <p:nvPicPr>
          <p:cNvPr id="4" name="Image 0" descr="preencoded.png"/>
          <p:cNvPicPr>
            <a:picLocks noChangeAspect="1"/>
          </p:cNvPicPr>
          <p:nvPr/>
        </p:nvPicPr>
        <p:blipFill>
          <a:blip r:embed="rId3"/>
          <a:stretch>
            <a:fillRect/>
          </a:stretch>
        </p:blipFill>
        <p:spPr>
          <a:xfrm>
            <a:off x="793790" y="1596509"/>
            <a:ext cx="9129951" cy="5537240"/>
          </a:xfrm>
          <a:prstGeom prst="rect">
            <a:avLst/>
          </a:prstGeom>
        </p:spPr>
      </p:pic>
      <p:sp>
        <p:nvSpPr>
          <p:cNvPr id="5" name="Text 2"/>
          <p:cNvSpPr/>
          <p:nvPr/>
        </p:nvSpPr>
        <p:spPr>
          <a:xfrm>
            <a:off x="793790" y="7258764"/>
            <a:ext cx="13042821" cy="215979"/>
          </a:xfrm>
          <a:prstGeom prst="rect">
            <a:avLst/>
          </a:prstGeom>
          <a:noFill/>
          <a:ln/>
        </p:spPr>
        <p:txBody>
          <a:bodyPr wrap="none" lIns="0" tIns="0" rIns="0" bIns="0" rtlCol="0" anchor="t"/>
          <a:lstStyle/>
          <a:p>
            <a:pPr marL="0" indent="0" algn="l">
              <a:lnSpc>
                <a:spcPts val="1700"/>
              </a:lnSpc>
              <a:buNone/>
            </a:pPr>
            <a:r>
              <a:rPr lang="en-US" sz="1250" dirty="0">
                <a:solidFill>
                  <a:srgbClr val="272525"/>
                </a:solidFill>
                <a:latin typeface="Lato" pitchFamily="34" charset="0"/>
                <a:ea typeface="Lato" pitchFamily="34" charset="-122"/>
                <a:cs typeface="Lato" pitchFamily="34" charset="-120"/>
              </a:rPr>
              <a:t>Azure Monitor Action Group — Email action group ag-group-2 configured and confirmed</a:t>
            </a:r>
            <a:endParaRPr lang="en-US" sz="1250" dirty="0"/>
          </a:p>
        </p:txBody>
      </p:sp>
      <p:sp>
        <p:nvSpPr>
          <p:cNvPr id="6" name="Rectangle 5">
            <a:extLst>
              <a:ext uri="{FF2B5EF4-FFF2-40B4-BE49-F238E27FC236}">
                <a16:creationId xmlns:a16="http://schemas.microsoft.com/office/drawing/2014/main" id="{7E9EE624-4CEE-495A-8F83-7B08404F0976}"/>
              </a:ext>
            </a:extLst>
          </p:cNvPr>
          <p:cNvSpPr/>
          <p:nvPr/>
        </p:nvSpPr>
        <p:spPr>
          <a:xfrm>
            <a:off x="12841793" y="7757327"/>
            <a:ext cx="1788607" cy="472273"/>
          </a:xfrm>
          <a:prstGeom prst="rect">
            <a:avLst/>
          </a:prstGeom>
          <a:solidFill>
            <a:srgbClr val="FDFD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793790" y="1234797"/>
            <a:ext cx="13042821" cy="362903"/>
          </a:xfrm>
          <a:prstGeom prst="rect">
            <a:avLst/>
          </a:prstGeom>
          <a:noFill/>
          <a:ln/>
        </p:spPr>
        <p:txBody>
          <a:bodyPr wrap="none" lIns="0" tIns="0" rIns="0" bIns="0" rtlCol="0" anchor="t"/>
          <a:lstStyle/>
          <a:p>
            <a:pPr marL="0" indent="0" algn="l">
              <a:lnSpc>
                <a:spcPts val="2850"/>
              </a:lnSpc>
              <a:buNone/>
            </a:pPr>
            <a:r>
              <a:rPr lang="en-US" sz="1750" b="1" dirty="0">
                <a:solidFill>
                  <a:srgbClr val="272525"/>
                </a:solidFill>
                <a:latin typeface="Lato" pitchFamily="34" charset="0"/>
                <a:ea typeface="Lato" pitchFamily="34" charset="-122"/>
                <a:cs typeface="Lato" pitchFamily="34" charset="-120"/>
              </a:rPr>
              <a:t>MONITORING</a:t>
            </a:r>
            <a:endParaRPr lang="en-US" sz="1750" dirty="0"/>
          </a:p>
        </p:txBody>
      </p:sp>
      <p:pic>
        <p:nvPicPr>
          <p:cNvPr id="3" name="Image 0" descr="preencoded.png"/>
          <p:cNvPicPr>
            <a:picLocks noChangeAspect="1"/>
          </p:cNvPicPr>
          <p:nvPr/>
        </p:nvPicPr>
        <p:blipFill>
          <a:blip r:embed="rId3"/>
          <a:stretch>
            <a:fillRect/>
          </a:stretch>
        </p:blipFill>
        <p:spPr>
          <a:xfrm>
            <a:off x="793790" y="1852851"/>
            <a:ext cx="13042821" cy="4727972"/>
          </a:xfrm>
          <a:prstGeom prst="rect">
            <a:avLst/>
          </a:prstGeom>
        </p:spPr>
      </p:pic>
      <p:sp>
        <p:nvSpPr>
          <p:cNvPr id="4" name="Text 1"/>
          <p:cNvSpPr/>
          <p:nvPr/>
        </p:nvSpPr>
        <p:spPr>
          <a:xfrm>
            <a:off x="793790" y="6835973"/>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Lato" pitchFamily="34" charset="0"/>
                <a:ea typeface="Lato" pitchFamily="34" charset="-122"/>
                <a:cs typeface="Lato" pitchFamily="34" charset="-120"/>
              </a:rPr>
              <a:t>Alert Rules — 3 custom + 2 smart detector rules enabled (CPU, HTTP errors, response time)</a:t>
            </a:r>
            <a:endParaRPr lang="en-US" sz="1750" dirty="0"/>
          </a:p>
        </p:txBody>
      </p:sp>
      <p:sp>
        <p:nvSpPr>
          <p:cNvPr id="5" name="Rectangle 4">
            <a:extLst>
              <a:ext uri="{FF2B5EF4-FFF2-40B4-BE49-F238E27FC236}">
                <a16:creationId xmlns:a16="http://schemas.microsoft.com/office/drawing/2014/main" id="{5A5577F3-0F0B-4925-A0B9-88D8893BE951}"/>
              </a:ext>
            </a:extLst>
          </p:cNvPr>
          <p:cNvSpPr/>
          <p:nvPr/>
        </p:nvSpPr>
        <p:spPr>
          <a:xfrm>
            <a:off x="12841793" y="7757327"/>
            <a:ext cx="1788607" cy="472273"/>
          </a:xfrm>
          <a:prstGeom prst="rect">
            <a:avLst/>
          </a:prstGeom>
          <a:solidFill>
            <a:srgbClr val="FDFD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793790" y="1824990"/>
            <a:ext cx="13042821" cy="362903"/>
          </a:xfrm>
          <a:prstGeom prst="rect">
            <a:avLst/>
          </a:prstGeom>
          <a:noFill/>
          <a:ln/>
        </p:spPr>
        <p:txBody>
          <a:bodyPr wrap="none" lIns="0" tIns="0" rIns="0" bIns="0" rtlCol="0" anchor="t"/>
          <a:lstStyle/>
          <a:p>
            <a:pPr marL="0" indent="0" algn="l">
              <a:lnSpc>
                <a:spcPts val="2850"/>
              </a:lnSpc>
              <a:buNone/>
            </a:pPr>
            <a:r>
              <a:rPr lang="en-US" sz="1750" b="1" dirty="0">
                <a:solidFill>
                  <a:srgbClr val="272525"/>
                </a:solidFill>
                <a:latin typeface="Lato" pitchFamily="34" charset="0"/>
                <a:ea typeface="Lato" pitchFamily="34" charset="-122"/>
                <a:cs typeface="Lato" pitchFamily="34" charset="-120"/>
              </a:rPr>
              <a:t>MONITORING</a:t>
            </a:r>
            <a:endParaRPr lang="en-US" sz="1750" dirty="0"/>
          </a:p>
        </p:txBody>
      </p:sp>
      <p:pic>
        <p:nvPicPr>
          <p:cNvPr id="3" name="Image 0" descr="preencoded.png"/>
          <p:cNvPicPr>
            <a:picLocks noChangeAspect="1"/>
          </p:cNvPicPr>
          <p:nvPr/>
        </p:nvPicPr>
        <p:blipFill>
          <a:blip r:embed="rId3"/>
          <a:stretch>
            <a:fillRect/>
          </a:stretch>
        </p:blipFill>
        <p:spPr>
          <a:xfrm>
            <a:off x="793790" y="2443043"/>
            <a:ext cx="13042821" cy="3547586"/>
          </a:xfrm>
          <a:prstGeom prst="rect">
            <a:avLst/>
          </a:prstGeom>
        </p:spPr>
      </p:pic>
      <p:sp>
        <p:nvSpPr>
          <p:cNvPr id="4" name="Text 1"/>
          <p:cNvSpPr/>
          <p:nvPr/>
        </p:nvSpPr>
        <p:spPr>
          <a:xfrm>
            <a:off x="793790" y="6245781"/>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Lato" pitchFamily="34" charset="0"/>
                <a:ea typeface="Lato" pitchFamily="34" charset="-122"/>
                <a:cs typeface="Lato" pitchFamily="34" charset="-120"/>
              </a:rPr>
              <a:t>Action Groups — ag-group-2 enabled with 1 email action in rg-3tier-group-2</a:t>
            </a:r>
            <a:endParaRPr lang="en-US" sz="1750" dirty="0"/>
          </a:p>
        </p:txBody>
      </p:sp>
      <p:sp>
        <p:nvSpPr>
          <p:cNvPr id="5" name="Rectangle 4">
            <a:extLst>
              <a:ext uri="{FF2B5EF4-FFF2-40B4-BE49-F238E27FC236}">
                <a16:creationId xmlns:a16="http://schemas.microsoft.com/office/drawing/2014/main" id="{EDB01726-1B22-4E21-B0D2-C3CFB9ADCEE2}"/>
              </a:ext>
            </a:extLst>
          </p:cNvPr>
          <p:cNvSpPr/>
          <p:nvPr/>
        </p:nvSpPr>
        <p:spPr>
          <a:xfrm>
            <a:off x="12841793" y="7757327"/>
            <a:ext cx="1788607" cy="472273"/>
          </a:xfrm>
          <a:prstGeom prst="rect">
            <a:avLst/>
          </a:prstGeom>
          <a:solidFill>
            <a:srgbClr val="FDFD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793790" y="1255038"/>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Lato" pitchFamily="34" charset="0"/>
                <a:ea typeface="Lato" pitchFamily="34" charset="-122"/>
                <a:cs typeface="Lato" pitchFamily="34" charset="-120"/>
              </a:rPr>
              <a:t>MONITORING</a:t>
            </a:r>
            <a:endParaRPr lang="en-US" sz="1750" dirty="0"/>
          </a:p>
        </p:txBody>
      </p:sp>
      <p:sp>
        <p:nvSpPr>
          <p:cNvPr id="3" name="Text 1"/>
          <p:cNvSpPr/>
          <p:nvPr/>
        </p:nvSpPr>
        <p:spPr>
          <a:xfrm>
            <a:off x="793790" y="1873091"/>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Lato" pitchFamily="34" charset="0"/>
                <a:ea typeface="Lato" pitchFamily="34" charset="-122"/>
                <a:cs typeface="Lato" pitchFamily="34" charset="-120"/>
              </a:rPr>
              <a:t>IRONHACK — DEVOPS &amp; CLOUD</a:t>
            </a:r>
            <a:endParaRPr lang="en-US" sz="1750" dirty="0"/>
          </a:p>
        </p:txBody>
      </p:sp>
      <p:pic>
        <p:nvPicPr>
          <p:cNvPr id="4" name="Image 0" descr="preencoded.png"/>
          <p:cNvPicPr>
            <a:picLocks noChangeAspect="1"/>
          </p:cNvPicPr>
          <p:nvPr/>
        </p:nvPicPr>
        <p:blipFill>
          <a:blip r:embed="rId3"/>
          <a:stretch>
            <a:fillRect/>
          </a:stretch>
        </p:blipFill>
        <p:spPr>
          <a:xfrm>
            <a:off x="793790" y="2491145"/>
            <a:ext cx="13042821" cy="4069318"/>
          </a:xfrm>
          <a:prstGeom prst="rect">
            <a:avLst/>
          </a:prstGeom>
        </p:spPr>
      </p:pic>
      <p:sp>
        <p:nvSpPr>
          <p:cNvPr id="5" name="Text 2"/>
          <p:cNvSpPr/>
          <p:nvPr/>
        </p:nvSpPr>
        <p:spPr>
          <a:xfrm>
            <a:off x="793790" y="6815614"/>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Lato" pitchFamily="34" charset="0"/>
                <a:ea typeface="Lato" pitchFamily="34" charset="-122"/>
                <a:cs typeface="Lato" pitchFamily="34" charset="-120"/>
              </a:rPr>
              <a:t>Log Analytics Workspace — law-3tier-group-2 deployed in West US 2</a:t>
            </a:r>
            <a:endParaRPr lang="en-US" sz="1750" dirty="0"/>
          </a:p>
        </p:txBody>
      </p:sp>
      <p:sp>
        <p:nvSpPr>
          <p:cNvPr id="6" name="Rectangle 5">
            <a:extLst>
              <a:ext uri="{FF2B5EF4-FFF2-40B4-BE49-F238E27FC236}">
                <a16:creationId xmlns:a16="http://schemas.microsoft.com/office/drawing/2014/main" id="{76F06BA8-E46D-4AFA-BA3C-400D89B322FE}"/>
              </a:ext>
            </a:extLst>
          </p:cNvPr>
          <p:cNvSpPr/>
          <p:nvPr/>
        </p:nvSpPr>
        <p:spPr>
          <a:xfrm>
            <a:off x="12861889" y="7847759"/>
            <a:ext cx="1788607" cy="472273"/>
          </a:xfrm>
          <a:prstGeom prst="rect">
            <a:avLst/>
          </a:prstGeom>
          <a:solidFill>
            <a:srgbClr val="FDFD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793790" y="1338977"/>
            <a:ext cx="4374118" cy="354330"/>
          </a:xfrm>
          <a:prstGeom prst="rect">
            <a:avLst/>
          </a:prstGeom>
          <a:noFill/>
          <a:ln/>
        </p:spPr>
        <p:txBody>
          <a:bodyPr wrap="none" lIns="0" tIns="0" rIns="0" bIns="0" rtlCol="0" anchor="t"/>
          <a:lstStyle/>
          <a:p>
            <a:pPr marL="0" indent="0" algn="l">
              <a:lnSpc>
                <a:spcPts val="2750"/>
              </a:lnSpc>
              <a:buNone/>
            </a:pPr>
            <a:r>
              <a:rPr lang="en-US" sz="2200" dirty="0">
                <a:solidFill>
                  <a:srgbClr val="312F2B"/>
                </a:solidFill>
                <a:latin typeface="Gelasio" pitchFamily="34" charset="0"/>
                <a:ea typeface="Gelasio" pitchFamily="34" charset="-122"/>
                <a:cs typeface="Gelasio" pitchFamily="34" charset="-120"/>
              </a:rPr>
              <a:t>IRONHACK — DEVOPS &amp; CLOUD</a:t>
            </a:r>
            <a:endParaRPr lang="en-US" sz="2200" dirty="0"/>
          </a:p>
        </p:txBody>
      </p:sp>
      <p:sp>
        <p:nvSpPr>
          <p:cNvPr id="3" name="Text 1"/>
          <p:cNvSpPr/>
          <p:nvPr/>
        </p:nvSpPr>
        <p:spPr>
          <a:xfrm>
            <a:off x="793790" y="178403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12F2B"/>
                </a:solidFill>
                <a:latin typeface="Gelasio" pitchFamily="34" charset="0"/>
                <a:ea typeface="Gelasio" pitchFamily="34" charset="-122"/>
                <a:cs typeface="Gelasio" pitchFamily="34" charset="-120"/>
              </a:rPr>
              <a:t>MONITORING</a:t>
            </a:r>
            <a:endParaRPr lang="en-US" sz="2200" dirty="0"/>
          </a:p>
        </p:txBody>
      </p:sp>
      <p:pic>
        <p:nvPicPr>
          <p:cNvPr id="4" name="Image 0" descr="preencoded.png"/>
          <p:cNvPicPr>
            <a:picLocks noChangeAspect="1"/>
          </p:cNvPicPr>
          <p:nvPr/>
        </p:nvPicPr>
        <p:blipFill>
          <a:blip r:embed="rId3"/>
          <a:stretch>
            <a:fillRect/>
          </a:stretch>
        </p:blipFill>
        <p:spPr>
          <a:xfrm>
            <a:off x="793790" y="2478524"/>
            <a:ext cx="13042821" cy="3175873"/>
          </a:xfrm>
          <a:prstGeom prst="rect">
            <a:avLst/>
          </a:prstGeom>
        </p:spPr>
      </p:pic>
      <p:sp>
        <p:nvSpPr>
          <p:cNvPr id="5" name="Text 2"/>
          <p:cNvSpPr/>
          <p:nvPr/>
        </p:nvSpPr>
        <p:spPr>
          <a:xfrm>
            <a:off x="793790" y="5909548"/>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Lato" pitchFamily="34" charset="0"/>
                <a:ea typeface="Lato" pitchFamily="34" charset="-122"/>
                <a:cs typeface="Lato" pitchFamily="34" charset="-120"/>
              </a:rPr>
              <a:t>Application Insights — Two instances (backend + frontend) in rg-3tier-group-2</a:t>
            </a:r>
            <a:endParaRPr lang="en-US" sz="1750" dirty="0"/>
          </a:p>
        </p:txBody>
      </p:sp>
      <p:sp>
        <p:nvSpPr>
          <p:cNvPr id="6" name="Text 3"/>
          <p:cNvSpPr/>
          <p:nvPr/>
        </p:nvSpPr>
        <p:spPr>
          <a:xfrm>
            <a:off x="793790" y="6527602"/>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Lato" pitchFamily="34" charset="0"/>
                <a:ea typeface="Lato" pitchFamily="34" charset="-122"/>
                <a:cs typeface="Lato" pitchFamily="34" charset="-120"/>
              </a:rPr>
              <a:t>23 / 32</a:t>
            </a:r>
            <a:endParaRPr lang="en-US" sz="1750" dirty="0"/>
          </a:p>
        </p:txBody>
      </p:sp>
      <p:sp>
        <p:nvSpPr>
          <p:cNvPr id="7" name="Rectangle 6">
            <a:extLst>
              <a:ext uri="{FF2B5EF4-FFF2-40B4-BE49-F238E27FC236}">
                <a16:creationId xmlns:a16="http://schemas.microsoft.com/office/drawing/2014/main" id="{817B3739-F54A-42D5-9CD9-40017F9558BE}"/>
              </a:ext>
            </a:extLst>
          </p:cNvPr>
          <p:cNvSpPr/>
          <p:nvPr/>
        </p:nvSpPr>
        <p:spPr>
          <a:xfrm>
            <a:off x="12841793" y="7767375"/>
            <a:ext cx="1788607" cy="472273"/>
          </a:xfrm>
          <a:prstGeom prst="rect">
            <a:avLst/>
          </a:prstGeom>
          <a:solidFill>
            <a:srgbClr val="FDFD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786527" y="762714"/>
            <a:ext cx="13057346" cy="281345"/>
          </a:xfrm>
          <a:prstGeom prst="rect">
            <a:avLst/>
          </a:prstGeom>
          <a:noFill/>
          <a:ln/>
        </p:spPr>
        <p:txBody>
          <a:bodyPr wrap="none" lIns="0" tIns="0" rIns="0" bIns="0" rtlCol="0" anchor="t"/>
          <a:lstStyle/>
          <a:p>
            <a:pPr marL="0" indent="0" algn="l">
              <a:lnSpc>
                <a:spcPts val="2200"/>
              </a:lnSpc>
              <a:buNone/>
            </a:pPr>
            <a:r>
              <a:rPr lang="en-US" sz="1500" dirty="0">
                <a:solidFill>
                  <a:srgbClr val="272525"/>
                </a:solidFill>
                <a:latin typeface="Lato" pitchFamily="34" charset="0"/>
                <a:ea typeface="Lato" pitchFamily="34" charset="-122"/>
                <a:cs typeface="Lato" pitchFamily="34" charset="-120"/>
              </a:rPr>
              <a:t>IRONHACK — DEVOPS &amp; CLOUD DATABASE</a:t>
            </a:r>
            <a:endParaRPr lang="en-US" sz="1500" dirty="0"/>
          </a:p>
        </p:txBody>
      </p:sp>
      <p:pic>
        <p:nvPicPr>
          <p:cNvPr id="3" name="Image 0" descr="preencoded.png"/>
          <p:cNvPicPr>
            <a:picLocks noChangeAspect="1"/>
          </p:cNvPicPr>
          <p:nvPr/>
        </p:nvPicPr>
        <p:blipFill>
          <a:blip r:embed="rId3"/>
          <a:stretch>
            <a:fillRect/>
          </a:stretch>
        </p:blipFill>
        <p:spPr>
          <a:xfrm>
            <a:off x="786527" y="1225034"/>
            <a:ext cx="11098649" cy="5932170"/>
          </a:xfrm>
          <a:prstGeom prst="rect">
            <a:avLst/>
          </a:prstGeom>
        </p:spPr>
      </p:pic>
      <p:sp>
        <p:nvSpPr>
          <p:cNvPr id="4" name="Text 1"/>
          <p:cNvSpPr/>
          <p:nvPr/>
        </p:nvSpPr>
        <p:spPr>
          <a:xfrm>
            <a:off x="786527" y="7338179"/>
            <a:ext cx="13057346" cy="281345"/>
          </a:xfrm>
          <a:prstGeom prst="rect">
            <a:avLst/>
          </a:prstGeom>
          <a:noFill/>
          <a:ln/>
        </p:spPr>
        <p:txBody>
          <a:bodyPr wrap="none" lIns="0" tIns="0" rIns="0" bIns="0" rtlCol="0" anchor="t"/>
          <a:lstStyle/>
          <a:p>
            <a:pPr marL="0" indent="0" algn="l">
              <a:lnSpc>
                <a:spcPts val="2200"/>
              </a:lnSpc>
              <a:buNone/>
            </a:pPr>
            <a:r>
              <a:rPr lang="en-US" sz="1500" dirty="0">
                <a:solidFill>
                  <a:srgbClr val="272525"/>
                </a:solidFill>
                <a:latin typeface="Lato" pitchFamily="34" charset="0"/>
                <a:ea typeface="Lato" pitchFamily="34" charset="-122"/>
                <a:cs typeface="Lato" pitchFamily="34" charset="-120"/>
              </a:rPr>
              <a:t>Azure SQL Database — db-3tier-group-2 Online, Serverless Gen5, Private Endpoint only</a:t>
            </a:r>
            <a:endParaRPr lang="en-US" sz="1500" dirty="0"/>
          </a:p>
        </p:txBody>
      </p:sp>
      <p:sp>
        <p:nvSpPr>
          <p:cNvPr id="5" name="Rectangle 4">
            <a:extLst>
              <a:ext uri="{FF2B5EF4-FFF2-40B4-BE49-F238E27FC236}">
                <a16:creationId xmlns:a16="http://schemas.microsoft.com/office/drawing/2014/main" id="{87D0C1C2-4EDC-4429-A305-E37F23D207E1}"/>
              </a:ext>
            </a:extLst>
          </p:cNvPr>
          <p:cNvSpPr/>
          <p:nvPr/>
        </p:nvSpPr>
        <p:spPr>
          <a:xfrm>
            <a:off x="12841793" y="7757327"/>
            <a:ext cx="1788607" cy="472273"/>
          </a:xfrm>
          <a:prstGeom prst="rect">
            <a:avLst/>
          </a:prstGeom>
          <a:solidFill>
            <a:srgbClr val="FDFD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786527" y="762714"/>
            <a:ext cx="13057346" cy="281345"/>
          </a:xfrm>
          <a:prstGeom prst="rect">
            <a:avLst/>
          </a:prstGeom>
          <a:noFill/>
          <a:ln/>
        </p:spPr>
        <p:txBody>
          <a:bodyPr wrap="none" lIns="0" tIns="0" rIns="0" bIns="0" rtlCol="0" anchor="t"/>
          <a:lstStyle/>
          <a:p>
            <a:pPr marL="0" indent="0" algn="l">
              <a:lnSpc>
                <a:spcPts val="2200"/>
              </a:lnSpc>
              <a:buNone/>
            </a:pPr>
            <a:r>
              <a:rPr lang="en-US" sz="1500" dirty="0">
                <a:solidFill>
                  <a:srgbClr val="272525"/>
                </a:solidFill>
                <a:latin typeface="Lato" pitchFamily="34" charset="0"/>
                <a:ea typeface="Lato" pitchFamily="34" charset="-122"/>
                <a:cs typeface="Lato" pitchFamily="34" charset="-120"/>
              </a:rPr>
              <a:t>NETWORKING</a:t>
            </a:r>
            <a:endParaRPr lang="en-US" sz="1500" dirty="0"/>
          </a:p>
        </p:txBody>
      </p:sp>
      <p:pic>
        <p:nvPicPr>
          <p:cNvPr id="3" name="Image 0" descr="preencoded.png"/>
          <p:cNvPicPr>
            <a:picLocks noChangeAspect="1"/>
          </p:cNvPicPr>
          <p:nvPr/>
        </p:nvPicPr>
        <p:blipFill>
          <a:blip r:embed="rId3"/>
          <a:stretch>
            <a:fillRect/>
          </a:stretch>
        </p:blipFill>
        <p:spPr>
          <a:xfrm>
            <a:off x="786527" y="1225034"/>
            <a:ext cx="11098649" cy="5932170"/>
          </a:xfrm>
          <a:prstGeom prst="rect">
            <a:avLst/>
          </a:prstGeom>
        </p:spPr>
      </p:pic>
      <p:sp>
        <p:nvSpPr>
          <p:cNvPr id="4" name="Text 1"/>
          <p:cNvSpPr/>
          <p:nvPr/>
        </p:nvSpPr>
        <p:spPr>
          <a:xfrm>
            <a:off x="786527" y="7338179"/>
            <a:ext cx="13057346" cy="281345"/>
          </a:xfrm>
          <a:prstGeom prst="rect">
            <a:avLst/>
          </a:prstGeom>
          <a:noFill/>
          <a:ln/>
        </p:spPr>
        <p:txBody>
          <a:bodyPr wrap="none" lIns="0" tIns="0" rIns="0" bIns="0" rtlCol="0" anchor="t"/>
          <a:lstStyle/>
          <a:p>
            <a:pPr marL="0" indent="0" algn="l">
              <a:lnSpc>
                <a:spcPts val="2200"/>
              </a:lnSpc>
              <a:buNone/>
            </a:pPr>
            <a:r>
              <a:rPr lang="en-US" sz="1500" dirty="0">
                <a:solidFill>
                  <a:srgbClr val="272525"/>
                </a:solidFill>
                <a:latin typeface="Lato" pitchFamily="34" charset="0"/>
                <a:ea typeface="Lato" pitchFamily="34" charset="-122"/>
                <a:cs typeface="Lato" pitchFamily="34" charset="-120"/>
              </a:rPr>
              <a:t>Network Security Groups — 4 NSGs covering gateway, app, data, and VM subnets</a:t>
            </a:r>
            <a:endParaRPr lang="en-US" sz="1500" dirty="0"/>
          </a:p>
        </p:txBody>
      </p:sp>
      <p:sp>
        <p:nvSpPr>
          <p:cNvPr id="5" name="Rectangle 4">
            <a:extLst>
              <a:ext uri="{FF2B5EF4-FFF2-40B4-BE49-F238E27FC236}">
                <a16:creationId xmlns:a16="http://schemas.microsoft.com/office/drawing/2014/main" id="{AD40CB53-0757-4016-9E60-3F755351E8BB}"/>
              </a:ext>
            </a:extLst>
          </p:cNvPr>
          <p:cNvSpPr/>
          <p:nvPr/>
        </p:nvSpPr>
        <p:spPr>
          <a:xfrm>
            <a:off x="12841793" y="7757327"/>
            <a:ext cx="1788607" cy="472273"/>
          </a:xfrm>
          <a:prstGeom prst="rect">
            <a:avLst/>
          </a:prstGeom>
          <a:solidFill>
            <a:srgbClr val="FDFD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782955" y="615077"/>
            <a:ext cx="2376845" cy="297061"/>
          </a:xfrm>
          <a:prstGeom prst="rect">
            <a:avLst/>
          </a:prstGeom>
          <a:noFill/>
          <a:ln/>
        </p:spPr>
        <p:txBody>
          <a:bodyPr wrap="none" lIns="0" tIns="0" rIns="0" bIns="0" rtlCol="0" anchor="t"/>
          <a:lstStyle/>
          <a:p>
            <a:pPr marL="0" indent="0" algn="l">
              <a:lnSpc>
                <a:spcPts val="2300"/>
              </a:lnSpc>
              <a:buNone/>
            </a:pPr>
            <a:r>
              <a:rPr lang="en-US" sz="1850" dirty="0">
                <a:solidFill>
                  <a:srgbClr val="312F2B"/>
                </a:solidFill>
                <a:latin typeface="Gelasio" pitchFamily="34" charset="0"/>
                <a:ea typeface="Gelasio" pitchFamily="34" charset="-122"/>
                <a:cs typeface="Gelasio" pitchFamily="34" charset="-120"/>
              </a:rPr>
              <a:t>NETWORKING</a:t>
            </a:r>
            <a:endParaRPr lang="en-US" sz="1850" dirty="0"/>
          </a:p>
        </p:txBody>
      </p:sp>
      <p:pic>
        <p:nvPicPr>
          <p:cNvPr id="3" name="Image 0" descr="preencoded.png"/>
          <p:cNvPicPr>
            <a:picLocks noChangeAspect="1"/>
          </p:cNvPicPr>
          <p:nvPr/>
        </p:nvPicPr>
        <p:blipFill>
          <a:blip r:embed="rId3"/>
          <a:stretch>
            <a:fillRect/>
          </a:stretch>
        </p:blipFill>
        <p:spPr>
          <a:xfrm>
            <a:off x="782955" y="1230868"/>
            <a:ext cx="11104721" cy="5935385"/>
          </a:xfrm>
          <a:prstGeom prst="rect">
            <a:avLst/>
          </a:prstGeom>
        </p:spPr>
      </p:pic>
      <p:sp>
        <p:nvSpPr>
          <p:cNvPr id="4" name="Text 1"/>
          <p:cNvSpPr/>
          <p:nvPr/>
        </p:nvSpPr>
        <p:spPr>
          <a:xfrm>
            <a:off x="782955" y="7345561"/>
            <a:ext cx="13064490" cy="279559"/>
          </a:xfrm>
          <a:prstGeom prst="rect">
            <a:avLst/>
          </a:prstGeom>
          <a:noFill/>
          <a:ln/>
        </p:spPr>
        <p:txBody>
          <a:bodyPr wrap="none" lIns="0" tIns="0" rIns="0" bIns="0" rtlCol="0" anchor="t"/>
          <a:lstStyle/>
          <a:p>
            <a:pPr marL="0" indent="0" algn="l">
              <a:lnSpc>
                <a:spcPts val="2200"/>
              </a:lnSpc>
              <a:buNone/>
            </a:pPr>
            <a:r>
              <a:rPr lang="en-US" sz="1450" dirty="0">
                <a:solidFill>
                  <a:srgbClr val="272525"/>
                </a:solidFill>
                <a:latin typeface="Lato" pitchFamily="34" charset="0"/>
                <a:ea typeface="Lato" pitchFamily="34" charset="-122"/>
                <a:cs typeface="Lato" pitchFamily="34" charset="-120"/>
              </a:rPr>
              <a:t>Virtual Network &amp; Subnets — vnet-3tier-group-2 with 4 subnets (gateway, data, app, applic)</a:t>
            </a:r>
            <a:endParaRPr lang="en-US" sz="1450" dirty="0"/>
          </a:p>
        </p:txBody>
      </p:sp>
      <p:sp>
        <p:nvSpPr>
          <p:cNvPr id="5" name="Rectangle 4">
            <a:extLst>
              <a:ext uri="{FF2B5EF4-FFF2-40B4-BE49-F238E27FC236}">
                <a16:creationId xmlns:a16="http://schemas.microsoft.com/office/drawing/2014/main" id="{437298FE-84DD-4747-8141-75B4DDCDD187}"/>
              </a:ext>
            </a:extLst>
          </p:cNvPr>
          <p:cNvSpPr/>
          <p:nvPr/>
        </p:nvSpPr>
        <p:spPr>
          <a:xfrm>
            <a:off x="12841793" y="7757327"/>
            <a:ext cx="1788607" cy="472273"/>
          </a:xfrm>
          <a:prstGeom prst="rect">
            <a:avLst/>
          </a:prstGeom>
          <a:solidFill>
            <a:srgbClr val="FDFD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793790" y="794742"/>
            <a:ext cx="13042821" cy="238125"/>
          </a:xfrm>
          <a:prstGeom prst="rect">
            <a:avLst/>
          </a:prstGeom>
          <a:noFill/>
          <a:ln/>
        </p:spPr>
        <p:txBody>
          <a:bodyPr wrap="none" lIns="0" tIns="0" rIns="0" bIns="0" rtlCol="0" anchor="t"/>
          <a:lstStyle/>
          <a:p>
            <a:pPr marL="0" indent="0" algn="l">
              <a:lnSpc>
                <a:spcPts val="1850"/>
              </a:lnSpc>
              <a:buNone/>
            </a:pPr>
            <a:r>
              <a:rPr lang="en-US" sz="1300" dirty="0">
                <a:solidFill>
                  <a:srgbClr val="272525"/>
                </a:solidFill>
                <a:latin typeface="Lato" pitchFamily="34" charset="0"/>
                <a:ea typeface="Lato" pitchFamily="34" charset="-122"/>
                <a:cs typeface="Lato" pitchFamily="34" charset="-120"/>
              </a:rPr>
              <a:t>IRONHACK — DEVOPS &amp; CLOUD</a:t>
            </a:r>
            <a:endParaRPr lang="en-US" sz="1300" dirty="0"/>
          </a:p>
        </p:txBody>
      </p:sp>
      <p:sp>
        <p:nvSpPr>
          <p:cNvPr id="3" name="Text 1"/>
          <p:cNvSpPr/>
          <p:nvPr/>
        </p:nvSpPr>
        <p:spPr>
          <a:xfrm>
            <a:off x="793790" y="1176337"/>
            <a:ext cx="13042821" cy="238125"/>
          </a:xfrm>
          <a:prstGeom prst="rect">
            <a:avLst/>
          </a:prstGeom>
          <a:noFill/>
          <a:ln/>
        </p:spPr>
        <p:txBody>
          <a:bodyPr wrap="none" lIns="0" tIns="0" rIns="0" bIns="0" rtlCol="0" anchor="t"/>
          <a:lstStyle/>
          <a:p>
            <a:pPr marL="0" indent="0" algn="l">
              <a:lnSpc>
                <a:spcPts val="1850"/>
              </a:lnSpc>
              <a:buNone/>
            </a:pPr>
            <a:r>
              <a:rPr lang="en-US" sz="1300" b="1" dirty="0">
                <a:solidFill>
                  <a:srgbClr val="272525"/>
                </a:solidFill>
                <a:latin typeface="Lato" pitchFamily="34" charset="0"/>
                <a:ea typeface="Lato" pitchFamily="34" charset="-122"/>
                <a:cs typeface="Lato" pitchFamily="34" charset="-120"/>
              </a:rPr>
              <a:t>APPLICATION GATEWAY</a:t>
            </a:r>
            <a:endParaRPr lang="en-US" sz="1300" dirty="0"/>
          </a:p>
        </p:txBody>
      </p:sp>
      <p:pic>
        <p:nvPicPr>
          <p:cNvPr id="4" name="Image 0" descr="preencoded.png"/>
          <p:cNvPicPr>
            <a:picLocks noChangeAspect="1"/>
          </p:cNvPicPr>
          <p:nvPr/>
        </p:nvPicPr>
        <p:blipFill>
          <a:blip r:embed="rId3"/>
          <a:stretch>
            <a:fillRect/>
          </a:stretch>
        </p:blipFill>
        <p:spPr>
          <a:xfrm>
            <a:off x="793790" y="1557933"/>
            <a:ext cx="9782056" cy="5228392"/>
          </a:xfrm>
          <a:prstGeom prst="rect">
            <a:avLst/>
          </a:prstGeom>
        </p:spPr>
      </p:pic>
      <p:sp>
        <p:nvSpPr>
          <p:cNvPr id="5" name="Text 2"/>
          <p:cNvSpPr/>
          <p:nvPr/>
        </p:nvSpPr>
        <p:spPr>
          <a:xfrm>
            <a:off x="793790" y="6929795"/>
            <a:ext cx="13042821" cy="238125"/>
          </a:xfrm>
          <a:prstGeom prst="rect">
            <a:avLst/>
          </a:prstGeom>
          <a:noFill/>
          <a:ln/>
        </p:spPr>
        <p:txBody>
          <a:bodyPr wrap="none" lIns="0" tIns="0" rIns="0" bIns="0" rtlCol="0" anchor="t"/>
          <a:lstStyle/>
          <a:p>
            <a:pPr marL="0" indent="0" algn="l">
              <a:lnSpc>
                <a:spcPts val="1850"/>
              </a:lnSpc>
              <a:buNone/>
            </a:pPr>
            <a:r>
              <a:rPr lang="en-US" sz="1300" dirty="0">
                <a:solidFill>
                  <a:srgbClr val="272525"/>
                </a:solidFill>
                <a:latin typeface="Lato" pitchFamily="34" charset="0"/>
                <a:ea typeface="Lato" pitchFamily="34" charset="-122"/>
                <a:cs typeface="Lato" pitchFamily="34" charset="-120"/>
              </a:rPr>
              <a:t>Application Gateway WAF v2 — appgw-3tier-group-2, Public IP 20.42.155.71, Zones 1-2-3</a:t>
            </a:r>
            <a:endParaRPr lang="en-US" sz="1300" dirty="0"/>
          </a:p>
        </p:txBody>
      </p:sp>
      <p:sp>
        <p:nvSpPr>
          <p:cNvPr id="6" name="Text 3"/>
          <p:cNvSpPr/>
          <p:nvPr/>
        </p:nvSpPr>
        <p:spPr>
          <a:xfrm>
            <a:off x="793790" y="7311390"/>
            <a:ext cx="13042821" cy="238125"/>
          </a:xfrm>
          <a:prstGeom prst="rect">
            <a:avLst/>
          </a:prstGeom>
          <a:noFill/>
          <a:ln/>
        </p:spPr>
        <p:txBody>
          <a:bodyPr wrap="none" lIns="0" tIns="0" rIns="0" bIns="0" rtlCol="0" anchor="t"/>
          <a:lstStyle/>
          <a:p>
            <a:pPr marL="0" indent="0" algn="l">
              <a:lnSpc>
                <a:spcPts val="1850"/>
              </a:lnSpc>
              <a:buNone/>
            </a:pPr>
            <a:r>
              <a:rPr lang="en-US" sz="1300" dirty="0">
                <a:solidFill>
                  <a:srgbClr val="272525"/>
                </a:solidFill>
                <a:latin typeface="Lato" pitchFamily="34" charset="0"/>
                <a:ea typeface="Lato" pitchFamily="34" charset="-122"/>
                <a:cs typeface="Lato" pitchFamily="34" charset="-120"/>
              </a:rPr>
              <a:t>27 / 32</a:t>
            </a:r>
            <a:endParaRPr lang="en-US" sz="1300" dirty="0"/>
          </a:p>
        </p:txBody>
      </p:sp>
      <p:sp>
        <p:nvSpPr>
          <p:cNvPr id="7" name="Rectangle 6">
            <a:extLst>
              <a:ext uri="{FF2B5EF4-FFF2-40B4-BE49-F238E27FC236}">
                <a16:creationId xmlns:a16="http://schemas.microsoft.com/office/drawing/2014/main" id="{A049137D-E1BF-4ACF-BF43-1CCFEDFAA87C}"/>
              </a:ext>
            </a:extLst>
          </p:cNvPr>
          <p:cNvSpPr/>
          <p:nvPr/>
        </p:nvSpPr>
        <p:spPr>
          <a:xfrm>
            <a:off x="12841793" y="7757327"/>
            <a:ext cx="1788607" cy="472273"/>
          </a:xfrm>
          <a:prstGeom prst="rect">
            <a:avLst/>
          </a:prstGeom>
          <a:solidFill>
            <a:srgbClr val="FDFD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793790" y="754856"/>
            <a:ext cx="13042821" cy="261223"/>
          </a:xfrm>
          <a:prstGeom prst="rect">
            <a:avLst/>
          </a:prstGeom>
          <a:noFill/>
          <a:ln/>
        </p:spPr>
        <p:txBody>
          <a:bodyPr wrap="none" lIns="0" tIns="0" rIns="0" bIns="0" rtlCol="0" anchor="t"/>
          <a:lstStyle/>
          <a:p>
            <a:pPr marL="0" indent="0" algn="l">
              <a:lnSpc>
                <a:spcPts val="2050"/>
              </a:lnSpc>
              <a:buNone/>
            </a:pPr>
            <a:r>
              <a:rPr lang="en-US" sz="1400" dirty="0">
                <a:solidFill>
                  <a:srgbClr val="272525"/>
                </a:solidFill>
                <a:latin typeface="Lato" pitchFamily="34" charset="0"/>
                <a:ea typeface="Lato" pitchFamily="34" charset="-122"/>
                <a:cs typeface="Lato" pitchFamily="34" charset="-120"/>
              </a:rPr>
              <a:t>IRONHACK — DEVOPS &amp; CLOUD</a:t>
            </a:r>
            <a:endParaRPr lang="en-US" sz="1400" dirty="0"/>
          </a:p>
        </p:txBody>
      </p:sp>
      <p:sp>
        <p:nvSpPr>
          <p:cNvPr id="3" name="Text 1"/>
          <p:cNvSpPr/>
          <p:nvPr/>
        </p:nvSpPr>
        <p:spPr>
          <a:xfrm>
            <a:off x="793790" y="1179314"/>
            <a:ext cx="13042821" cy="261223"/>
          </a:xfrm>
          <a:prstGeom prst="rect">
            <a:avLst/>
          </a:prstGeom>
          <a:noFill/>
          <a:ln/>
        </p:spPr>
        <p:txBody>
          <a:bodyPr wrap="none" lIns="0" tIns="0" rIns="0" bIns="0" rtlCol="0" anchor="t"/>
          <a:lstStyle/>
          <a:p>
            <a:pPr marL="0" indent="0" algn="l">
              <a:lnSpc>
                <a:spcPts val="2050"/>
              </a:lnSpc>
              <a:buNone/>
            </a:pPr>
            <a:r>
              <a:rPr lang="en-US" sz="1400" b="1" dirty="0">
                <a:solidFill>
                  <a:srgbClr val="272525"/>
                </a:solidFill>
                <a:latin typeface="Lato" pitchFamily="34" charset="0"/>
                <a:ea typeface="Lato" pitchFamily="34" charset="-122"/>
                <a:cs typeface="Lato" pitchFamily="34" charset="-120"/>
              </a:rPr>
              <a:t>APPLICATION GATEWAY</a:t>
            </a:r>
            <a:endParaRPr lang="en-US" sz="1400" dirty="0"/>
          </a:p>
        </p:txBody>
      </p:sp>
      <p:pic>
        <p:nvPicPr>
          <p:cNvPr id="4" name="Image 0" descr="preencoded.png"/>
          <p:cNvPicPr>
            <a:picLocks noChangeAspect="1"/>
          </p:cNvPicPr>
          <p:nvPr/>
        </p:nvPicPr>
        <p:blipFill>
          <a:blip r:embed="rId3"/>
          <a:stretch>
            <a:fillRect/>
          </a:stretch>
        </p:blipFill>
        <p:spPr>
          <a:xfrm>
            <a:off x="793790" y="1603772"/>
            <a:ext cx="10434161" cy="5577007"/>
          </a:xfrm>
          <a:prstGeom prst="rect">
            <a:avLst/>
          </a:prstGeom>
        </p:spPr>
      </p:pic>
      <p:sp>
        <p:nvSpPr>
          <p:cNvPr id="5" name="Text 2"/>
          <p:cNvSpPr/>
          <p:nvPr/>
        </p:nvSpPr>
        <p:spPr>
          <a:xfrm>
            <a:off x="793790" y="7344013"/>
            <a:ext cx="13042821" cy="261223"/>
          </a:xfrm>
          <a:prstGeom prst="rect">
            <a:avLst/>
          </a:prstGeom>
          <a:noFill/>
          <a:ln/>
        </p:spPr>
        <p:txBody>
          <a:bodyPr wrap="none" lIns="0" tIns="0" rIns="0" bIns="0" rtlCol="0" anchor="t"/>
          <a:lstStyle/>
          <a:p>
            <a:pPr marL="0" indent="0" algn="l">
              <a:lnSpc>
                <a:spcPts val="2050"/>
              </a:lnSpc>
              <a:buNone/>
            </a:pPr>
            <a:r>
              <a:rPr lang="en-US" sz="1400" dirty="0">
                <a:solidFill>
                  <a:srgbClr val="272525"/>
                </a:solidFill>
                <a:latin typeface="Lato" pitchFamily="34" charset="0"/>
                <a:ea typeface="Lato" pitchFamily="34" charset="-122"/>
                <a:cs typeface="Lato" pitchFamily="34" charset="-120"/>
              </a:rPr>
              <a:t>AGW Backend Settings — Frontend (443 HTTPS) and Backend (443 HTTPS) configured</a:t>
            </a:r>
            <a:endParaRPr lang="en-US" sz="1400" dirty="0"/>
          </a:p>
        </p:txBody>
      </p:sp>
      <p:sp>
        <p:nvSpPr>
          <p:cNvPr id="6" name="Rectangle 5">
            <a:extLst>
              <a:ext uri="{FF2B5EF4-FFF2-40B4-BE49-F238E27FC236}">
                <a16:creationId xmlns:a16="http://schemas.microsoft.com/office/drawing/2014/main" id="{85CF758A-928D-448C-950A-6B7C3745F00D}"/>
              </a:ext>
            </a:extLst>
          </p:cNvPr>
          <p:cNvSpPr/>
          <p:nvPr/>
        </p:nvSpPr>
        <p:spPr>
          <a:xfrm>
            <a:off x="12841793" y="7757327"/>
            <a:ext cx="1788607" cy="472273"/>
          </a:xfrm>
          <a:prstGeom prst="rect">
            <a:avLst/>
          </a:prstGeom>
          <a:solidFill>
            <a:srgbClr val="FDFD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793790" y="754856"/>
            <a:ext cx="13042821" cy="261223"/>
          </a:xfrm>
          <a:prstGeom prst="rect">
            <a:avLst/>
          </a:prstGeom>
          <a:noFill/>
          <a:ln/>
        </p:spPr>
        <p:txBody>
          <a:bodyPr wrap="none" lIns="0" tIns="0" rIns="0" bIns="0" rtlCol="0" anchor="t"/>
          <a:lstStyle/>
          <a:p>
            <a:pPr marL="0" indent="0" algn="l">
              <a:lnSpc>
                <a:spcPts val="2050"/>
              </a:lnSpc>
              <a:buNone/>
            </a:pPr>
            <a:r>
              <a:rPr lang="en-US" sz="1400" dirty="0">
                <a:solidFill>
                  <a:srgbClr val="272525"/>
                </a:solidFill>
                <a:latin typeface="Lato" pitchFamily="34" charset="0"/>
                <a:ea typeface="Lato" pitchFamily="34" charset="-122"/>
                <a:cs typeface="Lato" pitchFamily="34" charset="-120"/>
              </a:rPr>
              <a:t>IRONHACK — DEVOPS &amp; CLOUD</a:t>
            </a:r>
            <a:endParaRPr lang="en-US" sz="1400" dirty="0"/>
          </a:p>
        </p:txBody>
      </p:sp>
      <p:sp>
        <p:nvSpPr>
          <p:cNvPr id="3" name="Text 1"/>
          <p:cNvSpPr/>
          <p:nvPr/>
        </p:nvSpPr>
        <p:spPr>
          <a:xfrm>
            <a:off x="793790" y="1179314"/>
            <a:ext cx="13042821" cy="261223"/>
          </a:xfrm>
          <a:prstGeom prst="rect">
            <a:avLst/>
          </a:prstGeom>
          <a:noFill/>
          <a:ln/>
        </p:spPr>
        <p:txBody>
          <a:bodyPr wrap="none" lIns="0" tIns="0" rIns="0" bIns="0" rtlCol="0" anchor="t"/>
          <a:lstStyle/>
          <a:p>
            <a:pPr marL="0" indent="0" algn="l">
              <a:lnSpc>
                <a:spcPts val="2050"/>
              </a:lnSpc>
              <a:buNone/>
            </a:pPr>
            <a:r>
              <a:rPr lang="en-US" sz="1400" dirty="0">
                <a:solidFill>
                  <a:srgbClr val="272525"/>
                </a:solidFill>
                <a:latin typeface="Lato" pitchFamily="34" charset="0"/>
                <a:ea typeface="Lato" pitchFamily="34" charset="-122"/>
                <a:cs typeface="Lato" pitchFamily="34" charset="-120"/>
              </a:rPr>
              <a:t>APPLICATION GATEWAY</a:t>
            </a:r>
            <a:endParaRPr lang="en-US" sz="1400" dirty="0"/>
          </a:p>
        </p:txBody>
      </p:sp>
      <p:pic>
        <p:nvPicPr>
          <p:cNvPr id="4" name="Image 0" descr="preencoded.png"/>
          <p:cNvPicPr>
            <a:picLocks noChangeAspect="1"/>
          </p:cNvPicPr>
          <p:nvPr/>
        </p:nvPicPr>
        <p:blipFill>
          <a:blip r:embed="rId3"/>
          <a:stretch>
            <a:fillRect/>
          </a:stretch>
        </p:blipFill>
        <p:spPr>
          <a:xfrm>
            <a:off x="793790" y="1603772"/>
            <a:ext cx="10434161" cy="5577007"/>
          </a:xfrm>
          <a:prstGeom prst="rect">
            <a:avLst/>
          </a:prstGeom>
        </p:spPr>
      </p:pic>
      <p:sp>
        <p:nvSpPr>
          <p:cNvPr id="5" name="Text 2"/>
          <p:cNvSpPr/>
          <p:nvPr/>
        </p:nvSpPr>
        <p:spPr>
          <a:xfrm>
            <a:off x="793790" y="7344013"/>
            <a:ext cx="13042821" cy="261223"/>
          </a:xfrm>
          <a:prstGeom prst="rect">
            <a:avLst/>
          </a:prstGeom>
          <a:noFill/>
          <a:ln/>
        </p:spPr>
        <p:txBody>
          <a:bodyPr wrap="none" lIns="0" tIns="0" rIns="0" bIns="0" rtlCol="0" anchor="t"/>
          <a:lstStyle/>
          <a:p>
            <a:pPr marL="0" indent="0" algn="l">
              <a:lnSpc>
                <a:spcPts val="2050"/>
              </a:lnSpc>
              <a:buNone/>
            </a:pPr>
            <a:r>
              <a:rPr lang="en-US" sz="1400" dirty="0">
                <a:solidFill>
                  <a:srgbClr val="272525"/>
                </a:solidFill>
                <a:latin typeface="Lato" pitchFamily="34" charset="0"/>
                <a:ea typeface="Lato" pitchFamily="34" charset="-122"/>
                <a:cs typeface="Lato" pitchFamily="34" charset="-120"/>
              </a:rPr>
              <a:t>AGW Backend Health — Both frontend and backend pools healthy (200 OK)</a:t>
            </a:r>
            <a:endParaRPr lang="en-US" sz="1400" dirty="0"/>
          </a:p>
        </p:txBody>
      </p:sp>
      <p:sp>
        <p:nvSpPr>
          <p:cNvPr id="6" name="Rectangle 5">
            <a:extLst>
              <a:ext uri="{FF2B5EF4-FFF2-40B4-BE49-F238E27FC236}">
                <a16:creationId xmlns:a16="http://schemas.microsoft.com/office/drawing/2014/main" id="{3B6C312F-D405-449B-99F4-3995BD198190}"/>
              </a:ext>
            </a:extLst>
          </p:cNvPr>
          <p:cNvSpPr/>
          <p:nvPr/>
        </p:nvSpPr>
        <p:spPr>
          <a:xfrm>
            <a:off x="12841793" y="7757327"/>
            <a:ext cx="1788607" cy="472273"/>
          </a:xfrm>
          <a:prstGeom prst="rect">
            <a:avLst/>
          </a:prstGeom>
          <a:solidFill>
            <a:srgbClr val="FDFD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793790" y="754856"/>
            <a:ext cx="13042821" cy="261223"/>
          </a:xfrm>
          <a:prstGeom prst="rect">
            <a:avLst/>
          </a:prstGeom>
          <a:noFill/>
          <a:ln/>
        </p:spPr>
        <p:txBody>
          <a:bodyPr wrap="none" lIns="0" tIns="0" rIns="0" bIns="0" rtlCol="0" anchor="t"/>
          <a:lstStyle/>
          <a:p>
            <a:pPr marL="0" indent="0" algn="l">
              <a:lnSpc>
                <a:spcPts val="2050"/>
              </a:lnSpc>
              <a:buNone/>
            </a:pPr>
            <a:r>
              <a:rPr lang="en-US" sz="1400" dirty="0">
                <a:solidFill>
                  <a:srgbClr val="272525"/>
                </a:solidFill>
                <a:latin typeface="Lato" pitchFamily="34" charset="0"/>
                <a:ea typeface="Lato" pitchFamily="34" charset="-122"/>
                <a:cs typeface="Lato" pitchFamily="34" charset="-120"/>
              </a:rPr>
              <a:t>IRONHACK — DEVOPS &amp; CLOUD</a:t>
            </a:r>
            <a:endParaRPr lang="en-US" sz="1400" dirty="0"/>
          </a:p>
        </p:txBody>
      </p:sp>
      <p:sp>
        <p:nvSpPr>
          <p:cNvPr id="3" name="Text 1"/>
          <p:cNvSpPr/>
          <p:nvPr/>
        </p:nvSpPr>
        <p:spPr>
          <a:xfrm>
            <a:off x="793790" y="1179314"/>
            <a:ext cx="13042821" cy="261223"/>
          </a:xfrm>
          <a:prstGeom prst="rect">
            <a:avLst/>
          </a:prstGeom>
          <a:noFill/>
          <a:ln/>
        </p:spPr>
        <p:txBody>
          <a:bodyPr wrap="none" lIns="0" tIns="0" rIns="0" bIns="0" rtlCol="0" anchor="t"/>
          <a:lstStyle/>
          <a:p>
            <a:pPr marL="0" indent="0" algn="l">
              <a:lnSpc>
                <a:spcPts val="2050"/>
              </a:lnSpc>
              <a:buNone/>
            </a:pPr>
            <a:r>
              <a:rPr lang="en-US" sz="1400" dirty="0">
                <a:solidFill>
                  <a:srgbClr val="272525"/>
                </a:solidFill>
                <a:latin typeface="Lato" pitchFamily="34" charset="0"/>
                <a:ea typeface="Lato" pitchFamily="34" charset="-122"/>
                <a:cs typeface="Lato" pitchFamily="34" charset="-120"/>
              </a:rPr>
              <a:t>APPLICATION GATEWAY</a:t>
            </a:r>
            <a:endParaRPr lang="en-US" sz="1400" dirty="0"/>
          </a:p>
        </p:txBody>
      </p:sp>
      <p:pic>
        <p:nvPicPr>
          <p:cNvPr id="4" name="Image 0" descr="preencoded.png"/>
          <p:cNvPicPr>
            <a:picLocks noChangeAspect="1"/>
          </p:cNvPicPr>
          <p:nvPr/>
        </p:nvPicPr>
        <p:blipFill>
          <a:blip r:embed="rId3"/>
          <a:stretch>
            <a:fillRect/>
          </a:stretch>
        </p:blipFill>
        <p:spPr>
          <a:xfrm>
            <a:off x="793790" y="1603772"/>
            <a:ext cx="10434161" cy="5577007"/>
          </a:xfrm>
          <a:prstGeom prst="rect">
            <a:avLst/>
          </a:prstGeom>
        </p:spPr>
      </p:pic>
      <p:sp>
        <p:nvSpPr>
          <p:cNvPr id="5" name="Text 2"/>
          <p:cNvSpPr/>
          <p:nvPr/>
        </p:nvSpPr>
        <p:spPr>
          <a:xfrm>
            <a:off x="793790" y="7344013"/>
            <a:ext cx="13042821" cy="261223"/>
          </a:xfrm>
          <a:prstGeom prst="rect">
            <a:avLst/>
          </a:prstGeom>
          <a:noFill/>
          <a:ln/>
        </p:spPr>
        <p:txBody>
          <a:bodyPr wrap="none" lIns="0" tIns="0" rIns="0" bIns="0" rtlCol="0" anchor="t"/>
          <a:lstStyle/>
          <a:p>
            <a:pPr marL="0" indent="0" algn="l">
              <a:lnSpc>
                <a:spcPts val="2050"/>
              </a:lnSpc>
              <a:buNone/>
            </a:pPr>
            <a:r>
              <a:rPr lang="en-US" sz="1400" dirty="0">
                <a:solidFill>
                  <a:srgbClr val="272525"/>
                </a:solidFill>
                <a:latin typeface="Lato" pitchFamily="34" charset="0"/>
                <a:ea typeface="Lato" pitchFamily="34" charset="-122"/>
                <a:cs typeface="Lato" pitchFamily="34" charset="-120"/>
              </a:rPr>
              <a:t>AGW Frontend IP — Public IP 20.42.155.71 configured, private IP not configured</a:t>
            </a:r>
            <a:endParaRPr lang="en-US" sz="1400" dirty="0"/>
          </a:p>
        </p:txBody>
      </p:sp>
      <p:sp>
        <p:nvSpPr>
          <p:cNvPr id="6" name="Rectangle 5">
            <a:extLst>
              <a:ext uri="{FF2B5EF4-FFF2-40B4-BE49-F238E27FC236}">
                <a16:creationId xmlns:a16="http://schemas.microsoft.com/office/drawing/2014/main" id="{55EF7022-53BD-4892-8DE5-D59CC1BC2ACB}"/>
              </a:ext>
            </a:extLst>
          </p:cNvPr>
          <p:cNvSpPr/>
          <p:nvPr/>
        </p:nvSpPr>
        <p:spPr>
          <a:xfrm>
            <a:off x="12841793" y="7757327"/>
            <a:ext cx="1788607" cy="472273"/>
          </a:xfrm>
          <a:prstGeom prst="rect">
            <a:avLst/>
          </a:prstGeom>
          <a:solidFill>
            <a:srgbClr val="FDFD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786527" y="762714"/>
            <a:ext cx="13057346" cy="281345"/>
          </a:xfrm>
          <a:prstGeom prst="rect">
            <a:avLst/>
          </a:prstGeom>
          <a:noFill/>
          <a:ln/>
        </p:spPr>
        <p:txBody>
          <a:bodyPr wrap="none" lIns="0" tIns="0" rIns="0" bIns="0" rtlCol="0" anchor="t"/>
          <a:lstStyle/>
          <a:p>
            <a:pPr marL="0" indent="0" algn="l">
              <a:lnSpc>
                <a:spcPts val="2200"/>
              </a:lnSpc>
              <a:buNone/>
            </a:pPr>
            <a:r>
              <a:rPr lang="en-US" sz="1500" b="1" dirty="0">
                <a:solidFill>
                  <a:srgbClr val="272525"/>
                </a:solidFill>
                <a:latin typeface="Lato" pitchFamily="34" charset="0"/>
                <a:ea typeface="Lato" pitchFamily="34" charset="-122"/>
                <a:cs typeface="Lato" pitchFamily="34" charset="-120"/>
              </a:rPr>
              <a:t>APPLICATION GATEWAY</a:t>
            </a:r>
            <a:endParaRPr lang="en-US" sz="1500" dirty="0"/>
          </a:p>
        </p:txBody>
      </p:sp>
      <p:pic>
        <p:nvPicPr>
          <p:cNvPr id="3" name="Image 0" descr="preencoded.png"/>
          <p:cNvPicPr>
            <a:picLocks noChangeAspect="1"/>
          </p:cNvPicPr>
          <p:nvPr/>
        </p:nvPicPr>
        <p:blipFill>
          <a:blip r:embed="rId3"/>
          <a:stretch>
            <a:fillRect/>
          </a:stretch>
        </p:blipFill>
        <p:spPr>
          <a:xfrm>
            <a:off x="786527" y="1225034"/>
            <a:ext cx="11098649" cy="5932170"/>
          </a:xfrm>
          <a:prstGeom prst="rect">
            <a:avLst/>
          </a:prstGeom>
        </p:spPr>
      </p:pic>
      <p:sp>
        <p:nvSpPr>
          <p:cNvPr id="4" name="Text 1"/>
          <p:cNvSpPr/>
          <p:nvPr/>
        </p:nvSpPr>
        <p:spPr>
          <a:xfrm>
            <a:off x="786527" y="7338179"/>
            <a:ext cx="13057346" cy="281345"/>
          </a:xfrm>
          <a:prstGeom prst="rect">
            <a:avLst/>
          </a:prstGeom>
          <a:noFill/>
          <a:ln/>
        </p:spPr>
        <p:txBody>
          <a:bodyPr wrap="none" lIns="0" tIns="0" rIns="0" bIns="0" rtlCol="0" anchor="t"/>
          <a:lstStyle/>
          <a:p>
            <a:pPr marL="0" indent="0" algn="l">
              <a:lnSpc>
                <a:spcPts val="2200"/>
              </a:lnSpc>
              <a:buNone/>
            </a:pPr>
            <a:r>
              <a:rPr lang="en-US" sz="1500" dirty="0">
                <a:solidFill>
                  <a:srgbClr val="272525"/>
                </a:solidFill>
                <a:latin typeface="Lato" pitchFamily="34" charset="0"/>
                <a:ea typeface="Lato" pitchFamily="34" charset="-122"/>
                <a:cs typeface="Lato" pitchFamily="34" charset="-120"/>
              </a:rPr>
              <a:t>AGW Backend Pools — pool-frontend and pool-backend, each with 1 rule and 1 target</a:t>
            </a:r>
            <a:endParaRPr lang="en-US" sz="1500" dirty="0"/>
          </a:p>
        </p:txBody>
      </p:sp>
      <p:sp>
        <p:nvSpPr>
          <p:cNvPr id="5" name="Rectangle 4">
            <a:extLst>
              <a:ext uri="{FF2B5EF4-FFF2-40B4-BE49-F238E27FC236}">
                <a16:creationId xmlns:a16="http://schemas.microsoft.com/office/drawing/2014/main" id="{F00C4922-D9A3-4331-A6A8-40F7F8512F43}"/>
              </a:ext>
            </a:extLst>
          </p:cNvPr>
          <p:cNvSpPr/>
          <p:nvPr/>
        </p:nvSpPr>
        <p:spPr>
          <a:xfrm>
            <a:off x="12841793" y="7757327"/>
            <a:ext cx="1788607" cy="472273"/>
          </a:xfrm>
          <a:prstGeom prst="rect">
            <a:avLst/>
          </a:prstGeom>
          <a:solidFill>
            <a:srgbClr val="FDFD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793790" y="754856"/>
            <a:ext cx="13042821" cy="261223"/>
          </a:xfrm>
          <a:prstGeom prst="rect">
            <a:avLst/>
          </a:prstGeom>
          <a:noFill/>
          <a:ln/>
        </p:spPr>
        <p:txBody>
          <a:bodyPr wrap="none" lIns="0" tIns="0" rIns="0" bIns="0" rtlCol="0" anchor="t"/>
          <a:lstStyle/>
          <a:p>
            <a:pPr marL="0" indent="0" algn="l">
              <a:lnSpc>
                <a:spcPts val="2050"/>
              </a:lnSpc>
              <a:buNone/>
            </a:pPr>
            <a:r>
              <a:rPr lang="en-US" sz="1400" b="1" dirty="0">
                <a:solidFill>
                  <a:srgbClr val="272525"/>
                </a:solidFill>
                <a:latin typeface="Lato" pitchFamily="34" charset="0"/>
                <a:ea typeface="Lato" pitchFamily="34" charset="-122"/>
                <a:cs typeface="Lato" pitchFamily="34" charset="-120"/>
              </a:rPr>
              <a:t>IRONHACK — DEVOPS &amp; CLOUD</a:t>
            </a:r>
            <a:endParaRPr lang="en-US" sz="1400" dirty="0"/>
          </a:p>
        </p:txBody>
      </p:sp>
      <p:sp>
        <p:nvSpPr>
          <p:cNvPr id="3" name="Text 1"/>
          <p:cNvSpPr/>
          <p:nvPr/>
        </p:nvSpPr>
        <p:spPr>
          <a:xfrm>
            <a:off x="793790" y="1179314"/>
            <a:ext cx="13042821" cy="261223"/>
          </a:xfrm>
          <a:prstGeom prst="rect">
            <a:avLst/>
          </a:prstGeom>
          <a:noFill/>
          <a:ln/>
        </p:spPr>
        <p:txBody>
          <a:bodyPr wrap="none" lIns="0" tIns="0" rIns="0" bIns="0" rtlCol="0" anchor="t"/>
          <a:lstStyle/>
          <a:p>
            <a:pPr marL="0" indent="0" algn="l">
              <a:lnSpc>
                <a:spcPts val="2050"/>
              </a:lnSpc>
              <a:buNone/>
            </a:pPr>
            <a:r>
              <a:rPr lang="en-US" sz="1400" b="1" dirty="0">
                <a:solidFill>
                  <a:srgbClr val="272525"/>
                </a:solidFill>
                <a:latin typeface="Lato" pitchFamily="34" charset="0"/>
                <a:ea typeface="Lato" pitchFamily="34" charset="-122"/>
                <a:cs typeface="Lato" pitchFamily="34" charset="-120"/>
              </a:rPr>
              <a:t>APPLICATION GATEWAY</a:t>
            </a:r>
            <a:endParaRPr lang="en-US" sz="1400" dirty="0"/>
          </a:p>
        </p:txBody>
      </p:sp>
      <p:pic>
        <p:nvPicPr>
          <p:cNvPr id="4" name="Image 0" descr="preencoded.png"/>
          <p:cNvPicPr>
            <a:picLocks noChangeAspect="1"/>
          </p:cNvPicPr>
          <p:nvPr/>
        </p:nvPicPr>
        <p:blipFill>
          <a:blip r:embed="rId3"/>
          <a:stretch>
            <a:fillRect/>
          </a:stretch>
        </p:blipFill>
        <p:spPr>
          <a:xfrm>
            <a:off x="793790" y="1603772"/>
            <a:ext cx="10434161" cy="5577007"/>
          </a:xfrm>
          <a:prstGeom prst="rect">
            <a:avLst/>
          </a:prstGeom>
        </p:spPr>
      </p:pic>
      <p:sp>
        <p:nvSpPr>
          <p:cNvPr id="5" name="Text 2"/>
          <p:cNvSpPr/>
          <p:nvPr/>
        </p:nvSpPr>
        <p:spPr>
          <a:xfrm>
            <a:off x="793790" y="7344013"/>
            <a:ext cx="13042821" cy="261223"/>
          </a:xfrm>
          <a:prstGeom prst="rect">
            <a:avLst/>
          </a:prstGeom>
          <a:noFill/>
          <a:ln/>
        </p:spPr>
        <p:txBody>
          <a:bodyPr wrap="none" lIns="0" tIns="0" rIns="0" bIns="0" rtlCol="0" anchor="t"/>
          <a:lstStyle/>
          <a:p>
            <a:pPr marL="0" indent="0" algn="l">
              <a:lnSpc>
                <a:spcPts val="2050"/>
              </a:lnSpc>
              <a:buNone/>
            </a:pPr>
            <a:r>
              <a:rPr lang="en-US" sz="1400" dirty="0">
                <a:solidFill>
                  <a:srgbClr val="272525"/>
                </a:solidFill>
                <a:latin typeface="Lato" pitchFamily="34" charset="0"/>
                <a:ea typeface="Lato" pitchFamily="34" charset="-122"/>
                <a:cs typeface="Lato" pitchFamily="34" charset="-120"/>
              </a:rPr>
              <a:t>AGW Health Probes — 3 probes (frontend, backend, probe-backend) using HTTPS</a:t>
            </a:r>
            <a:endParaRPr lang="en-US" sz="1400" dirty="0"/>
          </a:p>
        </p:txBody>
      </p:sp>
      <p:sp>
        <p:nvSpPr>
          <p:cNvPr id="6" name="Rectangle 5">
            <a:extLst>
              <a:ext uri="{FF2B5EF4-FFF2-40B4-BE49-F238E27FC236}">
                <a16:creationId xmlns:a16="http://schemas.microsoft.com/office/drawing/2014/main" id="{4D631E63-1797-4D1E-B9AA-62BF23AB4B61}"/>
              </a:ext>
            </a:extLst>
          </p:cNvPr>
          <p:cNvSpPr/>
          <p:nvPr/>
        </p:nvSpPr>
        <p:spPr>
          <a:xfrm>
            <a:off x="12841793" y="7757327"/>
            <a:ext cx="1788607" cy="472273"/>
          </a:xfrm>
          <a:prstGeom prst="rect">
            <a:avLst/>
          </a:prstGeom>
          <a:solidFill>
            <a:srgbClr val="FDFD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793790" y="935831"/>
            <a:ext cx="2229445" cy="370642"/>
          </a:xfrm>
          <a:prstGeom prst="roundRect">
            <a:avLst>
              <a:gd name="adj" fmla="val 18506"/>
            </a:avLst>
          </a:prstGeom>
          <a:solidFill>
            <a:srgbClr val="E8E8E3"/>
          </a:solidFill>
          <a:ln/>
        </p:spPr>
      </p:sp>
      <p:sp>
        <p:nvSpPr>
          <p:cNvPr id="3" name="Text 1"/>
          <p:cNvSpPr/>
          <p:nvPr/>
        </p:nvSpPr>
        <p:spPr>
          <a:xfrm>
            <a:off x="916186" y="997029"/>
            <a:ext cx="1984653" cy="248245"/>
          </a:xfrm>
          <a:prstGeom prst="rect">
            <a:avLst/>
          </a:prstGeom>
          <a:noFill/>
          <a:ln/>
        </p:spPr>
        <p:txBody>
          <a:bodyPr wrap="none" lIns="0" tIns="0" rIns="0" bIns="0" rtlCol="0" anchor="t"/>
          <a:lstStyle/>
          <a:p>
            <a:pPr marL="0" indent="0" algn="l">
              <a:lnSpc>
                <a:spcPts val="1950"/>
              </a:lnSpc>
              <a:buNone/>
            </a:pPr>
            <a:r>
              <a:rPr lang="en-US" sz="1250" dirty="0">
                <a:solidFill>
                  <a:srgbClr val="272525"/>
                </a:solidFill>
                <a:latin typeface="Lato" pitchFamily="34" charset="0"/>
                <a:ea typeface="Lato" pitchFamily="34" charset="-122"/>
                <a:cs typeface="Lato" pitchFamily="34" charset="-120"/>
              </a:rPr>
              <a:t>CONCLUSION &amp; INSIGHTS</a:t>
            </a:r>
            <a:endParaRPr lang="en-US" sz="1250" dirty="0"/>
          </a:p>
        </p:txBody>
      </p:sp>
      <p:sp>
        <p:nvSpPr>
          <p:cNvPr id="4" name="Text 2"/>
          <p:cNvSpPr/>
          <p:nvPr/>
        </p:nvSpPr>
        <p:spPr>
          <a:xfrm>
            <a:off x="793790" y="1379934"/>
            <a:ext cx="6507599" cy="637937"/>
          </a:xfrm>
          <a:prstGeom prst="rect">
            <a:avLst/>
          </a:prstGeom>
          <a:noFill/>
          <a:ln/>
        </p:spPr>
        <p:txBody>
          <a:bodyPr wrap="none" lIns="0" tIns="0" rIns="0" bIns="0" rtlCol="0" anchor="t"/>
          <a:lstStyle/>
          <a:p>
            <a:pPr marL="0" indent="0" algn="l">
              <a:lnSpc>
                <a:spcPts val="5000"/>
              </a:lnSpc>
              <a:buNone/>
            </a:pPr>
            <a:r>
              <a:rPr lang="en-US" sz="4000" dirty="0">
                <a:solidFill>
                  <a:srgbClr val="312F2B"/>
                </a:solidFill>
                <a:latin typeface="Gelasio" pitchFamily="34" charset="0"/>
                <a:ea typeface="Gelasio" pitchFamily="34" charset="-122"/>
                <a:cs typeface="Gelasio" pitchFamily="34" charset="-120"/>
              </a:rPr>
              <a:t>Did We Meet the Objectives?</a:t>
            </a:r>
            <a:endParaRPr lang="en-US" sz="4000" dirty="0"/>
          </a:p>
        </p:txBody>
      </p:sp>
      <p:sp>
        <p:nvSpPr>
          <p:cNvPr id="5" name="Shape 3"/>
          <p:cNvSpPr/>
          <p:nvPr/>
        </p:nvSpPr>
        <p:spPr>
          <a:xfrm>
            <a:off x="793790" y="2500074"/>
            <a:ext cx="6272451" cy="1287780"/>
          </a:xfrm>
          <a:prstGeom prst="roundRect">
            <a:avLst>
              <a:gd name="adj" fmla="val 6658"/>
            </a:avLst>
          </a:prstGeom>
          <a:solidFill>
            <a:srgbClr val="DCDCD5"/>
          </a:solidFill>
          <a:ln/>
        </p:spPr>
      </p:sp>
      <p:pic>
        <p:nvPicPr>
          <p:cNvPr id="6" name="Image 0" descr="preencoded.png"/>
          <p:cNvPicPr>
            <a:picLocks noChangeAspect="1"/>
          </p:cNvPicPr>
          <p:nvPr/>
        </p:nvPicPr>
        <p:blipFill>
          <a:blip r:embed="rId3"/>
          <a:stretch>
            <a:fillRect/>
          </a:stretch>
        </p:blipFill>
        <p:spPr>
          <a:xfrm>
            <a:off x="997863" y="2805113"/>
            <a:ext cx="255151" cy="204073"/>
          </a:xfrm>
          <a:prstGeom prst="rect">
            <a:avLst/>
          </a:prstGeom>
        </p:spPr>
      </p:pic>
      <p:sp>
        <p:nvSpPr>
          <p:cNvPr id="7" name="Text 4"/>
          <p:cNvSpPr/>
          <p:nvPr/>
        </p:nvSpPr>
        <p:spPr>
          <a:xfrm>
            <a:off x="1457087" y="2734747"/>
            <a:ext cx="5405080" cy="310277"/>
          </a:xfrm>
          <a:prstGeom prst="rect">
            <a:avLst/>
          </a:prstGeom>
          <a:noFill/>
          <a:ln/>
        </p:spPr>
        <p:txBody>
          <a:bodyPr wrap="none" lIns="0" tIns="0" rIns="0" bIns="0" rtlCol="0" anchor="t"/>
          <a:lstStyle/>
          <a:p>
            <a:pPr marL="0" indent="0" algn="l">
              <a:lnSpc>
                <a:spcPts val="2400"/>
              </a:lnSpc>
              <a:buNone/>
            </a:pPr>
            <a:r>
              <a:rPr lang="en-US" sz="1600" b="1" dirty="0">
                <a:solidFill>
                  <a:srgbClr val="000000"/>
                </a:solidFill>
                <a:latin typeface="Lato" pitchFamily="34" charset="0"/>
                <a:ea typeface="Lato" pitchFamily="34" charset="-122"/>
                <a:cs typeface="Lato" pitchFamily="34" charset="-120"/>
              </a:rPr>
              <a:t>✓ COMPLETED</a:t>
            </a:r>
            <a:endParaRPr lang="en-US" sz="1600" dirty="0"/>
          </a:p>
        </p:txBody>
      </p:sp>
      <p:sp>
        <p:nvSpPr>
          <p:cNvPr id="8" name="Text 5"/>
          <p:cNvSpPr/>
          <p:nvPr/>
        </p:nvSpPr>
        <p:spPr>
          <a:xfrm>
            <a:off x="1457087" y="3210282"/>
            <a:ext cx="5405080" cy="310277"/>
          </a:xfrm>
          <a:prstGeom prst="rect">
            <a:avLst/>
          </a:prstGeom>
          <a:noFill/>
          <a:ln/>
        </p:spPr>
        <p:txBody>
          <a:bodyPr wrap="none" lIns="0" tIns="0" rIns="0" bIns="0" rtlCol="0" anchor="t"/>
          <a:lstStyle/>
          <a:p>
            <a:pPr marL="0" indent="0" algn="l">
              <a:lnSpc>
                <a:spcPts val="2400"/>
              </a:lnSpc>
              <a:buNone/>
            </a:pPr>
            <a:r>
              <a:rPr lang="en-US" sz="1600" dirty="0">
                <a:solidFill>
                  <a:srgbClr val="000000"/>
                </a:solidFill>
                <a:latin typeface="Lato" pitchFamily="34" charset="0"/>
                <a:ea typeface="Lato" pitchFamily="34" charset="-122"/>
                <a:cs typeface="Lato" pitchFamily="34" charset="-120"/>
              </a:rPr>
              <a:t>3-tier Azure reference architecture with private networking</a:t>
            </a:r>
            <a:endParaRPr lang="en-US" sz="1600" dirty="0"/>
          </a:p>
        </p:txBody>
      </p:sp>
      <p:sp>
        <p:nvSpPr>
          <p:cNvPr id="9" name="Shape 6"/>
          <p:cNvSpPr/>
          <p:nvPr/>
        </p:nvSpPr>
        <p:spPr>
          <a:xfrm>
            <a:off x="793790" y="3994547"/>
            <a:ext cx="6272451" cy="1598057"/>
          </a:xfrm>
          <a:prstGeom prst="roundRect">
            <a:avLst>
              <a:gd name="adj" fmla="val 5365"/>
            </a:avLst>
          </a:prstGeom>
          <a:solidFill>
            <a:srgbClr val="DCDCD5"/>
          </a:solidFill>
          <a:ln/>
        </p:spPr>
      </p:sp>
      <p:pic>
        <p:nvPicPr>
          <p:cNvPr id="10" name="Image 1" descr="preencoded.png"/>
          <p:cNvPicPr>
            <a:picLocks noChangeAspect="1"/>
          </p:cNvPicPr>
          <p:nvPr/>
        </p:nvPicPr>
        <p:blipFill>
          <a:blip r:embed="rId3"/>
          <a:stretch>
            <a:fillRect/>
          </a:stretch>
        </p:blipFill>
        <p:spPr>
          <a:xfrm>
            <a:off x="997863" y="4299585"/>
            <a:ext cx="255151" cy="204073"/>
          </a:xfrm>
          <a:prstGeom prst="rect">
            <a:avLst/>
          </a:prstGeom>
        </p:spPr>
      </p:pic>
      <p:sp>
        <p:nvSpPr>
          <p:cNvPr id="11" name="Text 7"/>
          <p:cNvSpPr/>
          <p:nvPr/>
        </p:nvSpPr>
        <p:spPr>
          <a:xfrm>
            <a:off x="1457087" y="4229219"/>
            <a:ext cx="5405080" cy="310277"/>
          </a:xfrm>
          <a:prstGeom prst="rect">
            <a:avLst/>
          </a:prstGeom>
          <a:noFill/>
          <a:ln/>
        </p:spPr>
        <p:txBody>
          <a:bodyPr wrap="none" lIns="0" tIns="0" rIns="0" bIns="0" rtlCol="0" anchor="t"/>
          <a:lstStyle/>
          <a:p>
            <a:pPr marL="0" indent="0" algn="l">
              <a:lnSpc>
                <a:spcPts val="2400"/>
              </a:lnSpc>
              <a:buNone/>
            </a:pPr>
            <a:r>
              <a:rPr lang="en-US" sz="1600" b="1" dirty="0">
                <a:solidFill>
                  <a:srgbClr val="000000"/>
                </a:solidFill>
                <a:latin typeface="Lato" pitchFamily="34" charset="0"/>
                <a:ea typeface="Lato" pitchFamily="34" charset="-122"/>
                <a:cs typeface="Lato" pitchFamily="34" charset="-120"/>
              </a:rPr>
              <a:t>✓ COMPLETED</a:t>
            </a:r>
            <a:endParaRPr lang="en-US" sz="1600" dirty="0"/>
          </a:p>
        </p:txBody>
      </p:sp>
      <p:sp>
        <p:nvSpPr>
          <p:cNvPr id="12" name="Text 8"/>
          <p:cNvSpPr/>
          <p:nvPr/>
        </p:nvSpPr>
        <p:spPr>
          <a:xfrm>
            <a:off x="1457087" y="4704755"/>
            <a:ext cx="5405080" cy="620554"/>
          </a:xfrm>
          <a:prstGeom prst="rect">
            <a:avLst/>
          </a:prstGeom>
          <a:noFill/>
          <a:ln/>
        </p:spPr>
        <p:txBody>
          <a:bodyPr wrap="square" lIns="0" tIns="0" rIns="0" bIns="0" rtlCol="0" anchor="t"/>
          <a:lstStyle/>
          <a:p>
            <a:pPr marL="0" indent="0" algn="l">
              <a:lnSpc>
                <a:spcPts val="2400"/>
              </a:lnSpc>
              <a:buNone/>
            </a:pPr>
            <a:r>
              <a:rPr lang="en-US" sz="1600" dirty="0">
                <a:solidFill>
                  <a:srgbClr val="000000"/>
                </a:solidFill>
                <a:latin typeface="Lato" pitchFamily="34" charset="0"/>
                <a:ea typeface="Lato" pitchFamily="34" charset="-122"/>
                <a:cs typeface="Lato" pitchFamily="34" charset="-120"/>
              </a:rPr>
              <a:t>React frontend and Express backend as separate deployable services</a:t>
            </a:r>
            <a:endParaRPr lang="en-US" sz="1600" dirty="0"/>
          </a:p>
        </p:txBody>
      </p:sp>
      <p:sp>
        <p:nvSpPr>
          <p:cNvPr id="13" name="Shape 9"/>
          <p:cNvSpPr/>
          <p:nvPr/>
        </p:nvSpPr>
        <p:spPr>
          <a:xfrm>
            <a:off x="793790" y="5799296"/>
            <a:ext cx="6272451" cy="1287780"/>
          </a:xfrm>
          <a:prstGeom prst="roundRect">
            <a:avLst>
              <a:gd name="adj" fmla="val 6658"/>
            </a:avLst>
          </a:prstGeom>
          <a:solidFill>
            <a:srgbClr val="DCDCD5"/>
          </a:solidFill>
          <a:ln/>
        </p:spPr>
      </p:sp>
      <p:pic>
        <p:nvPicPr>
          <p:cNvPr id="14" name="Image 2" descr="preencoded.png"/>
          <p:cNvPicPr>
            <a:picLocks noChangeAspect="1"/>
          </p:cNvPicPr>
          <p:nvPr/>
        </p:nvPicPr>
        <p:blipFill>
          <a:blip r:embed="rId3"/>
          <a:stretch>
            <a:fillRect/>
          </a:stretch>
        </p:blipFill>
        <p:spPr>
          <a:xfrm>
            <a:off x="997863" y="6104334"/>
            <a:ext cx="255151" cy="204073"/>
          </a:xfrm>
          <a:prstGeom prst="rect">
            <a:avLst/>
          </a:prstGeom>
        </p:spPr>
      </p:pic>
      <p:sp>
        <p:nvSpPr>
          <p:cNvPr id="15" name="Text 10"/>
          <p:cNvSpPr/>
          <p:nvPr/>
        </p:nvSpPr>
        <p:spPr>
          <a:xfrm>
            <a:off x="1457087" y="6033968"/>
            <a:ext cx="5405080" cy="310277"/>
          </a:xfrm>
          <a:prstGeom prst="rect">
            <a:avLst/>
          </a:prstGeom>
          <a:noFill/>
          <a:ln/>
        </p:spPr>
        <p:txBody>
          <a:bodyPr wrap="none" lIns="0" tIns="0" rIns="0" bIns="0" rtlCol="0" anchor="t"/>
          <a:lstStyle/>
          <a:p>
            <a:pPr marL="0" indent="0" algn="l">
              <a:lnSpc>
                <a:spcPts val="2400"/>
              </a:lnSpc>
              <a:buNone/>
            </a:pPr>
            <a:r>
              <a:rPr lang="en-US" sz="1600" b="1" dirty="0">
                <a:solidFill>
                  <a:srgbClr val="000000"/>
                </a:solidFill>
                <a:latin typeface="Lato" pitchFamily="34" charset="0"/>
                <a:ea typeface="Lato" pitchFamily="34" charset="-122"/>
                <a:cs typeface="Lato" pitchFamily="34" charset="-120"/>
              </a:rPr>
              <a:t>✓ COMPLETED</a:t>
            </a:r>
            <a:endParaRPr lang="en-US" sz="1600" dirty="0"/>
          </a:p>
        </p:txBody>
      </p:sp>
      <p:sp>
        <p:nvSpPr>
          <p:cNvPr id="16" name="Text 11"/>
          <p:cNvSpPr/>
          <p:nvPr/>
        </p:nvSpPr>
        <p:spPr>
          <a:xfrm>
            <a:off x="1457087" y="6509504"/>
            <a:ext cx="5405080" cy="310277"/>
          </a:xfrm>
          <a:prstGeom prst="rect">
            <a:avLst/>
          </a:prstGeom>
          <a:noFill/>
          <a:ln/>
        </p:spPr>
        <p:txBody>
          <a:bodyPr wrap="none" lIns="0" tIns="0" rIns="0" bIns="0" rtlCol="0" anchor="t"/>
          <a:lstStyle/>
          <a:p>
            <a:pPr marL="0" indent="0" algn="l">
              <a:lnSpc>
                <a:spcPts val="2400"/>
              </a:lnSpc>
              <a:buNone/>
            </a:pPr>
            <a:r>
              <a:rPr lang="en-US" sz="1600" dirty="0">
                <a:solidFill>
                  <a:srgbClr val="000000"/>
                </a:solidFill>
                <a:latin typeface="Lato" pitchFamily="34" charset="0"/>
                <a:ea typeface="Lato" pitchFamily="34" charset="-122"/>
                <a:cs typeface="Lato" pitchFamily="34" charset="-120"/>
              </a:rPr>
              <a:t>App Gateway WAF v2 — / to frontend, /api/* to backend</a:t>
            </a:r>
            <a:endParaRPr lang="en-US" sz="1600" dirty="0"/>
          </a:p>
        </p:txBody>
      </p:sp>
      <p:sp>
        <p:nvSpPr>
          <p:cNvPr id="17" name="Shape 12"/>
          <p:cNvSpPr/>
          <p:nvPr/>
        </p:nvSpPr>
        <p:spPr>
          <a:xfrm>
            <a:off x="7571780" y="2500074"/>
            <a:ext cx="6272451" cy="1287780"/>
          </a:xfrm>
          <a:prstGeom prst="roundRect">
            <a:avLst>
              <a:gd name="adj" fmla="val 6658"/>
            </a:avLst>
          </a:prstGeom>
          <a:solidFill>
            <a:srgbClr val="DCDCD5"/>
          </a:solidFill>
          <a:ln/>
        </p:spPr>
      </p:sp>
      <p:pic>
        <p:nvPicPr>
          <p:cNvPr id="18" name="Image 3" descr="preencoded.png"/>
          <p:cNvPicPr>
            <a:picLocks noChangeAspect="1"/>
          </p:cNvPicPr>
          <p:nvPr/>
        </p:nvPicPr>
        <p:blipFill>
          <a:blip r:embed="rId3"/>
          <a:stretch>
            <a:fillRect/>
          </a:stretch>
        </p:blipFill>
        <p:spPr>
          <a:xfrm>
            <a:off x="7775853" y="2805113"/>
            <a:ext cx="255151" cy="204073"/>
          </a:xfrm>
          <a:prstGeom prst="rect">
            <a:avLst/>
          </a:prstGeom>
        </p:spPr>
      </p:pic>
      <p:sp>
        <p:nvSpPr>
          <p:cNvPr id="19" name="Text 13"/>
          <p:cNvSpPr/>
          <p:nvPr/>
        </p:nvSpPr>
        <p:spPr>
          <a:xfrm>
            <a:off x="8235077" y="2734747"/>
            <a:ext cx="5405080" cy="310277"/>
          </a:xfrm>
          <a:prstGeom prst="rect">
            <a:avLst/>
          </a:prstGeom>
          <a:noFill/>
          <a:ln/>
        </p:spPr>
        <p:txBody>
          <a:bodyPr wrap="none" lIns="0" tIns="0" rIns="0" bIns="0" rtlCol="0" anchor="t"/>
          <a:lstStyle/>
          <a:p>
            <a:pPr marL="0" indent="0" algn="l">
              <a:lnSpc>
                <a:spcPts val="2400"/>
              </a:lnSpc>
              <a:buNone/>
            </a:pPr>
            <a:r>
              <a:rPr lang="en-US" sz="1600" b="1" dirty="0">
                <a:solidFill>
                  <a:srgbClr val="000000"/>
                </a:solidFill>
                <a:latin typeface="Lato" pitchFamily="34" charset="0"/>
                <a:ea typeface="Lato" pitchFamily="34" charset="-122"/>
                <a:cs typeface="Lato" pitchFamily="34" charset="-120"/>
              </a:rPr>
              <a:t>✓ COMPLETED</a:t>
            </a:r>
            <a:endParaRPr lang="en-US" sz="1600" dirty="0"/>
          </a:p>
        </p:txBody>
      </p:sp>
      <p:sp>
        <p:nvSpPr>
          <p:cNvPr id="20" name="Text 14"/>
          <p:cNvSpPr/>
          <p:nvPr/>
        </p:nvSpPr>
        <p:spPr>
          <a:xfrm>
            <a:off x="8235077" y="3210282"/>
            <a:ext cx="5405080" cy="310277"/>
          </a:xfrm>
          <a:prstGeom prst="rect">
            <a:avLst/>
          </a:prstGeom>
          <a:noFill/>
          <a:ln/>
        </p:spPr>
        <p:txBody>
          <a:bodyPr wrap="none" lIns="0" tIns="0" rIns="0" bIns="0" rtlCol="0" anchor="t"/>
          <a:lstStyle/>
          <a:p>
            <a:pPr marL="0" indent="0" algn="l">
              <a:lnSpc>
                <a:spcPts val="2400"/>
              </a:lnSpc>
              <a:buNone/>
            </a:pPr>
            <a:r>
              <a:rPr lang="en-US" sz="1600" dirty="0">
                <a:solidFill>
                  <a:srgbClr val="000000"/>
                </a:solidFill>
                <a:latin typeface="Lato" pitchFamily="34" charset="0"/>
                <a:ea typeface="Lato" pitchFamily="34" charset="-122"/>
                <a:cs typeface="Lato" pitchFamily="34" charset="-120"/>
              </a:rPr>
              <a:t>Azure SQL with Private Endpoint, public access disabled</a:t>
            </a:r>
            <a:endParaRPr lang="en-US" sz="1600" dirty="0"/>
          </a:p>
        </p:txBody>
      </p:sp>
      <p:sp>
        <p:nvSpPr>
          <p:cNvPr id="21" name="Shape 15"/>
          <p:cNvSpPr/>
          <p:nvPr/>
        </p:nvSpPr>
        <p:spPr>
          <a:xfrm>
            <a:off x="7571780" y="3994547"/>
            <a:ext cx="6272451" cy="1287780"/>
          </a:xfrm>
          <a:prstGeom prst="roundRect">
            <a:avLst>
              <a:gd name="adj" fmla="val 6658"/>
            </a:avLst>
          </a:prstGeom>
          <a:solidFill>
            <a:srgbClr val="DCDCD5"/>
          </a:solidFill>
          <a:ln/>
        </p:spPr>
      </p:sp>
      <p:pic>
        <p:nvPicPr>
          <p:cNvPr id="22" name="Image 4" descr="preencoded.png"/>
          <p:cNvPicPr>
            <a:picLocks noChangeAspect="1"/>
          </p:cNvPicPr>
          <p:nvPr/>
        </p:nvPicPr>
        <p:blipFill>
          <a:blip r:embed="rId3"/>
          <a:stretch>
            <a:fillRect/>
          </a:stretch>
        </p:blipFill>
        <p:spPr>
          <a:xfrm>
            <a:off x="7775853" y="4299585"/>
            <a:ext cx="255151" cy="204073"/>
          </a:xfrm>
          <a:prstGeom prst="rect">
            <a:avLst/>
          </a:prstGeom>
        </p:spPr>
      </p:pic>
      <p:sp>
        <p:nvSpPr>
          <p:cNvPr id="23" name="Text 16"/>
          <p:cNvSpPr/>
          <p:nvPr/>
        </p:nvSpPr>
        <p:spPr>
          <a:xfrm>
            <a:off x="8235077" y="4229219"/>
            <a:ext cx="5405080" cy="310277"/>
          </a:xfrm>
          <a:prstGeom prst="rect">
            <a:avLst/>
          </a:prstGeom>
          <a:noFill/>
          <a:ln/>
        </p:spPr>
        <p:txBody>
          <a:bodyPr wrap="none" lIns="0" tIns="0" rIns="0" bIns="0" rtlCol="0" anchor="t"/>
          <a:lstStyle/>
          <a:p>
            <a:pPr marL="0" indent="0" algn="l">
              <a:lnSpc>
                <a:spcPts val="2400"/>
              </a:lnSpc>
              <a:buNone/>
            </a:pPr>
            <a:r>
              <a:rPr lang="en-US" sz="1600" b="1" dirty="0">
                <a:solidFill>
                  <a:srgbClr val="000000"/>
                </a:solidFill>
                <a:latin typeface="Lato" pitchFamily="34" charset="0"/>
                <a:ea typeface="Lato" pitchFamily="34" charset="-122"/>
                <a:cs typeface="Lato" pitchFamily="34" charset="-120"/>
              </a:rPr>
              <a:t>✓ COMPLETED</a:t>
            </a:r>
            <a:endParaRPr lang="en-US" sz="1600" dirty="0"/>
          </a:p>
        </p:txBody>
      </p:sp>
      <p:sp>
        <p:nvSpPr>
          <p:cNvPr id="24" name="Text 17"/>
          <p:cNvSpPr/>
          <p:nvPr/>
        </p:nvSpPr>
        <p:spPr>
          <a:xfrm>
            <a:off x="8235077" y="4704755"/>
            <a:ext cx="5405080" cy="310277"/>
          </a:xfrm>
          <a:prstGeom prst="rect">
            <a:avLst/>
          </a:prstGeom>
          <a:noFill/>
          <a:ln/>
        </p:spPr>
        <p:txBody>
          <a:bodyPr wrap="none" lIns="0" tIns="0" rIns="0" bIns="0" rtlCol="0" anchor="t"/>
          <a:lstStyle/>
          <a:p>
            <a:pPr marL="0" indent="0" algn="l">
              <a:lnSpc>
                <a:spcPts val="2400"/>
              </a:lnSpc>
              <a:buNone/>
            </a:pPr>
            <a:r>
              <a:rPr lang="en-US" sz="1600" dirty="0">
                <a:solidFill>
                  <a:srgbClr val="000000"/>
                </a:solidFill>
                <a:latin typeface="Lato" pitchFamily="34" charset="0"/>
                <a:ea typeface="Lato" pitchFamily="34" charset="-122"/>
                <a:cs typeface="Lato" pitchFamily="34" charset="-120"/>
              </a:rPr>
              <a:t>VNet, subnets, NSGs, Private Endpoints, Private DNS Zones</a:t>
            </a:r>
            <a:endParaRPr lang="en-US" sz="1600" dirty="0"/>
          </a:p>
        </p:txBody>
      </p:sp>
      <p:sp>
        <p:nvSpPr>
          <p:cNvPr id="25" name="Shape 18"/>
          <p:cNvSpPr/>
          <p:nvPr/>
        </p:nvSpPr>
        <p:spPr>
          <a:xfrm>
            <a:off x="7571780" y="5489019"/>
            <a:ext cx="6272451" cy="1598057"/>
          </a:xfrm>
          <a:prstGeom prst="roundRect">
            <a:avLst>
              <a:gd name="adj" fmla="val 5365"/>
            </a:avLst>
          </a:prstGeom>
          <a:solidFill>
            <a:srgbClr val="DCDCD5"/>
          </a:solidFill>
          <a:ln/>
        </p:spPr>
      </p:sp>
      <p:pic>
        <p:nvPicPr>
          <p:cNvPr id="26" name="Image 5" descr="preencoded.png"/>
          <p:cNvPicPr>
            <a:picLocks noChangeAspect="1"/>
          </p:cNvPicPr>
          <p:nvPr/>
        </p:nvPicPr>
        <p:blipFill>
          <a:blip r:embed="rId3"/>
          <a:stretch>
            <a:fillRect/>
          </a:stretch>
        </p:blipFill>
        <p:spPr>
          <a:xfrm>
            <a:off x="7775853" y="5794058"/>
            <a:ext cx="255151" cy="204073"/>
          </a:xfrm>
          <a:prstGeom prst="rect">
            <a:avLst/>
          </a:prstGeom>
        </p:spPr>
      </p:pic>
      <p:sp>
        <p:nvSpPr>
          <p:cNvPr id="27" name="Text 19"/>
          <p:cNvSpPr/>
          <p:nvPr/>
        </p:nvSpPr>
        <p:spPr>
          <a:xfrm>
            <a:off x="8235077" y="5723692"/>
            <a:ext cx="5405080" cy="310277"/>
          </a:xfrm>
          <a:prstGeom prst="rect">
            <a:avLst/>
          </a:prstGeom>
          <a:noFill/>
          <a:ln/>
        </p:spPr>
        <p:txBody>
          <a:bodyPr wrap="none" lIns="0" tIns="0" rIns="0" bIns="0" rtlCol="0" anchor="t"/>
          <a:lstStyle/>
          <a:p>
            <a:pPr marL="0" indent="0" algn="l">
              <a:lnSpc>
                <a:spcPts val="2400"/>
              </a:lnSpc>
              <a:buNone/>
            </a:pPr>
            <a:r>
              <a:rPr lang="en-US" sz="1600" b="1" dirty="0">
                <a:solidFill>
                  <a:srgbClr val="000000"/>
                </a:solidFill>
                <a:latin typeface="Lato" pitchFamily="34" charset="0"/>
                <a:ea typeface="Lato" pitchFamily="34" charset="-122"/>
                <a:cs typeface="Lato" pitchFamily="34" charset="-120"/>
              </a:rPr>
              <a:t>✓ COMPLETED</a:t>
            </a:r>
            <a:endParaRPr lang="en-US" sz="1600" dirty="0"/>
          </a:p>
        </p:txBody>
      </p:sp>
      <p:sp>
        <p:nvSpPr>
          <p:cNvPr id="28" name="Text 20"/>
          <p:cNvSpPr/>
          <p:nvPr/>
        </p:nvSpPr>
        <p:spPr>
          <a:xfrm>
            <a:off x="8235077" y="6199227"/>
            <a:ext cx="5405080" cy="620554"/>
          </a:xfrm>
          <a:prstGeom prst="rect">
            <a:avLst/>
          </a:prstGeom>
          <a:noFill/>
          <a:ln/>
        </p:spPr>
        <p:txBody>
          <a:bodyPr wrap="square" lIns="0" tIns="0" rIns="0" bIns="0" rtlCol="0" anchor="t"/>
          <a:lstStyle/>
          <a:p>
            <a:pPr marL="0" indent="0" algn="l">
              <a:lnSpc>
                <a:spcPts val="2400"/>
              </a:lnSpc>
              <a:buNone/>
            </a:pPr>
            <a:r>
              <a:rPr lang="en-US" sz="1600" dirty="0">
                <a:solidFill>
                  <a:srgbClr val="000000"/>
                </a:solidFill>
                <a:latin typeface="Lato" pitchFamily="34" charset="0"/>
                <a:ea typeface="Lato" pitchFamily="34" charset="-122"/>
                <a:cs typeface="Lato" pitchFamily="34" charset="-120"/>
              </a:rPr>
              <a:t>Monitoring: health probes, App Insights, alert rules, action groups</a:t>
            </a:r>
            <a:endParaRPr lang="en-US" sz="1600" dirty="0"/>
          </a:p>
        </p:txBody>
      </p:sp>
      <p:sp>
        <p:nvSpPr>
          <p:cNvPr id="29" name="Rectangle 28">
            <a:extLst>
              <a:ext uri="{FF2B5EF4-FFF2-40B4-BE49-F238E27FC236}">
                <a16:creationId xmlns:a16="http://schemas.microsoft.com/office/drawing/2014/main" id="{CCAAEEE6-15A6-4C25-AD8A-0A0DFE750D83}"/>
              </a:ext>
            </a:extLst>
          </p:cNvPr>
          <p:cNvSpPr/>
          <p:nvPr/>
        </p:nvSpPr>
        <p:spPr>
          <a:xfrm>
            <a:off x="12841793" y="7757327"/>
            <a:ext cx="1788607" cy="472273"/>
          </a:xfrm>
          <a:prstGeom prst="rect">
            <a:avLst/>
          </a:prstGeom>
          <a:solidFill>
            <a:srgbClr val="FDFD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1986</Words>
  <Application>Microsoft Office PowerPoint</Application>
  <PresentationFormat>Custom</PresentationFormat>
  <Paragraphs>255</Paragraphs>
  <Slides>34</Slides>
  <Notes>34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Lato</vt:lpstr>
      <vt:lpstr>Gelasio</vt:lpstr>
      <vt:lpstr>Calibri</vt:lpstr>
      <vt:lpstr>Arial</vt:lpstr>
      <vt:lpstr>Gelasio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molvn</dc:creator>
  <cp:lastModifiedBy>Магомед Сулейманлы</cp:lastModifiedBy>
  <cp:revision>2</cp:revision>
  <dcterms:created xsi:type="dcterms:W3CDTF">2026-04-02T06:57:03Z</dcterms:created>
  <dcterms:modified xsi:type="dcterms:W3CDTF">2026-04-02T07:03:36Z</dcterms:modified>
</cp:coreProperties>
</file>